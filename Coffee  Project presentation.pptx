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9949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18" Type="http://schemas.openxmlformats.org/officeDocument/2006/relationships/image" Target="../media/image3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17" Type="http://schemas.openxmlformats.org/officeDocument/2006/relationships/image" Target="../media/image35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5" Type="http://schemas.openxmlformats.org/officeDocument/2006/relationships/image" Target="../media/image33.png"/><Relationship Id="rId10" Type="http://schemas.openxmlformats.org/officeDocument/2006/relationships/image" Target="../media/image28.png"/><Relationship Id="rId19" Type="http://schemas.openxmlformats.org/officeDocument/2006/relationships/image" Target="../media/image37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Relationship Id="rId14" Type="http://schemas.openxmlformats.org/officeDocument/2006/relationships/image" Target="../media/image3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6.png"/><Relationship Id="rId18" Type="http://schemas.openxmlformats.org/officeDocument/2006/relationships/image" Target="../media/image50.png"/><Relationship Id="rId26" Type="http://schemas.openxmlformats.org/officeDocument/2006/relationships/image" Target="../media/image58.png"/><Relationship Id="rId3" Type="http://schemas.openxmlformats.org/officeDocument/2006/relationships/image" Target="../media/image21.png"/><Relationship Id="rId21" Type="http://schemas.openxmlformats.org/officeDocument/2006/relationships/image" Target="../media/image53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17" Type="http://schemas.openxmlformats.org/officeDocument/2006/relationships/image" Target="../media/image49.png"/><Relationship Id="rId25" Type="http://schemas.openxmlformats.org/officeDocument/2006/relationships/image" Target="../media/image57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48.png"/><Relationship Id="rId20" Type="http://schemas.openxmlformats.org/officeDocument/2006/relationships/image" Target="../media/image5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24" Type="http://schemas.openxmlformats.org/officeDocument/2006/relationships/image" Target="../media/image56.png"/><Relationship Id="rId5" Type="http://schemas.openxmlformats.org/officeDocument/2006/relationships/image" Target="../media/image38.png"/><Relationship Id="rId15" Type="http://schemas.openxmlformats.org/officeDocument/2006/relationships/image" Target="../media/image47.png"/><Relationship Id="rId23" Type="http://schemas.openxmlformats.org/officeDocument/2006/relationships/image" Target="../media/image55.png"/><Relationship Id="rId10" Type="http://schemas.openxmlformats.org/officeDocument/2006/relationships/image" Target="../media/image43.png"/><Relationship Id="rId19" Type="http://schemas.openxmlformats.org/officeDocument/2006/relationships/image" Target="../media/image51.png"/><Relationship Id="rId4" Type="http://schemas.openxmlformats.org/officeDocument/2006/relationships/image" Target="../media/image22.png"/><Relationship Id="rId9" Type="http://schemas.openxmlformats.org/officeDocument/2006/relationships/image" Target="../media/image42.png"/><Relationship Id="rId14" Type="http://schemas.openxmlformats.org/officeDocument/2006/relationships/image" Target="../media/image24.png"/><Relationship Id="rId22" Type="http://schemas.openxmlformats.org/officeDocument/2006/relationships/image" Target="../media/image5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13" Type="http://schemas.openxmlformats.org/officeDocument/2006/relationships/image" Target="../media/image67.png"/><Relationship Id="rId18" Type="http://schemas.openxmlformats.org/officeDocument/2006/relationships/image" Target="../media/image72.png"/><Relationship Id="rId26" Type="http://schemas.openxmlformats.org/officeDocument/2006/relationships/image" Target="../media/image80.png"/><Relationship Id="rId3" Type="http://schemas.openxmlformats.org/officeDocument/2006/relationships/image" Target="../media/image21.png"/><Relationship Id="rId21" Type="http://schemas.openxmlformats.org/officeDocument/2006/relationships/image" Target="../media/image75.png"/><Relationship Id="rId7" Type="http://schemas.openxmlformats.org/officeDocument/2006/relationships/image" Target="../media/image61.png"/><Relationship Id="rId12" Type="http://schemas.openxmlformats.org/officeDocument/2006/relationships/image" Target="../media/image66.png"/><Relationship Id="rId17" Type="http://schemas.openxmlformats.org/officeDocument/2006/relationships/image" Target="../media/image71.png"/><Relationship Id="rId25" Type="http://schemas.openxmlformats.org/officeDocument/2006/relationships/image" Target="../media/image79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70.png"/><Relationship Id="rId20" Type="http://schemas.openxmlformats.org/officeDocument/2006/relationships/image" Target="../media/image7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png"/><Relationship Id="rId11" Type="http://schemas.openxmlformats.org/officeDocument/2006/relationships/image" Target="../media/image65.png"/><Relationship Id="rId24" Type="http://schemas.openxmlformats.org/officeDocument/2006/relationships/image" Target="../media/image78.png"/><Relationship Id="rId5" Type="http://schemas.openxmlformats.org/officeDocument/2006/relationships/image" Target="../media/image59.png"/><Relationship Id="rId15" Type="http://schemas.openxmlformats.org/officeDocument/2006/relationships/image" Target="../media/image69.png"/><Relationship Id="rId23" Type="http://schemas.openxmlformats.org/officeDocument/2006/relationships/image" Target="../media/image77.png"/><Relationship Id="rId10" Type="http://schemas.openxmlformats.org/officeDocument/2006/relationships/image" Target="../media/image64.png"/><Relationship Id="rId19" Type="http://schemas.openxmlformats.org/officeDocument/2006/relationships/image" Target="../media/image73.png"/><Relationship Id="rId4" Type="http://schemas.openxmlformats.org/officeDocument/2006/relationships/image" Target="../media/image22.png"/><Relationship Id="rId9" Type="http://schemas.openxmlformats.org/officeDocument/2006/relationships/image" Target="../media/image63.png"/><Relationship Id="rId14" Type="http://schemas.openxmlformats.org/officeDocument/2006/relationships/image" Target="../media/image68.png"/><Relationship Id="rId22" Type="http://schemas.openxmlformats.org/officeDocument/2006/relationships/image" Target="../media/image76.png"/><Relationship Id="rId27" Type="http://schemas.openxmlformats.org/officeDocument/2006/relationships/image" Target="../media/image8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13" Type="http://schemas.openxmlformats.org/officeDocument/2006/relationships/image" Target="../media/image88.png"/><Relationship Id="rId18" Type="http://schemas.openxmlformats.org/officeDocument/2006/relationships/image" Target="../media/image93.png"/><Relationship Id="rId3" Type="http://schemas.openxmlformats.org/officeDocument/2006/relationships/image" Target="../media/image21.png"/><Relationship Id="rId21" Type="http://schemas.openxmlformats.org/officeDocument/2006/relationships/image" Target="../media/image96.png"/><Relationship Id="rId7" Type="http://schemas.openxmlformats.org/officeDocument/2006/relationships/image" Target="../media/image84.png"/><Relationship Id="rId12" Type="http://schemas.openxmlformats.org/officeDocument/2006/relationships/image" Target="../media/image64.png"/><Relationship Id="rId17" Type="http://schemas.openxmlformats.org/officeDocument/2006/relationships/image" Target="../media/image92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91.png"/><Relationship Id="rId20" Type="http://schemas.openxmlformats.org/officeDocument/2006/relationships/image" Target="../media/image9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3.png"/><Relationship Id="rId11" Type="http://schemas.openxmlformats.org/officeDocument/2006/relationships/image" Target="../media/image87.png"/><Relationship Id="rId5" Type="http://schemas.openxmlformats.org/officeDocument/2006/relationships/image" Target="../media/image82.png"/><Relationship Id="rId15" Type="http://schemas.openxmlformats.org/officeDocument/2006/relationships/image" Target="../media/image90.png"/><Relationship Id="rId10" Type="http://schemas.openxmlformats.org/officeDocument/2006/relationships/image" Target="../media/image61.png"/><Relationship Id="rId19" Type="http://schemas.openxmlformats.org/officeDocument/2006/relationships/image" Target="../media/image94.png"/><Relationship Id="rId4" Type="http://schemas.openxmlformats.org/officeDocument/2006/relationships/image" Target="../media/image22.png"/><Relationship Id="rId9" Type="http://schemas.openxmlformats.org/officeDocument/2006/relationships/image" Target="../media/image86.png"/><Relationship Id="rId14" Type="http://schemas.openxmlformats.org/officeDocument/2006/relationships/image" Target="../media/image8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13" Type="http://schemas.openxmlformats.org/officeDocument/2006/relationships/image" Target="../media/image105.png"/><Relationship Id="rId18" Type="http://schemas.openxmlformats.org/officeDocument/2006/relationships/image" Target="../media/image110.png"/><Relationship Id="rId26" Type="http://schemas.openxmlformats.org/officeDocument/2006/relationships/image" Target="../media/image118.png"/><Relationship Id="rId3" Type="http://schemas.openxmlformats.org/officeDocument/2006/relationships/image" Target="../media/image21.png"/><Relationship Id="rId21" Type="http://schemas.openxmlformats.org/officeDocument/2006/relationships/image" Target="../media/image113.png"/><Relationship Id="rId7" Type="http://schemas.openxmlformats.org/officeDocument/2006/relationships/image" Target="../media/image99.png"/><Relationship Id="rId12" Type="http://schemas.openxmlformats.org/officeDocument/2006/relationships/image" Target="../media/image104.png"/><Relationship Id="rId17" Type="http://schemas.openxmlformats.org/officeDocument/2006/relationships/image" Target="../media/image109.png"/><Relationship Id="rId25" Type="http://schemas.openxmlformats.org/officeDocument/2006/relationships/image" Target="../media/image117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08.png"/><Relationship Id="rId20" Type="http://schemas.openxmlformats.org/officeDocument/2006/relationships/image" Target="../media/image112.png"/><Relationship Id="rId29" Type="http://schemas.openxmlformats.org/officeDocument/2006/relationships/image" Target="../media/image1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8.png"/><Relationship Id="rId11" Type="http://schemas.openxmlformats.org/officeDocument/2006/relationships/image" Target="../media/image103.png"/><Relationship Id="rId24" Type="http://schemas.openxmlformats.org/officeDocument/2006/relationships/image" Target="../media/image116.png"/><Relationship Id="rId32" Type="http://schemas.openxmlformats.org/officeDocument/2006/relationships/image" Target="../media/image124.png"/><Relationship Id="rId5" Type="http://schemas.openxmlformats.org/officeDocument/2006/relationships/image" Target="../media/image97.png"/><Relationship Id="rId15" Type="http://schemas.openxmlformats.org/officeDocument/2006/relationships/image" Target="../media/image107.png"/><Relationship Id="rId23" Type="http://schemas.openxmlformats.org/officeDocument/2006/relationships/image" Target="../media/image115.png"/><Relationship Id="rId28" Type="http://schemas.openxmlformats.org/officeDocument/2006/relationships/image" Target="../media/image120.png"/><Relationship Id="rId10" Type="http://schemas.openxmlformats.org/officeDocument/2006/relationships/image" Target="../media/image102.png"/><Relationship Id="rId19" Type="http://schemas.openxmlformats.org/officeDocument/2006/relationships/image" Target="../media/image111.png"/><Relationship Id="rId31" Type="http://schemas.openxmlformats.org/officeDocument/2006/relationships/image" Target="../media/image123.png"/><Relationship Id="rId4" Type="http://schemas.openxmlformats.org/officeDocument/2006/relationships/image" Target="../media/image22.png"/><Relationship Id="rId9" Type="http://schemas.openxmlformats.org/officeDocument/2006/relationships/image" Target="../media/image101.png"/><Relationship Id="rId14" Type="http://schemas.openxmlformats.org/officeDocument/2006/relationships/image" Target="../media/image106.png"/><Relationship Id="rId22" Type="http://schemas.openxmlformats.org/officeDocument/2006/relationships/image" Target="../media/image114.png"/><Relationship Id="rId27" Type="http://schemas.openxmlformats.org/officeDocument/2006/relationships/image" Target="../media/image119.png"/><Relationship Id="rId30" Type="http://schemas.openxmlformats.org/officeDocument/2006/relationships/image" Target="../media/image12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png"/><Relationship Id="rId13" Type="http://schemas.openxmlformats.org/officeDocument/2006/relationships/image" Target="../media/image133.png"/><Relationship Id="rId3" Type="http://schemas.openxmlformats.org/officeDocument/2006/relationships/image" Target="../media/image21.png"/><Relationship Id="rId7" Type="http://schemas.openxmlformats.org/officeDocument/2006/relationships/image" Target="../media/image127.png"/><Relationship Id="rId12" Type="http://schemas.openxmlformats.org/officeDocument/2006/relationships/image" Target="../media/image132.png"/><Relationship Id="rId17" Type="http://schemas.openxmlformats.org/officeDocument/2006/relationships/image" Target="../media/image137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3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6.png"/><Relationship Id="rId11" Type="http://schemas.openxmlformats.org/officeDocument/2006/relationships/image" Target="../media/image131.png"/><Relationship Id="rId5" Type="http://schemas.openxmlformats.org/officeDocument/2006/relationships/image" Target="../media/image125.png"/><Relationship Id="rId15" Type="http://schemas.openxmlformats.org/officeDocument/2006/relationships/image" Target="../media/image135.png"/><Relationship Id="rId10" Type="http://schemas.openxmlformats.org/officeDocument/2006/relationships/image" Target="../media/image130.png"/><Relationship Id="rId4" Type="http://schemas.openxmlformats.org/officeDocument/2006/relationships/image" Target="../media/image22.png"/><Relationship Id="rId9" Type="http://schemas.openxmlformats.org/officeDocument/2006/relationships/image" Target="../media/image129.png"/><Relationship Id="rId14" Type="http://schemas.openxmlformats.org/officeDocument/2006/relationships/image" Target="../media/image134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6.png"/><Relationship Id="rId18" Type="http://schemas.openxmlformats.org/officeDocument/2006/relationships/image" Target="../media/image151.png"/><Relationship Id="rId26" Type="http://schemas.openxmlformats.org/officeDocument/2006/relationships/image" Target="../media/image159.png"/><Relationship Id="rId3" Type="http://schemas.openxmlformats.org/officeDocument/2006/relationships/image" Target="../media/image21.png"/><Relationship Id="rId21" Type="http://schemas.openxmlformats.org/officeDocument/2006/relationships/image" Target="../media/image154.png"/><Relationship Id="rId7" Type="http://schemas.openxmlformats.org/officeDocument/2006/relationships/image" Target="../media/image140.png"/><Relationship Id="rId12" Type="http://schemas.openxmlformats.org/officeDocument/2006/relationships/image" Target="../media/image145.png"/><Relationship Id="rId17" Type="http://schemas.openxmlformats.org/officeDocument/2006/relationships/image" Target="../media/image150.png"/><Relationship Id="rId25" Type="http://schemas.openxmlformats.org/officeDocument/2006/relationships/image" Target="../media/image158.png"/><Relationship Id="rId33" Type="http://schemas.openxmlformats.org/officeDocument/2006/relationships/image" Target="../media/image166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49.png"/><Relationship Id="rId20" Type="http://schemas.openxmlformats.org/officeDocument/2006/relationships/image" Target="../media/image153.png"/><Relationship Id="rId29" Type="http://schemas.openxmlformats.org/officeDocument/2006/relationships/image" Target="../media/image16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9.png"/><Relationship Id="rId11" Type="http://schemas.openxmlformats.org/officeDocument/2006/relationships/image" Target="../media/image144.png"/><Relationship Id="rId24" Type="http://schemas.openxmlformats.org/officeDocument/2006/relationships/image" Target="../media/image157.png"/><Relationship Id="rId32" Type="http://schemas.openxmlformats.org/officeDocument/2006/relationships/image" Target="../media/image165.png"/><Relationship Id="rId5" Type="http://schemas.openxmlformats.org/officeDocument/2006/relationships/image" Target="../media/image138.png"/><Relationship Id="rId15" Type="http://schemas.openxmlformats.org/officeDocument/2006/relationships/image" Target="../media/image148.png"/><Relationship Id="rId23" Type="http://schemas.openxmlformats.org/officeDocument/2006/relationships/image" Target="../media/image156.png"/><Relationship Id="rId28" Type="http://schemas.openxmlformats.org/officeDocument/2006/relationships/image" Target="../media/image161.png"/><Relationship Id="rId10" Type="http://schemas.openxmlformats.org/officeDocument/2006/relationships/image" Target="../media/image143.png"/><Relationship Id="rId19" Type="http://schemas.openxmlformats.org/officeDocument/2006/relationships/image" Target="../media/image152.png"/><Relationship Id="rId31" Type="http://schemas.openxmlformats.org/officeDocument/2006/relationships/image" Target="../media/image164.png"/><Relationship Id="rId4" Type="http://schemas.openxmlformats.org/officeDocument/2006/relationships/image" Target="../media/image22.png"/><Relationship Id="rId9" Type="http://schemas.openxmlformats.org/officeDocument/2006/relationships/image" Target="../media/image142.png"/><Relationship Id="rId14" Type="http://schemas.openxmlformats.org/officeDocument/2006/relationships/image" Target="../media/image147.png"/><Relationship Id="rId22" Type="http://schemas.openxmlformats.org/officeDocument/2006/relationships/image" Target="../media/image155.png"/><Relationship Id="rId27" Type="http://schemas.openxmlformats.org/officeDocument/2006/relationships/image" Target="../media/image160.png"/><Relationship Id="rId30" Type="http://schemas.openxmlformats.org/officeDocument/2006/relationships/image" Target="../media/image163.png"/><Relationship Id="rId8" Type="http://schemas.openxmlformats.org/officeDocument/2006/relationships/image" Target="../media/image14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png"/><Relationship Id="rId13" Type="http://schemas.openxmlformats.org/officeDocument/2006/relationships/image" Target="../media/image175.png"/><Relationship Id="rId3" Type="http://schemas.openxmlformats.org/officeDocument/2006/relationships/image" Target="../media/image21.png"/><Relationship Id="rId7" Type="http://schemas.openxmlformats.org/officeDocument/2006/relationships/image" Target="../media/image169.png"/><Relationship Id="rId12" Type="http://schemas.openxmlformats.org/officeDocument/2006/relationships/image" Target="../media/image17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8.png"/><Relationship Id="rId11" Type="http://schemas.openxmlformats.org/officeDocument/2006/relationships/image" Target="../media/image173.png"/><Relationship Id="rId5" Type="http://schemas.openxmlformats.org/officeDocument/2006/relationships/image" Target="../media/image167.png"/><Relationship Id="rId15" Type="http://schemas.openxmlformats.org/officeDocument/2006/relationships/image" Target="../media/image177.png"/><Relationship Id="rId10" Type="http://schemas.openxmlformats.org/officeDocument/2006/relationships/image" Target="../media/image172.png"/><Relationship Id="rId4" Type="http://schemas.openxmlformats.org/officeDocument/2006/relationships/image" Target="../media/image22.png"/><Relationship Id="rId9" Type="http://schemas.openxmlformats.org/officeDocument/2006/relationships/image" Target="../media/image171.png"/><Relationship Id="rId14" Type="http://schemas.openxmlformats.org/officeDocument/2006/relationships/image" Target="../media/image17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1.png"/><Relationship Id="rId13" Type="http://schemas.openxmlformats.org/officeDocument/2006/relationships/image" Target="../media/image186.png"/><Relationship Id="rId3" Type="http://schemas.openxmlformats.org/officeDocument/2006/relationships/image" Target="../media/image21.png"/><Relationship Id="rId7" Type="http://schemas.openxmlformats.org/officeDocument/2006/relationships/image" Target="../media/image180.png"/><Relationship Id="rId12" Type="http://schemas.openxmlformats.org/officeDocument/2006/relationships/image" Target="../media/image185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18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9.png"/><Relationship Id="rId11" Type="http://schemas.openxmlformats.org/officeDocument/2006/relationships/image" Target="../media/image184.png"/><Relationship Id="rId5" Type="http://schemas.openxmlformats.org/officeDocument/2006/relationships/image" Target="../media/image178.png"/><Relationship Id="rId15" Type="http://schemas.openxmlformats.org/officeDocument/2006/relationships/image" Target="../media/image188.png"/><Relationship Id="rId10" Type="http://schemas.openxmlformats.org/officeDocument/2006/relationships/image" Target="../media/image183.png"/><Relationship Id="rId4" Type="http://schemas.openxmlformats.org/officeDocument/2006/relationships/image" Target="../media/image22.png"/><Relationship Id="rId9" Type="http://schemas.openxmlformats.org/officeDocument/2006/relationships/image" Target="../media/image182.png"/><Relationship Id="rId14" Type="http://schemas.openxmlformats.org/officeDocument/2006/relationships/image" Target="../media/image18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3.png"/><Relationship Id="rId3" Type="http://schemas.openxmlformats.org/officeDocument/2006/relationships/image" Target="../media/image21.png"/><Relationship Id="rId7" Type="http://schemas.openxmlformats.org/officeDocument/2006/relationships/image" Target="../media/image192.png"/><Relationship Id="rId12" Type="http://schemas.openxmlformats.org/officeDocument/2006/relationships/image" Target="../media/image18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1.png"/><Relationship Id="rId11" Type="http://schemas.openxmlformats.org/officeDocument/2006/relationships/image" Target="../media/image196.png"/><Relationship Id="rId5" Type="http://schemas.openxmlformats.org/officeDocument/2006/relationships/image" Target="../media/image190.png"/><Relationship Id="rId10" Type="http://schemas.openxmlformats.org/officeDocument/2006/relationships/image" Target="../media/image195.png"/><Relationship Id="rId4" Type="http://schemas.openxmlformats.org/officeDocument/2006/relationships/image" Target="../media/image22.png"/><Relationship Id="rId9" Type="http://schemas.openxmlformats.org/officeDocument/2006/relationships/image" Target="../media/image19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png"/><Relationship Id="rId13" Type="http://schemas.openxmlformats.org/officeDocument/2006/relationships/image" Target="../media/image205.png"/><Relationship Id="rId3" Type="http://schemas.openxmlformats.org/officeDocument/2006/relationships/image" Target="../media/image21.png"/><Relationship Id="rId7" Type="http://schemas.openxmlformats.org/officeDocument/2006/relationships/image" Target="../media/image199.png"/><Relationship Id="rId12" Type="http://schemas.openxmlformats.org/officeDocument/2006/relationships/image" Target="../media/image20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8.png"/><Relationship Id="rId11" Type="http://schemas.openxmlformats.org/officeDocument/2006/relationships/image" Target="../media/image203.png"/><Relationship Id="rId5" Type="http://schemas.openxmlformats.org/officeDocument/2006/relationships/image" Target="../media/image197.png"/><Relationship Id="rId15" Type="http://schemas.openxmlformats.org/officeDocument/2006/relationships/image" Target="../media/image124.png"/><Relationship Id="rId10" Type="http://schemas.openxmlformats.org/officeDocument/2006/relationships/image" Target="../media/image202.png"/><Relationship Id="rId4" Type="http://schemas.openxmlformats.org/officeDocument/2006/relationships/image" Target="../media/image22.png"/><Relationship Id="rId9" Type="http://schemas.openxmlformats.org/officeDocument/2006/relationships/image" Target="../media/image201.png"/><Relationship Id="rId14" Type="http://schemas.openxmlformats.org/officeDocument/2006/relationships/image" Target="../media/image20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0.png"/><Relationship Id="rId3" Type="http://schemas.openxmlformats.org/officeDocument/2006/relationships/image" Target="../media/image21.png"/><Relationship Id="rId7" Type="http://schemas.openxmlformats.org/officeDocument/2006/relationships/image" Target="../media/image209.png"/><Relationship Id="rId12" Type="http://schemas.openxmlformats.org/officeDocument/2006/relationships/image" Target="../media/image2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8.png"/><Relationship Id="rId11" Type="http://schemas.openxmlformats.org/officeDocument/2006/relationships/image" Target="../media/image212.png"/><Relationship Id="rId5" Type="http://schemas.openxmlformats.org/officeDocument/2006/relationships/image" Target="../media/image207.png"/><Relationship Id="rId10" Type="http://schemas.openxmlformats.org/officeDocument/2006/relationships/image" Target="../media/image211.png"/><Relationship Id="rId4" Type="http://schemas.openxmlformats.org/officeDocument/2006/relationships/image" Target="../media/image22.png"/><Relationship Id="rId9" Type="http://schemas.openxmlformats.org/officeDocument/2006/relationships/image" Target="../media/image6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7.png"/><Relationship Id="rId13" Type="http://schemas.openxmlformats.org/officeDocument/2006/relationships/image" Target="../media/image222.png"/><Relationship Id="rId3" Type="http://schemas.openxmlformats.org/officeDocument/2006/relationships/image" Target="../media/image21.png"/><Relationship Id="rId7" Type="http://schemas.openxmlformats.org/officeDocument/2006/relationships/image" Target="../media/image216.png"/><Relationship Id="rId12" Type="http://schemas.openxmlformats.org/officeDocument/2006/relationships/image" Target="../media/image221.png"/><Relationship Id="rId17" Type="http://schemas.openxmlformats.org/officeDocument/2006/relationships/image" Target="../media/image124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2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5.png"/><Relationship Id="rId11" Type="http://schemas.openxmlformats.org/officeDocument/2006/relationships/image" Target="../media/image220.png"/><Relationship Id="rId5" Type="http://schemas.openxmlformats.org/officeDocument/2006/relationships/image" Target="../media/image214.png"/><Relationship Id="rId15" Type="http://schemas.openxmlformats.org/officeDocument/2006/relationships/image" Target="../media/image224.png"/><Relationship Id="rId10" Type="http://schemas.openxmlformats.org/officeDocument/2006/relationships/image" Target="../media/image219.png"/><Relationship Id="rId4" Type="http://schemas.openxmlformats.org/officeDocument/2006/relationships/image" Target="../media/image22.png"/><Relationship Id="rId9" Type="http://schemas.openxmlformats.org/officeDocument/2006/relationships/image" Target="../media/image218.png"/><Relationship Id="rId14" Type="http://schemas.openxmlformats.org/officeDocument/2006/relationships/image" Target="../media/image22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8.png"/><Relationship Id="rId13" Type="http://schemas.openxmlformats.org/officeDocument/2006/relationships/image" Target="../media/image233.png"/><Relationship Id="rId18" Type="http://schemas.openxmlformats.org/officeDocument/2006/relationships/image" Target="../media/image238.png"/><Relationship Id="rId3" Type="http://schemas.openxmlformats.org/officeDocument/2006/relationships/image" Target="../media/image21.png"/><Relationship Id="rId7" Type="http://schemas.openxmlformats.org/officeDocument/2006/relationships/image" Target="../media/image228.png"/><Relationship Id="rId12" Type="http://schemas.openxmlformats.org/officeDocument/2006/relationships/image" Target="../media/image232.png"/><Relationship Id="rId17" Type="http://schemas.openxmlformats.org/officeDocument/2006/relationships/image" Target="../media/image237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23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7.png"/><Relationship Id="rId11" Type="http://schemas.openxmlformats.org/officeDocument/2006/relationships/image" Target="../media/image231.png"/><Relationship Id="rId5" Type="http://schemas.openxmlformats.org/officeDocument/2006/relationships/image" Target="../media/image226.png"/><Relationship Id="rId15" Type="http://schemas.openxmlformats.org/officeDocument/2006/relationships/image" Target="../media/image235.png"/><Relationship Id="rId10" Type="http://schemas.openxmlformats.org/officeDocument/2006/relationships/image" Target="../media/image230.png"/><Relationship Id="rId4" Type="http://schemas.openxmlformats.org/officeDocument/2006/relationships/image" Target="../media/image22.png"/><Relationship Id="rId9" Type="http://schemas.openxmlformats.org/officeDocument/2006/relationships/image" Target="../media/image229.png"/><Relationship Id="rId14" Type="http://schemas.openxmlformats.org/officeDocument/2006/relationships/image" Target="../media/image23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2.png"/><Relationship Id="rId13" Type="http://schemas.openxmlformats.org/officeDocument/2006/relationships/image" Target="../media/image247.png"/><Relationship Id="rId3" Type="http://schemas.openxmlformats.org/officeDocument/2006/relationships/image" Target="../media/image21.png"/><Relationship Id="rId7" Type="http://schemas.openxmlformats.org/officeDocument/2006/relationships/image" Target="../media/image241.png"/><Relationship Id="rId12" Type="http://schemas.openxmlformats.org/officeDocument/2006/relationships/image" Target="../media/image24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0.png"/><Relationship Id="rId11" Type="http://schemas.openxmlformats.org/officeDocument/2006/relationships/image" Target="../media/image245.png"/><Relationship Id="rId5" Type="http://schemas.openxmlformats.org/officeDocument/2006/relationships/image" Target="../media/image239.png"/><Relationship Id="rId10" Type="http://schemas.openxmlformats.org/officeDocument/2006/relationships/image" Target="../media/image244.png"/><Relationship Id="rId4" Type="http://schemas.openxmlformats.org/officeDocument/2006/relationships/image" Target="../media/image22.png"/><Relationship Id="rId9" Type="http://schemas.openxmlformats.org/officeDocument/2006/relationships/image" Target="../media/image24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1.png"/><Relationship Id="rId13" Type="http://schemas.openxmlformats.org/officeDocument/2006/relationships/image" Target="../media/image256.png"/><Relationship Id="rId3" Type="http://schemas.openxmlformats.org/officeDocument/2006/relationships/image" Target="../media/image21.png"/><Relationship Id="rId7" Type="http://schemas.openxmlformats.org/officeDocument/2006/relationships/image" Target="../media/image250.png"/><Relationship Id="rId12" Type="http://schemas.openxmlformats.org/officeDocument/2006/relationships/image" Target="../media/image255.pn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25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9.png"/><Relationship Id="rId11" Type="http://schemas.openxmlformats.org/officeDocument/2006/relationships/image" Target="../media/image254.png"/><Relationship Id="rId5" Type="http://schemas.openxmlformats.org/officeDocument/2006/relationships/image" Target="../media/image248.png"/><Relationship Id="rId15" Type="http://schemas.openxmlformats.org/officeDocument/2006/relationships/image" Target="../media/image257.png"/><Relationship Id="rId10" Type="http://schemas.openxmlformats.org/officeDocument/2006/relationships/image" Target="../media/image253.png"/><Relationship Id="rId4" Type="http://schemas.openxmlformats.org/officeDocument/2006/relationships/image" Target="../media/image22.png"/><Relationship Id="rId9" Type="http://schemas.openxmlformats.org/officeDocument/2006/relationships/image" Target="../media/image252.png"/><Relationship Id="rId14" Type="http://schemas.openxmlformats.org/officeDocument/2006/relationships/image" Target="../media/image1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9599" y="568518"/>
            <a:ext cx="1346002" cy="145376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91796" y="4473096"/>
            <a:ext cx="1493209" cy="1493209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16988" y="1195151"/>
            <a:ext cx="1787623" cy="1572097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57192" y="4796274"/>
            <a:ext cx="1640416" cy="1532653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7788" y="2566751"/>
            <a:ext cx="1787623" cy="1572097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26196" y="3977796"/>
            <a:ext cx="1493209" cy="1493209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98678" y="1962150"/>
            <a:ext cx="304800" cy="381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28196" y="1962150"/>
            <a:ext cx="342900" cy="381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95814" y="1962150"/>
            <a:ext cx="428625" cy="3810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49157" y="1962150"/>
            <a:ext cx="390525" cy="3810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64400" y="1962150"/>
            <a:ext cx="428625" cy="3810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638651" y="3905250"/>
            <a:ext cx="914400" cy="381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096500" y="5524500"/>
            <a:ext cx="1714500" cy="9525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334625" y="5953125"/>
            <a:ext cx="1238250" cy="3810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1000" y="6210300"/>
            <a:ext cx="190500" cy="2667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048000" y="6210300"/>
            <a:ext cx="190500" cy="2667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667598" y="6210300"/>
            <a:ext cx="238125" cy="2667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084344" y="6210300"/>
            <a:ext cx="190500" cy="266700"/>
          </a:xfrm>
          <a:prstGeom prst="rect">
            <a:avLst/>
          </a:prstGeom>
        </p:spPr>
      </p:pic>
      <p:sp>
        <p:nvSpPr>
          <p:cNvPr id="22" name="Text 0"/>
          <p:cNvSpPr/>
          <p:nvPr/>
        </p:nvSpPr>
        <p:spPr>
          <a:xfrm>
            <a:off x="1273247" y="2495550"/>
            <a:ext cx="964535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4500"/>
              </a:lnSpc>
              <a:buNone/>
            </a:pPr>
            <a:r>
              <a:rPr lang="en-US" sz="3840" b="1" kern="0" spc="-9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Coffee Data Analysis Project</a:t>
            </a:r>
            <a:endParaRPr lang="en-US" sz="3840" dirty="0"/>
          </a:p>
        </p:txBody>
      </p:sp>
      <p:sp>
        <p:nvSpPr>
          <p:cNvPr id="23" name="Text 1"/>
          <p:cNvSpPr/>
          <p:nvPr/>
        </p:nvSpPr>
        <p:spPr>
          <a:xfrm>
            <a:off x="1273247" y="3219450"/>
            <a:ext cx="96453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426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From Raw Data to Business Insights</a:t>
            </a:r>
            <a:endParaRPr lang="en-US" sz="2426" dirty="0"/>
          </a:p>
        </p:txBody>
      </p:sp>
      <p:sp>
        <p:nvSpPr>
          <p:cNvPr id="24" name="Text 2"/>
          <p:cNvSpPr/>
          <p:nvPr/>
        </p:nvSpPr>
        <p:spPr>
          <a:xfrm>
            <a:off x="1273247" y="4248150"/>
            <a:ext cx="964535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646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By: Makhloufi Mahdi</a:t>
            </a:r>
            <a:endParaRPr lang="en-US" sz="1646" dirty="0"/>
          </a:p>
        </p:txBody>
      </p:sp>
      <p:sp>
        <p:nvSpPr>
          <p:cNvPr id="25" name="Text 3"/>
          <p:cNvSpPr/>
          <p:nvPr/>
        </p:nvSpPr>
        <p:spPr>
          <a:xfrm>
            <a:off x="1273247" y="4629150"/>
            <a:ext cx="964535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8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2025-09-19</a:t>
            </a:r>
            <a:endParaRPr lang="en-US" sz="1380" dirty="0"/>
          </a:p>
        </p:txBody>
      </p:sp>
      <p:sp>
        <p:nvSpPr>
          <p:cNvPr id="26" name="Text 4"/>
          <p:cNvSpPr/>
          <p:nvPr/>
        </p:nvSpPr>
        <p:spPr>
          <a:xfrm>
            <a:off x="647700" y="6248400"/>
            <a:ext cx="104005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 Cleaning</a:t>
            </a:r>
            <a:endParaRPr lang="en-US" sz="980" dirty="0"/>
          </a:p>
        </p:txBody>
      </p:sp>
      <p:sp>
        <p:nvSpPr>
          <p:cNvPr id="27" name="Text 5"/>
          <p:cNvSpPr/>
          <p:nvPr/>
        </p:nvSpPr>
        <p:spPr>
          <a:xfrm>
            <a:off x="3314700" y="6248400"/>
            <a:ext cx="9413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SQL Analysis</a:t>
            </a:r>
            <a:endParaRPr lang="en-US" sz="980" dirty="0"/>
          </a:p>
        </p:txBody>
      </p:sp>
      <p:sp>
        <p:nvSpPr>
          <p:cNvPr id="28" name="Text 6"/>
          <p:cNvSpPr/>
          <p:nvPr/>
        </p:nvSpPr>
        <p:spPr>
          <a:xfrm>
            <a:off x="5981923" y="6248400"/>
            <a:ext cx="59672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PySpark</a:t>
            </a:r>
            <a:endParaRPr lang="en-US" sz="980" dirty="0"/>
          </a:p>
        </p:txBody>
      </p:sp>
      <p:sp>
        <p:nvSpPr>
          <p:cNvPr id="29" name="Text 7"/>
          <p:cNvSpPr/>
          <p:nvPr/>
        </p:nvSpPr>
        <p:spPr>
          <a:xfrm>
            <a:off x="8351044" y="6248400"/>
            <a:ext cx="87225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Dashboards</a:t>
            </a:r>
            <a:endParaRPr lang="en-US" sz="9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06755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096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4250" y="1638300"/>
            <a:ext cx="457200" cy="4572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67125" y="1733550"/>
            <a:ext cx="171450" cy="2667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76700" y="1857375"/>
            <a:ext cx="914400" cy="190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6350" y="1638300"/>
            <a:ext cx="457200" cy="4572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19700" y="1733550"/>
            <a:ext cx="190500" cy="2667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38800" y="1857375"/>
            <a:ext cx="914400" cy="190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8450" y="1638300"/>
            <a:ext cx="457200" cy="4572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81800" y="1733550"/>
            <a:ext cx="190500" cy="2667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00900" y="1857375"/>
            <a:ext cx="914400" cy="190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0550" y="1638300"/>
            <a:ext cx="457200" cy="4572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29613" y="1733550"/>
            <a:ext cx="219075" cy="2667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1000" y="2400300"/>
            <a:ext cx="5600700" cy="1838325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2590800"/>
            <a:ext cx="390525" cy="428625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7700" y="2667000"/>
            <a:ext cx="238125" cy="2667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10300" y="2400300"/>
            <a:ext cx="5600700" cy="1838325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00800" y="2590800"/>
            <a:ext cx="323850" cy="428625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77000" y="2667000"/>
            <a:ext cx="171450" cy="2667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1000" y="4467225"/>
            <a:ext cx="5600700" cy="1838325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1500" y="4657725"/>
            <a:ext cx="152400" cy="3810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10300" y="4467225"/>
            <a:ext cx="5600700" cy="1838325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00800" y="4657725"/>
            <a:ext cx="371475" cy="428625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77000" y="4733925"/>
            <a:ext cx="219075" cy="2667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0" y="6686550"/>
            <a:ext cx="12192000" cy="381000"/>
          </a:xfrm>
          <a:prstGeom prst="rect">
            <a:avLst/>
          </a:prstGeom>
        </p:spPr>
      </p:pic>
      <p:sp>
        <p:nvSpPr>
          <p:cNvPr id="27" name="Text 0"/>
          <p:cNvSpPr/>
          <p:nvPr/>
        </p:nvSpPr>
        <p:spPr>
          <a:xfrm>
            <a:off x="381000" y="152400"/>
            <a:ext cx="341451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400"/>
              </a:lnSpc>
              <a:buNone/>
            </a:pPr>
            <a:r>
              <a:rPr lang="en-US" sz="1646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Coffee Data Analysis Project</a:t>
            </a:r>
            <a:endParaRPr lang="en-US" sz="1646" dirty="0"/>
          </a:p>
        </p:txBody>
      </p:sp>
      <p:sp>
        <p:nvSpPr>
          <p:cNvPr id="28" name="Text 1"/>
          <p:cNvSpPr/>
          <p:nvPr/>
        </p:nvSpPr>
        <p:spPr>
          <a:xfrm>
            <a:off x="9654332" y="209550"/>
            <a:ext cx="237233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From Raw Data to Business Insights</a:t>
            </a:r>
            <a:endParaRPr lang="en-US" sz="980" dirty="0"/>
          </a:p>
        </p:txBody>
      </p:sp>
      <p:sp>
        <p:nvSpPr>
          <p:cNvPr id="29" name="Text 2"/>
          <p:cNvSpPr/>
          <p:nvPr/>
        </p:nvSpPr>
        <p:spPr>
          <a:xfrm>
            <a:off x="381000" y="990600"/>
            <a:ext cx="12573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700"/>
              </a:lnSpc>
              <a:buNone/>
            </a:pPr>
            <a:r>
              <a:rPr lang="en-US" sz="2040" b="1" dirty="0">
                <a:solidFill>
                  <a:srgbClr val="92400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Project Overview</a:t>
            </a:r>
            <a:endParaRPr lang="en-US" sz="2040" dirty="0"/>
          </a:p>
        </p:txBody>
      </p:sp>
      <p:sp>
        <p:nvSpPr>
          <p:cNvPr id="30" name="Text 3"/>
          <p:cNvSpPr/>
          <p:nvPr/>
        </p:nvSpPr>
        <p:spPr>
          <a:xfrm>
            <a:off x="1076325" y="2671763"/>
            <a:ext cx="230570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92400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Data Cleaning (Alteryx)</a:t>
            </a:r>
            <a:endParaRPr lang="en-US" sz="1380" dirty="0"/>
          </a:p>
        </p:txBody>
      </p:sp>
      <p:sp>
        <p:nvSpPr>
          <p:cNvPr id="31" name="Text 4"/>
          <p:cNvSpPr/>
          <p:nvPr/>
        </p:nvSpPr>
        <p:spPr>
          <a:xfrm>
            <a:off x="762000" y="3133725"/>
            <a:ext cx="5532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20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Converted storeID and productID to integers</a:t>
            </a:r>
            <a:endParaRPr lang="en-US" sz="1120" dirty="0"/>
          </a:p>
        </p:txBody>
      </p:sp>
      <p:sp>
        <p:nvSpPr>
          <p:cNvPr id="32" name="Text 5"/>
          <p:cNvSpPr/>
          <p:nvPr/>
        </p:nvSpPr>
        <p:spPr>
          <a:xfrm>
            <a:off x="762000" y="3362325"/>
            <a:ext cx="5532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20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Removed unknown/irrelevant columns</a:t>
            </a:r>
            <a:endParaRPr lang="en-US" sz="1120" dirty="0"/>
          </a:p>
        </p:txBody>
      </p:sp>
      <p:sp>
        <p:nvSpPr>
          <p:cNvPr id="33" name="Text 6"/>
          <p:cNvSpPr/>
          <p:nvPr/>
        </p:nvSpPr>
        <p:spPr>
          <a:xfrm>
            <a:off x="762000" y="3590925"/>
            <a:ext cx="5532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20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Cleaned whitespace, tabs, and line breaks</a:t>
            </a:r>
            <a:endParaRPr lang="en-US" sz="1120" dirty="0"/>
          </a:p>
        </p:txBody>
      </p:sp>
      <p:sp>
        <p:nvSpPr>
          <p:cNvPr id="34" name="Text 7"/>
          <p:cNvSpPr/>
          <p:nvPr/>
        </p:nvSpPr>
        <p:spPr>
          <a:xfrm>
            <a:off x="762000" y="3819525"/>
            <a:ext cx="5532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20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Ensured data consistency for further analysis</a:t>
            </a:r>
            <a:endParaRPr lang="en-US" sz="1120" dirty="0"/>
          </a:p>
        </p:txBody>
      </p:sp>
      <p:sp>
        <p:nvSpPr>
          <p:cNvPr id="35" name="Text 8"/>
          <p:cNvSpPr/>
          <p:nvPr/>
        </p:nvSpPr>
        <p:spPr>
          <a:xfrm>
            <a:off x="6838950" y="2671763"/>
            <a:ext cx="133948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92400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SQL Analysis</a:t>
            </a:r>
            <a:endParaRPr lang="en-US" sz="1380" dirty="0"/>
          </a:p>
        </p:txBody>
      </p:sp>
      <p:sp>
        <p:nvSpPr>
          <p:cNvPr id="36" name="Text 9"/>
          <p:cNvSpPr/>
          <p:nvPr/>
        </p:nvSpPr>
        <p:spPr>
          <a:xfrm>
            <a:off x="6591300" y="3133725"/>
            <a:ext cx="5532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20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Weekly revenue trends</a:t>
            </a:r>
            <a:endParaRPr lang="en-US" sz="1120" dirty="0"/>
          </a:p>
        </p:txBody>
      </p:sp>
      <p:sp>
        <p:nvSpPr>
          <p:cNvPr id="37" name="Text 10"/>
          <p:cNvSpPr/>
          <p:nvPr/>
        </p:nvSpPr>
        <p:spPr>
          <a:xfrm>
            <a:off x="6591300" y="3362325"/>
            <a:ext cx="5532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20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Top-performing products &amp; stores</a:t>
            </a:r>
            <a:endParaRPr lang="en-US" sz="1120" dirty="0"/>
          </a:p>
        </p:txBody>
      </p:sp>
      <p:sp>
        <p:nvSpPr>
          <p:cNvPr id="38" name="Text 11"/>
          <p:cNvSpPr/>
          <p:nvPr/>
        </p:nvSpPr>
        <p:spPr>
          <a:xfrm>
            <a:off x="6591300" y="3590925"/>
            <a:ext cx="5532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20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Quantity sold by category</a:t>
            </a:r>
            <a:endParaRPr lang="en-US" sz="1120" dirty="0"/>
          </a:p>
        </p:txBody>
      </p:sp>
      <p:sp>
        <p:nvSpPr>
          <p:cNvPr id="39" name="Text 12"/>
          <p:cNvSpPr/>
          <p:nvPr/>
        </p:nvSpPr>
        <p:spPr>
          <a:xfrm>
            <a:off x="6591300" y="3819525"/>
            <a:ext cx="5532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20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Pareto Analysis: 20% of products generate ~80% of revenue</a:t>
            </a:r>
            <a:endParaRPr lang="en-US" sz="1120" dirty="0"/>
          </a:p>
        </p:txBody>
      </p:sp>
      <p:sp>
        <p:nvSpPr>
          <p:cNvPr id="40" name="Text 13"/>
          <p:cNvSpPr/>
          <p:nvPr/>
        </p:nvSpPr>
        <p:spPr>
          <a:xfrm>
            <a:off x="838200" y="4714875"/>
            <a:ext cx="17512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92400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PySpark Analysis</a:t>
            </a:r>
            <a:endParaRPr lang="en-US" sz="1380" dirty="0"/>
          </a:p>
        </p:txBody>
      </p:sp>
      <p:sp>
        <p:nvSpPr>
          <p:cNvPr id="41" name="Text 14"/>
          <p:cNvSpPr/>
          <p:nvPr/>
        </p:nvSpPr>
        <p:spPr>
          <a:xfrm>
            <a:off x="762000" y="5153025"/>
            <a:ext cx="5532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20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Sales trends &amp; KPIs</a:t>
            </a:r>
            <a:endParaRPr lang="en-US" sz="1120" dirty="0"/>
          </a:p>
        </p:txBody>
      </p:sp>
      <p:sp>
        <p:nvSpPr>
          <p:cNvPr id="42" name="Text 15"/>
          <p:cNvSpPr/>
          <p:nvPr/>
        </p:nvSpPr>
        <p:spPr>
          <a:xfrm>
            <a:off x="762000" y="5381625"/>
            <a:ext cx="5532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20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Correlation matrix (price, sales, categories)</a:t>
            </a:r>
            <a:endParaRPr lang="en-US" sz="1120" dirty="0"/>
          </a:p>
        </p:txBody>
      </p:sp>
      <p:sp>
        <p:nvSpPr>
          <p:cNvPr id="43" name="Text 16"/>
          <p:cNvSpPr/>
          <p:nvPr/>
        </p:nvSpPr>
        <p:spPr>
          <a:xfrm>
            <a:off x="762000" y="5610225"/>
            <a:ext cx="5532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20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Regression analysis (predicting revenue)</a:t>
            </a:r>
            <a:endParaRPr lang="en-US" sz="1120" dirty="0"/>
          </a:p>
        </p:txBody>
      </p:sp>
      <p:sp>
        <p:nvSpPr>
          <p:cNvPr id="44" name="Text 17"/>
          <p:cNvSpPr/>
          <p:nvPr/>
        </p:nvSpPr>
        <p:spPr>
          <a:xfrm>
            <a:off x="762000" y="5838825"/>
            <a:ext cx="5532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20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Time series analysis for forecasting</a:t>
            </a:r>
            <a:endParaRPr lang="en-US" sz="1120" dirty="0"/>
          </a:p>
        </p:txBody>
      </p:sp>
      <p:sp>
        <p:nvSpPr>
          <p:cNvPr id="45" name="Text 18"/>
          <p:cNvSpPr/>
          <p:nvPr/>
        </p:nvSpPr>
        <p:spPr>
          <a:xfrm>
            <a:off x="6886575" y="4738688"/>
            <a:ext cx="26779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92400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Looker Studio Dashboards</a:t>
            </a:r>
            <a:endParaRPr lang="en-US" sz="1380" dirty="0"/>
          </a:p>
        </p:txBody>
      </p:sp>
      <p:sp>
        <p:nvSpPr>
          <p:cNvPr id="46" name="Text 19"/>
          <p:cNvSpPr/>
          <p:nvPr/>
        </p:nvSpPr>
        <p:spPr>
          <a:xfrm>
            <a:off x="6591300" y="5200650"/>
            <a:ext cx="5532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20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Weekly revenue trends</a:t>
            </a:r>
            <a:endParaRPr lang="en-US" sz="1120" dirty="0"/>
          </a:p>
        </p:txBody>
      </p:sp>
      <p:sp>
        <p:nvSpPr>
          <p:cNvPr id="47" name="Text 20"/>
          <p:cNvSpPr/>
          <p:nvPr/>
        </p:nvSpPr>
        <p:spPr>
          <a:xfrm>
            <a:off x="6591300" y="5429250"/>
            <a:ext cx="5532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20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Average basket value</a:t>
            </a:r>
            <a:endParaRPr lang="en-US" sz="1120" dirty="0"/>
          </a:p>
        </p:txBody>
      </p:sp>
      <p:sp>
        <p:nvSpPr>
          <p:cNvPr id="48" name="Text 21"/>
          <p:cNvSpPr/>
          <p:nvPr/>
        </p:nvSpPr>
        <p:spPr>
          <a:xfrm>
            <a:off x="6591300" y="5657850"/>
            <a:ext cx="5532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20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Revenue by category</a:t>
            </a:r>
            <a:endParaRPr lang="en-US" sz="1120" dirty="0"/>
          </a:p>
        </p:txBody>
      </p:sp>
      <p:sp>
        <p:nvSpPr>
          <p:cNvPr id="49" name="Text 22"/>
          <p:cNvSpPr/>
          <p:nvPr/>
        </p:nvSpPr>
        <p:spPr>
          <a:xfrm>
            <a:off x="6591300" y="5886450"/>
            <a:ext cx="5532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20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Interactive filters (product, category, location, date)</a:t>
            </a:r>
            <a:endParaRPr lang="en-US" sz="1120" dirty="0"/>
          </a:p>
        </p:txBody>
      </p:sp>
      <p:sp>
        <p:nvSpPr>
          <p:cNvPr id="50" name="Text 23"/>
          <p:cNvSpPr/>
          <p:nvPr/>
        </p:nvSpPr>
        <p:spPr>
          <a:xfrm>
            <a:off x="381000" y="6762750"/>
            <a:ext cx="21215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Coffee Data Analysis Project</a:t>
            </a:r>
            <a:endParaRPr lang="en-US" sz="11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2009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096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562100"/>
            <a:ext cx="457200" cy="4572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8163" y="1657350"/>
            <a:ext cx="142875" cy="2667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450" y="1781175"/>
            <a:ext cx="2095500" cy="190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24200" y="1562100"/>
            <a:ext cx="457200" cy="4572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33738" y="1657350"/>
            <a:ext cx="238125" cy="2667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76650" y="1781175"/>
            <a:ext cx="2095500" cy="190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67400" y="1562100"/>
            <a:ext cx="457200" cy="4572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00750" y="1657350"/>
            <a:ext cx="190500" cy="2667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9850" y="1781175"/>
            <a:ext cx="2095500" cy="190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10600" y="1562100"/>
            <a:ext cx="457200" cy="4572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53475" y="1657350"/>
            <a:ext cx="171450" cy="2667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63050" y="1781175"/>
            <a:ext cx="2095500" cy="190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353800" y="1562100"/>
            <a:ext cx="457200" cy="4572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496675" y="1657350"/>
            <a:ext cx="171450" cy="2667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81000" y="2324100"/>
            <a:ext cx="3657600" cy="25908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1500" y="2514600"/>
            <a:ext cx="571500" cy="5715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42950" y="2647950"/>
            <a:ext cx="228600" cy="3048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71500" y="3238500"/>
            <a:ext cx="3276600" cy="14859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267200" y="2324100"/>
            <a:ext cx="3657600" cy="25908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457700" y="2514600"/>
            <a:ext cx="571500" cy="5715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643438" y="2647950"/>
            <a:ext cx="200025" cy="3048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457700" y="3238500"/>
            <a:ext cx="3276600" cy="10287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153400" y="2324100"/>
            <a:ext cx="3657600" cy="25908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343900" y="2514600"/>
            <a:ext cx="571500" cy="5715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515350" y="2647950"/>
            <a:ext cx="228600" cy="3048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343900" y="3238500"/>
            <a:ext cx="3276600" cy="10287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81000" y="5219700"/>
            <a:ext cx="11430000" cy="12192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71500" y="5438775"/>
            <a:ext cx="190500" cy="1905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0" y="6819900"/>
            <a:ext cx="12192000" cy="381000"/>
          </a:xfrm>
          <a:prstGeom prst="rect">
            <a:avLst/>
          </a:prstGeom>
        </p:spPr>
      </p:pic>
      <p:sp>
        <p:nvSpPr>
          <p:cNvPr id="33" name="Text 0"/>
          <p:cNvSpPr/>
          <p:nvPr/>
        </p:nvSpPr>
        <p:spPr>
          <a:xfrm>
            <a:off x="381000" y="152400"/>
            <a:ext cx="341451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400"/>
              </a:lnSpc>
              <a:buNone/>
            </a:pPr>
            <a:r>
              <a:rPr lang="en-US" sz="1646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Coffee Data Analysis Project</a:t>
            </a:r>
            <a:endParaRPr lang="en-US" sz="1646" dirty="0"/>
          </a:p>
        </p:txBody>
      </p:sp>
      <p:sp>
        <p:nvSpPr>
          <p:cNvPr id="34" name="Text 1"/>
          <p:cNvSpPr/>
          <p:nvPr/>
        </p:nvSpPr>
        <p:spPr>
          <a:xfrm>
            <a:off x="9654332" y="209550"/>
            <a:ext cx="237233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From Raw Data to Business Insights</a:t>
            </a:r>
            <a:endParaRPr lang="en-US" sz="980" dirty="0"/>
          </a:p>
        </p:txBody>
      </p:sp>
      <p:sp>
        <p:nvSpPr>
          <p:cNvPr id="35" name="Text 2"/>
          <p:cNvSpPr/>
          <p:nvPr/>
        </p:nvSpPr>
        <p:spPr>
          <a:xfrm>
            <a:off x="381000" y="990600"/>
            <a:ext cx="12573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700"/>
              </a:lnSpc>
              <a:buNone/>
            </a:pPr>
            <a:r>
              <a:rPr lang="en-US" sz="2040" b="1" dirty="0">
                <a:solidFill>
                  <a:srgbClr val="92400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Data Cleaning (Alteryx)</a:t>
            </a:r>
            <a:endParaRPr lang="en-US" sz="2040" dirty="0"/>
          </a:p>
        </p:txBody>
      </p:sp>
      <p:sp>
        <p:nvSpPr>
          <p:cNvPr id="36" name="Text 3"/>
          <p:cNvSpPr/>
          <p:nvPr/>
        </p:nvSpPr>
        <p:spPr>
          <a:xfrm>
            <a:off x="1257300" y="2667000"/>
            <a:ext cx="219700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92400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Data Type Conversion</a:t>
            </a:r>
            <a:endParaRPr lang="en-US" sz="1380" dirty="0"/>
          </a:p>
        </p:txBody>
      </p:sp>
      <p:sp>
        <p:nvSpPr>
          <p:cNvPr id="37" name="Text 4"/>
          <p:cNvSpPr/>
          <p:nvPr/>
        </p:nvSpPr>
        <p:spPr>
          <a:xfrm>
            <a:off x="723900" y="3238500"/>
            <a:ext cx="312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Converted key columns to appropriate data types:</a:t>
            </a:r>
            <a:endParaRPr lang="en-US" sz="1120" dirty="0"/>
          </a:p>
        </p:txBody>
      </p:sp>
      <p:sp>
        <p:nvSpPr>
          <p:cNvPr id="38" name="Text 5"/>
          <p:cNvSpPr/>
          <p:nvPr/>
        </p:nvSpPr>
        <p:spPr>
          <a:xfrm>
            <a:off x="723900" y="3810000"/>
            <a:ext cx="34366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20" b="1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storeID</a:t>
            </a:r>
            <a:r>
              <a:rPr lang="en-US" sz="1120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: Text → Integer</a:t>
            </a:r>
            <a:endParaRPr lang="en-US" sz="1120" dirty="0"/>
          </a:p>
        </p:txBody>
      </p:sp>
      <p:sp>
        <p:nvSpPr>
          <p:cNvPr id="39" name="Text 6"/>
          <p:cNvSpPr/>
          <p:nvPr/>
        </p:nvSpPr>
        <p:spPr>
          <a:xfrm>
            <a:off x="723900" y="4038600"/>
            <a:ext cx="34366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20" b="1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productID</a:t>
            </a:r>
            <a:r>
              <a:rPr lang="en-US" sz="1120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: Text → Integer</a:t>
            </a:r>
            <a:endParaRPr lang="en-US" sz="1120" dirty="0"/>
          </a:p>
        </p:txBody>
      </p:sp>
      <p:sp>
        <p:nvSpPr>
          <p:cNvPr id="40" name="Text 7"/>
          <p:cNvSpPr/>
          <p:nvPr/>
        </p:nvSpPr>
        <p:spPr>
          <a:xfrm>
            <a:off x="723900" y="4267200"/>
            <a:ext cx="312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20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Enabled accurate joins and numerical operations</a:t>
            </a:r>
            <a:endParaRPr lang="en-US" sz="1120" dirty="0"/>
          </a:p>
        </p:txBody>
      </p:sp>
      <p:sp>
        <p:nvSpPr>
          <p:cNvPr id="41" name="Text 8"/>
          <p:cNvSpPr/>
          <p:nvPr/>
        </p:nvSpPr>
        <p:spPr>
          <a:xfrm>
            <a:off x="5143500" y="2667000"/>
            <a:ext cx="171159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92400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Column Removal</a:t>
            </a:r>
            <a:endParaRPr lang="en-US" sz="1380" dirty="0"/>
          </a:p>
        </p:txBody>
      </p:sp>
      <p:sp>
        <p:nvSpPr>
          <p:cNvPr id="42" name="Text 9"/>
          <p:cNvSpPr/>
          <p:nvPr/>
        </p:nvSpPr>
        <p:spPr>
          <a:xfrm>
            <a:off x="4610100" y="3238500"/>
            <a:ext cx="34366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Identified and removed irrelevant data:</a:t>
            </a:r>
            <a:endParaRPr lang="en-US" sz="1120" dirty="0"/>
          </a:p>
        </p:txBody>
      </p:sp>
      <p:sp>
        <p:nvSpPr>
          <p:cNvPr id="43" name="Text 10"/>
          <p:cNvSpPr/>
          <p:nvPr/>
        </p:nvSpPr>
        <p:spPr>
          <a:xfrm>
            <a:off x="4610100" y="3581400"/>
            <a:ext cx="34366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20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Unknown columns with no business value</a:t>
            </a:r>
            <a:endParaRPr lang="en-US" sz="1120" dirty="0"/>
          </a:p>
        </p:txBody>
      </p:sp>
      <p:sp>
        <p:nvSpPr>
          <p:cNvPr id="44" name="Text 11"/>
          <p:cNvSpPr/>
          <p:nvPr/>
        </p:nvSpPr>
        <p:spPr>
          <a:xfrm>
            <a:off x="4610100" y="3810000"/>
            <a:ext cx="34366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20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Redundant information</a:t>
            </a:r>
            <a:endParaRPr lang="en-US" sz="1120" dirty="0"/>
          </a:p>
        </p:txBody>
      </p:sp>
      <p:sp>
        <p:nvSpPr>
          <p:cNvPr id="45" name="Text 12"/>
          <p:cNvSpPr/>
          <p:nvPr/>
        </p:nvSpPr>
        <p:spPr>
          <a:xfrm>
            <a:off x="4610100" y="4038600"/>
            <a:ext cx="34366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20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Irrelevant to analytical objectives</a:t>
            </a:r>
            <a:endParaRPr lang="en-US" sz="1120" dirty="0"/>
          </a:p>
        </p:txBody>
      </p:sp>
      <p:sp>
        <p:nvSpPr>
          <p:cNvPr id="46" name="Text 13"/>
          <p:cNvSpPr/>
          <p:nvPr/>
        </p:nvSpPr>
        <p:spPr>
          <a:xfrm>
            <a:off x="9029700" y="2667000"/>
            <a:ext cx="198745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92400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Text Data Cleansing</a:t>
            </a:r>
            <a:endParaRPr lang="en-US" sz="1380" dirty="0"/>
          </a:p>
        </p:txBody>
      </p:sp>
      <p:sp>
        <p:nvSpPr>
          <p:cNvPr id="47" name="Text 14"/>
          <p:cNvSpPr/>
          <p:nvPr/>
        </p:nvSpPr>
        <p:spPr>
          <a:xfrm>
            <a:off x="8496300" y="3238500"/>
            <a:ext cx="34366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Standardized text fields by removing:</a:t>
            </a:r>
            <a:endParaRPr lang="en-US" sz="1120" dirty="0"/>
          </a:p>
        </p:txBody>
      </p:sp>
      <p:sp>
        <p:nvSpPr>
          <p:cNvPr id="48" name="Text 15"/>
          <p:cNvSpPr/>
          <p:nvPr/>
        </p:nvSpPr>
        <p:spPr>
          <a:xfrm>
            <a:off x="8496300" y="3581400"/>
            <a:ext cx="34366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20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Leading/trailing whitespace</a:t>
            </a:r>
            <a:endParaRPr lang="en-US" sz="1120" dirty="0"/>
          </a:p>
        </p:txBody>
      </p:sp>
      <p:sp>
        <p:nvSpPr>
          <p:cNvPr id="49" name="Text 16"/>
          <p:cNvSpPr/>
          <p:nvPr/>
        </p:nvSpPr>
        <p:spPr>
          <a:xfrm>
            <a:off x="8496300" y="3810000"/>
            <a:ext cx="34366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20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Tabs and line breaks</a:t>
            </a:r>
            <a:endParaRPr lang="en-US" sz="1120" dirty="0"/>
          </a:p>
        </p:txBody>
      </p:sp>
      <p:sp>
        <p:nvSpPr>
          <p:cNvPr id="50" name="Text 17"/>
          <p:cNvSpPr/>
          <p:nvPr/>
        </p:nvSpPr>
        <p:spPr>
          <a:xfrm>
            <a:off x="8496300" y="4038600"/>
            <a:ext cx="34366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20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Ensured uniformity for aggregation</a:t>
            </a:r>
            <a:endParaRPr lang="en-US" sz="1120" dirty="0"/>
          </a:p>
        </p:txBody>
      </p:sp>
      <p:sp>
        <p:nvSpPr>
          <p:cNvPr id="51" name="Text 18"/>
          <p:cNvSpPr/>
          <p:nvPr/>
        </p:nvSpPr>
        <p:spPr>
          <a:xfrm>
            <a:off x="838200" y="5410200"/>
            <a:ext cx="12153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92400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Results</a:t>
            </a:r>
            <a:endParaRPr lang="en-US" sz="1380" dirty="0"/>
          </a:p>
        </p:txBody>
      </p:sp>
      <p:sp>
        <p:nvSpPr>
          <p:cNvPr id="52" name="Text 19"/>
          <p:cNvSpPr/>
          <p:nvPr/>
        </p:nvSpPr>
        <p:spPr>
          <a:xfrm>
            <a:off x="571500" y="5791200"/>
            <a:ext cx="1104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data cleaning process transformed the raw coffee sales data into a consistent, standardized format. This ensured accuracy and reliability for subsequent analysis stages, including SQL queries and PySpark modeling.</a:t>
            </a:r>
            <a:endParaRPr lang="en-US" sz="1120" dirty="0"/>
          </a:p>
        </p:txBody>
      </p:sp>
      <p:sp>
        <p:nvSpPr>
          <p:cNvPr id="53" name="Text 20"/>
          <p:cNvSpPr/>
          <p:nvPr/>
        </p:nvSpPr>
        <p:spPr>
          <a:xfrm>
            <a:off x="381000" y="6896100"/>
            <a:ext cx="21215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Coffee Data Analysis Project</a:t>
            </a:r>
            <a:endParaRPr lang="en-US" sz="11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847725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096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1485900"/>
            <a:ext cx="5676900" cy="252412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300" y="1676400"/>
            <a:ext cx="342900" cy="42862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752600"/>
            <a:ext cx="190500" cy="2667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6300" y="2781300"/>
            <a:ext cx="152400" cy="1333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6300" y="3009900"/>
            <a:ext cx="152400" cy="1333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1485900"/>
            <a:ext cx="5676900" cy="2524125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800" y="1676400"/>
            <a:ext cx="371475" cy="428625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7000" y="1752600"/>
            <a:ext cx="219075" cy="2667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81800" y="2524125"/>
            <a:ext cx="1587401" cy="6096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80250" y="2619375"/>
            <a:ext cx="1905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45401" y="2524125"/>
            <a:ext cx="1587550" cy="6096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43851" y="2619375"/>
            <a:ext cx="1905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109150" y="2524125"/>
            <a:ext cx="1587550" cy="6096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807601" y="2619375"/>
            <a:ext cx="1905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781800" y="3209925"/>
            <a:ext cx="1587401" cy="6096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80250" y="3305175"/>
            <a:ext cx="19050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445401" y="3209925"/>
            <a:ext cx="1587550" cy="6096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43851" y="3305175"/>
            <a:ext cx="190500" cy="152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04800" y="4238625"/>
            <a:ext cx="5676900" cy="3552825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95300" y="4429125"/>
            <a:ext cx="371475" cy="428625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71500" y="4505325"/>
            <a:ext cx="219075" cy="2667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76300" y="5314950"/>
            <a:ext cx="152400" cy="1524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76300" y="5619750"/>
            <a:ext cx="152400" cy="1524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76300" y="5924550"/>
            <a:ext cx="152400" cy="1524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10300" y="4238625"/>
            <a:ext cx="5676900" cy="3552825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400800" y="4429125"/>
            <a:ext cx="371475" cy="428625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477000" y="4505325"/>
            <a:ext cx="219075" cy="2667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781800" y="5314950"/>
            <a:ext cx="4914900" cy="4572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781800" y="5886450"/>
            <a:ext cx="4867275" cy="971550"/>
          </a:xfrm>
          <a:prstGeom prst="rect">
            <a:avLst/>
          </a:prstGeom>
        </p:spPr>
      </p:pic>
      <p:sp>
        <p:nvSpPr>
          <p:cNvPr id="33" name="Text 0"/>
          <p:cNvSpPr/>
          <p:nvPr/>
        </p:nvSpPr>
        <p:spPr>
          <a:xfrm>
            <a:off x="381000" y="152400"/>
            <a:ext cx="341451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400"/>
              </a:lnSpc>
              <a:buNone/>
            </a:pPr>
            <a:r>
              <a:rPr lang="en-US" sz="1646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Coffee Data Analysis Project</a:t>
            </a:r>
            <a:endParaRPr lang="en-US" sz="1646" dirty="0"/>
          </a:p>
        </p:txBody>
      </p:sp>
      <p:sp>
        <p:nvSpPr>
          <p:cNvPr id="34" name="Text 1"/>
          <p:cNvSpPr/>
          <p:nvPr/>
        </p:nvSpPr>
        <p:spPr>
          <a:xfrm>
            <a:off x="9654332" y="209550"/>
            <a:ext cx="237233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From Raw Data to Business Insights</a:t>
            </a:r>
            <a:endParaRPr lang="en-US" sz="980" dirty="0"/>
          </a:p>
        </p:txBody>
      </p:sp>
      <p:sp>
        <p:nvSpPr>
          <p:cNvPr id="35" name="Text 2"/>
          <p:cNvSpPr/>
          <p:nvPr/>
        </p:nvSpPr>
        <p:spPr>
          <a:xfrm>
            <a:off x="304800" y="914400"/>
            <a:ext cx="127406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700"/>
              </a:lnSpc>
              <a:buNone/>
            </a:pPr>
            <a:r>
              <a:rPr lang="en-US" sz="2040" b="1" dirty="0">
                <a:solidFill>
                  <a:srgbClr val="92400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SQL Analysis (Key Insights)</a:t>
            </a:r>
            <a:endParaRPr lang="en-US" sz="2040" dirty="0"/>
          </a:p>
        </p:txBody>
      </p:sp>
      <p:sp>
        <p:nvSpPr>
          <p:cNvPr id="36" name="Text 3"/>
          <p:cNvSpPr/>
          <p:nvPr/>
        </p:nvSpPr>
        <p:spPr>
          <a:xfrm>
            <a:off x="952500" y="1757363"/>
            <a:ext cx="239541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92400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Weekly Revenue Trends</a:t>
            </a:r>
            <a:endParaRPr lang="en-US" sz="1380" dirty="0"/>
          </a:p>
        </p:txBody>
      </p:sp>
      <p:sp>
        <p:nvSpPr>
          <p:cNvPr id="37" name="Text 4"/>
          <p:cNvSpPr/>
          <p:nvPr/>
        </p:nvSpPr>
        <p:spPr>
          <a:xfrm>
            <a:off x="876300" y="2219325"/>
            <a:ext cx="4914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Analysis of sales data aggregated by week reveals distinct patterns, with notable revenue peaks during specific periods.</a:t>
            </a:r>
            <a:endParaRPr lang="en-US" sz="1120" dirty="0"/>
          </a:p>
        </p:txBody>
      </p:sp>
      <p:sp>
        <p:nvSpPr>
          <p:cNvPr id="38" name="Text 5"/>
          <p:cNvSpPr/>
          <p:nvPr/>
        </p:nvSpPr>
        <p:spPr>
          <a:xfrm>
            <a:off x="1104900" y="2752725"/>
            <a:ext cx="365288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dirty="0">
                <a:solidFill>
                  <a:srgbClr val="4B556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Strong peak: Jan 7–9 (possibly special event/promotion)</a:t>
            </a:r>
            <a:endParaRPr lang="en-US" sz="980" dirty="0"/>
          </a:p>
        </p:txBody>
      </p:sp>
      <p:sp>
        <p:nvSpPr>
          <p:cNvPr id="39" name="Text 6"/>
          <p:cNvSpPr/>
          <p:nvPr/>
        </p:nvSpPr>
        <p:spPr>
          <a:xfrm>
            <a:off x="1104900" y="2981325"/>
            <a:ext cx="273151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dirty="0">
                <a:solidFill>
                  <a:srgbClr val="4B556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Low points: Jan 13 &amp; 25 (slow sales days)</a:t>
            </a:r>
            <a:endParaRPr lang="en-US" sz="980" dirty="0"/>
          </a:p>
        </p:txBody>
      </p:sp>
      <p:sp>
        <p:nvSpPr>
          <p:cNvPr id="40" name="Text 7"/>
          <p:cNvSpPr/>
          <p:nvPr/>
        </p:nvSpPr>
        <p:spPr>
          <a:xfrm>
            <a:off x="6886575" y="1757363"/>
            <a:ext cx="252245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92400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Top-Performing Products</a:t>
            </a:r>
            <a:endParaRPr lang="en-US" sz="1380" dirty="0"/>
          </a:p>
        </p:txBody>
      </p:sp>
      <p:sp>
        <p:nvSpPr>
          <p:cNvPr id="41" name="Text 8"/>
          <p:cNvSpPr/>
          <p:nvPr/>
        </p:nvSpPr>
        <p:spPr>
          <a:xfrm>
            <a:off x="6781800" y="2219325"/>
            <a:ext cx="54063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following products consistently rank as top revenue generators:</a:t>
            </a:r>
            <a:endParaRPr lang="en-US" sz="1120" dirty="0"/>
          </a:p>
        </p:txBody>
      </p:sp>
      <p:sp>
        <p:nvSpPr>
          <p:cNvPr id="42" name="Text 9"/>
          <p:cNvSpPr/>
          <p:nvPr/>
        </p:nvSpPr>
        <p:spPr>
          <a:xfrm>
            <a:off x="6786250" y="2828925"/>
            <a:ext cx="157850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20" dirty="0">
                <a:solidFill>
                  <a:srgbClr val="92400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Latte Rg</a:t>
            </a:r>
            <a:endParaRPr lang="en-US" sz="1120" dirty="0"/>
          </a:p>
        </p:txBody>
      </p:sp>
      <p:sp>
        <p:nvSpPr>
          <p:cNvPr id="43" name="Text 10"/>
          <p:cNvSpPr/>
          <p:nvPr/>
        </p:nvSpPr>
        <p:spPr>
          <a:xfrm>
            <a:off x="8449843" y="2828925"/>
            <a:ext cx="15786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20" dirty="0">
                <a:solidFill>
                  <a:srgbClr val="92400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Latte</a:t>
            </a:r>
            <a:endParaRPr lang="en-US" sz="1120" dirty="0"/>
          </a:p>
        </p:txBody>
      </p:sp>
      <p:sp>
        <p:nvSpPr>
          <p:cNvPr id="44" name="Text 11"/>
          <p:cNvSpPr/>
          <p:nvPr/>
        </p:nvSpPr>
        <p:spPr>
          <a:xfrm>
            <a:off x="10113593" y="2828925"/>
            <a:ext cx="15786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20" dirty="0">
                <a:solidFill>
                  <a:srgbClr val="92400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Cappuccino</a:t>
            </a:r>
            <a:endParaRPr lang="en-US" sz="1120" dirty="0"/>
          </a:p>
        </p:txBody>
      </p:sp>
      <p:sp>
        <p:nvSpPr>
          <p:cNvPr id="45" name="Text 12"/>
          <p:cNvSpPr/>
          <p:nvPr/>
        </p:nvSpPr>
        <p:spPr>
          <a:xfrm>
            <a:off x="6786250" y="3514725"/>
            <a:ext cx="157850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20" dirty="0">
                <a:solidFill>
                  <a:srgbClr val="92400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Brazilian Coffee</a:t>
            </a:r>
            <a:endParaRPr lang="en-US" sz="1120" dirty="0"/>
          </a:p>
        </p:txBody>
      </p:sp>
      <p:sp>
        <p:nvSpPr>
          <p:cNvPr id="46" name="Text 13"/>
          <p:cNvSpPr/>
          <p:nvPr/>
        </p:nvSpPr>
        <p:spPr>
          <a:xfrm>
            <a:off x="8449843" y="3514725"/>
            <a:ext cx="15786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20" dirty="0">
                <a:solidFill>
                  <a:srgbClr val="92400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Sustainable Coffee</a:t>
            </a:r>
            <a:endParaRPr lang="en-US" sz="1120" dirty="0"/>
          </a:p>
        </p:txBody>
      </p:sp>
      <p:sp>
        <p:nvSpPr>
          <p:cNvPr id="47" name="Text 14"/>
          <p:cNvSpPr/>
          <p:nvPr/>
        </p:nvSpPr>
        <p:spPr>
          <a:xfrm>
            <a:off x="981075" y="4510088"/>
            <a:ext cx="26314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92400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Quantity Sold by Category</a:t>
            </a:r>
            <a:endParaRPr lang="en-US" sz="1380" dirty="0"/>
          </a:p>
        </p:txBody>
      </p:sp>
      <p:sp>
        <p:nvSpPr>
          <p:cNvPr id="48" name="Text 15"/>
          <p:cNvSpPr/>
          <p:nvPr/>
        </p:nvSpPr>
        <p:spPr>
          <a:xfrm>
            <a:off x="876300" y="4972050"/>
            <a:ext cx="54063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Analysis of sales volumes across different product categories reveals:</a:t>
            </a:r>
            <a:endParaRPr lang="en-US" sz="1120" dirty="0"/>
          </a:p>
        </p:txBody>
      </p:sp>
      <p:sp>
        <p:nvSpPr>
          <p:cNvPr id="49" name="Text 16"/>
          <p:cNvSpPr/>
          <p:nvPr/>
        </p:nvSpPr>
        <p:spPr>
          <a:xfrm>
            <a:off x="1104900" y="5276850"/>
            <a:ext cx="21213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Coffee: Core business driver</a:t>
            </a:r>
            <a:endParaRPr lang="en-US" sz="1120" dirty="0"/>
          </a:p>
        </p:txBody>
      </p:sp>
      <p:sp>
        <p:nvSpPr>
          <p:cNvPr id="50" name="Text 17"/>
          <p:cNvSpPr/>
          <p:nvPr/>
        </p:nvSpPr>
        <p:spPr>
          <a:xfrm>
            <a:off x="1104900" y="5581650"/>
            <a:ext cx="32702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Bakery &amp; Chocolate: Strong cross-sell items</a:t>
            </a:r>
            <a:endParaRPr lang="en-US" sz="1120" dirty="0"/>
          </a:p>
        </p:txBody>
      </p:sp>
      <p:sp>
        <p:nvSpPr>
          <p:cNvPr id="51" name="Text 18"/>
          <p:cNvSpPr/>
          <p:nvPr/>
        </p:nvSpPr>
        <p:spPr>
          <a:xfrm>
            <a:off x="1104900" y="5886450"/>
            <a:ext cx="30093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Beans: Niche market for loyal customers</a:t>
            </a:r>
            <a:endParaRPr lang="en-US" sz="1120" dirty="0"/>
          </a:p>
        </p:txBody>
      </p:sp>
      <p:sp>
        <p:nvSpPr>
          <p:cNvPr id="52" name="Text 19"/>
          <p:cNvSpPr/>
          <p:nvPr/>
        </p:nvSpPr>
        <p:spPr>
          <a:xfrm>
            <a:off x="6886575" y="4510088"/>
            <a:ext cx="15645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92400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Pareto Analysis</a:t>
            </a:r>
            <a:endParaRPr lang="en-US" sz="1380" dirty="0"/>
          </a:p>
        </p:txBody>
      </p:sp>
      <p:sp>
        <p:nvSpPr>
          <p:cNvPr id="53" name="Text 20"/>
          <p:cNvSpPr/>
          <p:nvPr/>
        </p:nvSpPr>
        <p:spPr>
          <a:xfrm>
            <a:off x="6781800" y="4972050"/>
            <a:ext cx="54063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Application of the 80/20 rule reveals:</a:t>
            </a:r>
            <a:endParaRPr lang="en-US" sz="1120" dirty="0"/>
          </a:p>
        </p:txBody>
      </p:sp>
      <p:sp>
        <p:nvSpPr>
          <p:cNvPr id="54" name="Text 21"/>
          <p:cNvSpPr/>
          <p:nvPr/>
        </p:nvSpPr>
        <p:spPr>
          <a:xfrm>
            <a:off x="6896100" y="5429250"/>
            <a:ext cx="51549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92400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~20% of products generate ~80% of total revenue</a:t>
            </a:r>
            <a:endParaRPr lang="en-US" sz="1120" dirty="0"/>
          </a:p>
        </p:txBody>
      </p:sp>
      <p:sp>
        <p:nvSpPr>
          <p:cNvPr id="55" name="Text 22"/>
          <p:cNvSpPr/>
          <p:nvPr/>
        </p:nvSpPr>
        <p:spPr>
          <a:xfrm>
            <a:off x="381000" y="8172450"/>
            <a:ext cx="21215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Coffee Data Analysis Project</a:t>
            </a:r>
            <a:endParaRPr lang="en-US" sz="11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862965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096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990600"/>
            <a:ext cx="952500" cy="952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1943100"/>
            <a:ext cx="571500" cy="571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875" y="2057400"/>
            <a:ext cx="285750" cy="3429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2819400"/>
            <a:ext cx="5600700" cy="240982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3009900"/>
            <a:ext cx="342900" cy="42862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700" y="3086100"/>
            <a:ext cx="190500" cy="266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500" y="4152900"/>
            <a:ext cx="133350" cy="1333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500" y="4381500"/>
            <a:ext cx="133350" cy="1333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0300" y="2819400"/>
            <a:ext cx="5600700" cy="2409825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00800" y="3009900"/>
            <a:ext cx="371475" cy="428625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77000" y="3086100"/>
            <a:ext cx="219075" cy="2667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00800" y="4124325"/>
            <a:ext cx="5219700" cy="914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81000" y="5457825"/>
            <a:ext cx="5600700" cy="2409825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1500" y="5648325"/>
            <a:ext cx="295275" cy="428625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7700" y="5724525"/>
            <a:ext cx="142875" cy="2667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71500" y="6791325"/>
            <a:ext cx="133350" cy="13335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10300" y="5457825"/>
            <a:ext cx="5600700" cy="2409825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00800" y="5648325"/>
            <a:ext cx="342900" cy="428625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77000" y="5724525"/>
            <a:ext cx="190500" cy="2667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400800" y="6762750"/>
            <a:ext cx="5219700" cy="95250"/>
          </a:xfrm>
          <a:prstGeom prst="rect">
            <a:avLst/>
          </a:prstGeom>
        </p:spPr>
      </p:pic>
      <p:sp>
        <p:nvSpPr>
          <p:cNvPr id="24" name="Text 0"/>
          <p:cNvSpPr/>
          <p:nvPr/>
        </p:nvSpPr>
        <p:spPr>
          <a:xfrm>
            <a:off x="381000" y="152400"/>
            <a:ext cx="341451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400"/>
              </a:lnSpc>
              <a:buNone/>
            </a:pPr>
            <a:r>
              <a:rPr lang="en-US" sz="1646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Coffee Data Analysis Project</a:t>
            </a:r>
            <a:endParaRPr lang="en-US" sz="1646" dirty="0"/>
          </a:p>
        </p:txBody>
      </p:sp>
      <p:sp>
        <p:nvSpPr>
          <p:cNvPr id="25" name="Text 1"/>
          <p:cNvSpPr/>
          <p:nvPr/>
        </p:nvSpPr>
        <p:spPr>
          <a:xfrm>
            <a:off x="9654332" y="209550"/>
            <a:ext cx="237233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From Raw Data to Business Insights</a:t>
            </a:r>
            <a:endParaRPr lang="en-US" sz="980" dirty="0"/>
          </a:p>
        </p:txBody>
      </p:sp>
      <p:sp>
        <p:nvSpPr>
          <p:cNvPr id="26" name="Text 2"/>
          <p:cNvSpPr/>
          <p:nvPr/>
        </p:nvSpPr>
        <p:spPr>
          <a:xfrm>
            <a:off x="1095375" y="1943100"/>
            <a:ext cx="463776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700"/>
              </a:lnSpc>
              <a:buNone/>
            </a:pPr>
            <a:r>
              <a:rPr lang="en-US" sz="2040" b="1" dirty="0">
                <a:solidFill>
                  <a:srgbClr val="92400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PySpark Analysis</a:t>
            </a:r>
            <a:endParaRPr lang="en-US" sz="2040" dirty="0"/>
          </a:p>
        </p:txBody>
      </p:sp>
      <p:sp>
        <p:nvSpPr>
          <p:cNvPr id="27" name="Text 3"/>
          <p:cNvSpPr/>
          <p:nvPr/>
        </p:nvSpPr>
        <p:spPr>
          <a:xfrm>
            <a:off x="1095375" y="2286000"/>
            <a:ext cx="46377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4B556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Advanced analytical modeling for large-scale coffee sales data</a:t>
            </a:r>
            <a:endParaRPr lang="en-US" sz="1120" dirty="0"/>
          </a:p>
        </p:txBody>
      </p:sp>
      <p:sp>
        <p:nvSpPr>
          <p:cNvPr id="28" name="Text 4"/>
          <p:cNvSpPr/>
          <p:nvPr/>
        </p:nvSpPr>
        <p:spPr>
          <a:xfrm>
            <a:off x="1028700" y="3090863"/>
            <a:ext cx="202657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92400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Sales Trends &amp; KPIs</a:t>
            </a:r>
            <a:endParaRPr lang="en-US" sz="1380" dirty="0"/>
          </a:p>
        </p:txBody>
      </p:sp>
      <p:sp>
        <p:nvSpPr>
          <p:cNvPr id="29" name="Text 5"/>
          <p:cNvSpPr/>
          <p:nvPr/>
        </p:nvSpPr>
        <p:spPr>
          <a:xfrm>
            <a:off x="571500" y="3552825"/>
            <a:ext cx="5219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Analysis of sales trends and calculation of key performance indicators (KPIs) to provide a comprehensive overview of business performance.</a:t>
            </a:r>
            <a:endParaRPr lang="en-US" sz="1120" dirty="0"/>
          </a:p>
        </p:txBody>
      </p:sp>
      <p:sp>
        <p:nvSpPr>
          <p:cNvPr id="30" name="Text 6"/>
          <p:cNvSpPr/>
          <p:nvPr/>
        </p:nvSpPr>
        <p:spPr>
          <a:xfrm>
            <a:off x="781050" y="4124325"/>
            <a:ext cx="22834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dirty="0">
                <a:solidFill>
                  <a:srgbClr val="4B556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Monthly baseline revenue: €81,700</a:t>
            </a:r>
            <a:endParaRPr lang="en-US" sz="980" dirty="0"/>
          </a:p>
        </p:txBody>
      </p:sp>
      <p:sp>
        <p:nvSpPr>
          <p:cNvPr id="31" name="Text 7"/>
          <p:cNvSpPr/>
          <p:nvPr/>
        </p:nvSpPr>
        <p:spPr>
          <a:xfrm>
            <a:off x="781050" y="4352925"/>
            <a:ext cx="176693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dirty="0">
                <a:solidFill>
                  <a:srgbClr val="4B556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Average basket size: €4.72</a:t>
            </a:r>
            <a:endParaRPr lang="en-US" sz="980" dirty="0"/>
          </a:p>
        </p:txBody>
      </p:sp>
      <p:sp>
        <p:nvSpPr>
          <p:cNvPr id="32" name="Text 8"/>
          <p:cNvSpPr/>
          <p:nvPr/>
        </p:nvSpPr>
        <p:spPr>
          <a:xfrm>
            <a:off x="6886575" y="3090863"/>
            <a:ext cx="17932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92400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Correlation Matrix</a:t>
            </a:r>
            <a:endParaRPr lang="en-US" sz="1380" dirty="0"/>
          </a:p>
        </p:txBody>
      </p:sp>
      <p:sp>
        <p:nvSpPr>
          <p:cNvPr id="33" name="Text 9"/>
          <p:cNvSpPr/>
          <p:nvPr/>
        </p:nvSpPr>
        <p:spPr>
          <a:xfrm>
            <a:off x="6400800" y="3552825"/>
            <a:ext cx="5219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Generation of a correlation matrix to understand the relationships between various factors such as price, sales volume, and product categories.</a:t>
            </a:r>
            <a:endParaRPr lang="en-US" sz="1120" dirty="0"/>
          </a:p>
        </p:txBody>
      </p:sp>
      <p:sp>
        <p:nvSpPr>
          <p:cNvPr id="34" name="Text 10"/>
          <p:cNvSpPr/>
          <p:nvPr/>
        </p:nvSpPr>
        <p:spPr>
          <a:xfrm>
            <a:off x="981075" y="5729288"/>
            <a:ext cx="205375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92400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Regression Analysis</a:t>
            </a:r>
            <a:endParaRPr lang="en-US" sz="1380" dirty="0"/>
          </a:p>
        </p:txBody>
      </p:sp>
      <p:sp>
        <p:nvSpPr>
          <p:cNvPr id="35" name="Text 11"/>
          <p:cNvSpPr/>
          <p:nvPr/>
        </p:nvSpPr>
        <p:spPr>
          <a:xfrm>
            <a:off x="571500" y="6191250"/>
            <a:ext cx="5219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Development of a regression model to predict future revenue based on historical data and identified influencing factors.</a:t>
            </a:r>
            <a:endParaRPr lang="en-US" sz="1120" dirty="0"/>
          </a:p>
        </p:txBody>
      </p:sp>
      <p:sp>
        <p:nvSpPr>
          <p:cNvPr id="36" name="Text 12"/>
          <p:cNvSpPr/>
          <p:nvPr/>
        </p:nvSpPr>
        <p:spPr>
          <a:xfrm>
            <a:off x="781050" y="6762750"/>
            <a:ext cx="25031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dirty="0">
                <a:solidFill>
                  <a:srgbClr val="4B556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Model identifies key drivers of revenue</a:t>
            </a:r>
            <a:endParaRPr lang="en-US" sz="980" dirty="0"/>
          </a:p>
        </p:txBody>
      </p:sp>
      <p:sp>
        <p:nvSpPr>
          <p:cNvPr id="37" name="Text 13"/>
          <p:cNvSpPr/>
          <p:nvPr/>
        </p:nvSpPr>
        <p:spPr>
          <a:xfrm>
            <a:off x="781050" y="6991350"/>
            <a:ext cx="20630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dirty="0">
                <a:solidFill>
                  <a:srgbClr val="4B556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Enables data-driven forecasting</a:t>
            </a:r>
            <a:endParaRPr lang="en-US" sz="980" dirty="0"/>
          </a:p>
        </p:txBody>
      </p:sp>
      <p:sp>
        <p:nvSpPr>
          <p:cNvPr id="38" name="Text 14"/>
          <p:cNvSpPr/>
          <p:nvPr/>
        </p:nvSpPr>
        <p:spPr>
          <a:xfrm>
            <a:off x="6858000" y="5729288"/>
            <a:ext cx="20851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92400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Time Series Analysis</a:t>
            </a:r>
            <a:endParaRPr lang="en-US" sz="1380" dirty="0"/>
          </a:p>
        </p:txBody>
      </p:sp>
      <p:sp>
        <p:nvSpPr>
          <p:cNvPr id="39" name="Text 15"/>
          <p:cNvSpPr/>
          <p:nvPr/>
        </p:nvSpPr>
        <p:spPr>
          <a:xfrm>
            <a:off x="6400800" y="6191250"/>
            <a:ext cx="5219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Application of time series models for forecasting future sales, enabling better planning for stock and staffing requirements.</a:t>
            </a:r>
            <a:endParaRPr lang="en-US" sz="1120" dirty="0"/>
          </a:p>
        </p:txBody>
      </p:sp>
      <p:sp>
        <p:nvSpPr>
          <p:cNvPr id="40" name="Text 16"/>
          <p:cNvSpPr/>
          <p:nvPr/>
        </p:nvSpPr>
        <p:spPr>
          <a:xfrm>
            <a:off x="381000" y="8324850"/>
            <a:ext cx="21215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Coffee Data Analysis Project</a:t>
            </a:r>
            <a:endParaRPr lang="en-US" sz="11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096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914400"/>
            <a:ext cx="3708350" cy="4327922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41750" y="914400"/>
            <a:ext cx="3746450" cy="2087761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41750" y="914400"/>
            <a:ext cx="3746450" cy="487561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17950" y="1062930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38020" y="1028700"/>
            <a:ext cx="690265" cy="258961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52320" y="1104900"/>
            <a:ext cx="152400" cy="12189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04484" y="1028700"/>
            <a:ext cx="569416" cy="258961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18784" y="1104900"/>
            <a:ext cx="133350" cy="12189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56050" y="1516261"/>
            <a:ext cx="3514725" cy="11430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40601" y="914400"/>
            <a:ext cx="3746599" cy="2087761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140601" y="914400"/>
            <a:ext cx="3746599" cy="487561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216801" y="1062930"/>
            <a:ext cx="17145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709970" y="1028700"/>
            <a:ext cx="1062930" cy="258961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824270" y="1104900"/>
            <a:ext cx="152400" cy="12189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254901" y="1516261"/>
            <a:ext cx="3514725" cy="11430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241750" y="3154561"/>
            <a:ext cx="3746450" cy="2087761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241750" y="3154561"/>
            <a:ext cx="3746450" cy="487561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317950" y="3303091"/>
            <a:ext cx="171450" cy="152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305824" y="3268861"/>
            <a:ext cx="568077" cy="258961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420124" y="3345061"/>
            <a:ext cx="104775" cy="12189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356050" y="3756422"/>
            <a:ext cx="3514725" cy="11430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140601" y="3154561"/>
            <a:ext cx="3746599" cy="2087761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140601" y="3154561"/>
            <a:ext cx="3746599" cy="487561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216801" y="3303091"/>
            <a:ext cx="171450" cy="1524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1203484" y="3268861"/>
            <a:ext cx="569416" cy="258961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1317784" y="3345061"/>
            <a:ext cx="133350" cy="12189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254901" y="3756422"/>
            <a:ext cx="1720900" cy="5334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0052000" y="3756422"/>
            <a:ext cx="1720900" cy="5334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254901" y="4366022"/>
            <a:ext cx="1720900" cy="5334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0052000" y="4366022"/>
            <a:ext cx="1720900" cy="5334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0" y="6477000"/>
            <a:ext cx="12192000" cy="381000"/>
          </a:xfrm>
          <a:prstGeom prst="rect">
            <a:avLst/>
          </a:prstGeom>
        </p:spPr>
      </p:pic>
      <p:sp>
        <p:nvSpPr>
          <p:cNvPr id="35" name="Text 0"/>
          <p:cNvSpPr/>
          <p:nvPr/>
        </p:nvSpPr>
        <p:spPr>
          <a:xfrm>
            <a:off x="381000" y="152400"/>
            <a:ext cx="341451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400"/>
              </a:lnSpc>
              <a:buNone/>
            </a:pPr>
            <a:r>
              <a:rPr lang="en-US" sz="1646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Coffee Data Analysis Project</a:t>
            </a:r>
            <a:endParaRPr lang="en-US" sz="1646" dirty="0"/>
          </a:p>
        </p:txBody>
      </p:sp>
      <p:sp>
        <p:nvSpPr>
          <p:cNvPr id="36" name="Text 1"/>
          <p:cNvSpPr/>
          <p:nvPr/>
        </p:nvSpPr>
        <p:spPr>
          <a:xfrm>
            <a:off x="9654332" y="209550"/>
            <a:ext cx="237233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From Raw Data to Business Insights</a:t>
            </a:r>
            <a:endParaRPr lang="en-US" sz="980" dirty="0"/>
          </a:p>
        </p:txBody>
      </p:sp>
      <p:sp>
        <p:nvSpPr>
          <p:cNvPr id="37" name="Text 2"/>
          <p:cNvSpPr/>
          <p:nvPr/>
        </p:nvSpPr>
        <p:spPr>
          <a:xfrm>
            <a:off x="495300" y="1104900"/>
            <a:ext cx="366008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400"/>
              </a:lnSpc>
              <a:buNone/>
            </a:pPr>
            <a:r>
              <a:rPr lang="en-US" sz="1646" b="1" dirty="0">
                <a:solidFill>
                  <a:srgbClr val="92400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Looker Studio Dashboards</a:t>
            </a:r>
            <a:endParaRPr lang="en-US" sz="1646" dirty="0"/>
          </a:p>
        </p:txBody>
      </p:sp>
      <p:sp>
        <p:nvSpPr>
          <p:cNvPr id="38" name="Text 3"/>
          <p:cNvSpPr/>
          <p:nvPr/>
        </p:nvSpPr>
        <p:spPr>
          <a:xfrm>
            <a:off x="495300" y="1562100"/>
            <a:ext cx="33273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Interactive dashboards transforming coffee sales data into actionable business insights.</a:t>
            </a:r>
            <a:endParaRPr lang="en-US" sz="1120" dirty="0"/>
          </a:p>
        </p:txBody>
      </p:sp>
      <p:sp>
        <p:nvSpPr>
          <p:cNvPr id="39" name="Text 4"/>
          <p:cNvSpPr/>
          <p:nvPr/>
        </p:nvSpPr>
        <p:spPr>
          <a:xfrm>
            <a:off x="495300" y="2171700"/>
            <a:ext cx="36600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B4530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Key Features:</a:t>
            </a:r>
            <a:endParaRPr lang="en-US" sz="1120" dirty="0"/>
          </a:p>
        </p:txBody>
      </p:sp>
      <p:sp>
        <p:nvSpPr>
          <p:cNvPr id="40" name="Text 5"/>
          <p:cNvSpPr/>
          <p:nvPr/>
        </p:nvSpPr>
        <p:spPr>
          <a:xfrm>
            <a:off x="495300" y="2476500"/>
            <a:ext cx="36600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20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Transform raw data into visual insights</a:t>
            </a:r>
            <a:endParaRPr lang="en-US" sz="1120" dirty="0"/>
          </a:p>
        </p:txBody>
      </p:sp>
      <p:sp>
        <p:nvSpPr>
          <p:cNvPr id="41" name="Text 6"/>
          <p:cNvSpPr/>
          <p:nvPr/>
        </p:nvSpPr>
        <p:spPr>
          <a:xfrm>
            <a:off x="495300" y="2705100"/>
            <a:ext cx="36600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20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Interactive filters for customization</a:t>
            </a:r>
            <a:endParaRPr lang="en-US" sz="1120" dirty="0"/>
          </a:p>
        </p:txBody>
      </p:sp>
      <p:sp>
        <p:nvSpPr>
          <p:cNvPr id="42" name="Text 7"/>
          <p:cNvSpPr/>
          <p:nvPr/>
        </p:nvSpPr>
        <p:spPr>
          <a:xfrm>
            <a:off x="495300" y="2933700"/>
            <a:ext cx="36600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20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Responsive design for all devices</a:t>
            </a:r>
            <a:endParaRPr lang="en-US" sz="1120" dirty="0"/>
          </a:p>
        </p:txBody>
      </p:sp>
      <p:sp>
        <p:nvSpPr>
          <p:cNvPr id="43" name="Text 8"/>
          <p:cNvSpPr/>
          <p:nvPr/>
        </p:nvSpPr>
        <p:spPr>
          <a:xfrm>
            <a:off x="495300" y="3314700"/>
            <a:ext cx="36600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B4530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Benefits:</a:t>
            </a:r>
            <a:endParaRPr lang="en-US" sz="1120" dirty="0"/>
          </a:p>
        </p:txBody>
      </p:sp>
      <p:sp>
        <p:nvSpPr>
          <p:cNvPr id="44" name="Text 9"/>
          <p:cNvSpPr/>
          <p:nvPr/>
        </p:nvSpPr>
        <p:spPr>
          <a:xfrm>
            <a:off x="495300" y="3619500"/>
            <a:ext cx="36600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20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Empower decision-makers with data</a:t>
            </a:r>
            <a:endParaRPr lang="en-US" sz="1120" dirty="0"/>
          </a:p>
        </p:txBody>
      </p:sp>
      <p:sp>
        <p:nvSpPr>
          <p:cNvPr id="45" name="Text 10"/>
          <p:cNvSpPr/>
          <p:nvPr/>
        </p:nvSpPr>
        <p:spPr>
          <a:xfrm>
            <a:off x="495300" y="3848100"/>
            <a:ext cx="36600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20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Identify trends and opportunities</a:t>
            </a:r>
            <a:endParaRPr lang="en-US" sz="1120" dirty="0"/>
          </a:p>
        </p:txBody>
      </p:sp>
      <p:sp>
        <p:nvSpPr>
          <p:cNvPr id="46" name="Text 11"/>
          <p:cNvSpPr/>
          <p:nvPr/>
        </p:nvSpPr>
        <p:spPr>
          <a:xfrm>
            <a:off x="495300" y="4076700"/>
            <a:ext cx="36600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20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Track KPIs in real-time</a:t>
            </a:r>
            <a:endParaRPr lang="en-US" sz="1120" dirty="0"/>
          </a:p>
        </p:txBody>
      </p:sp>
      <p:sp>
        <p:nvSpPr>
          <p:cNvPr id="47" name="Text 12"/>
          <p:cNvSpPr/>
          <p:nvPr/>
        </p:nvSpPr>
        <p:spPr>
          <a:xfrm>
            <a:off x="4546550" y="1043880"/>
            <a:ext cx="15156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Weekly Revenue</a:t>
            </a:r>
            <a:endParaRPr lang="en-US" sz="1120" dirty="0"/>
          </a:p>
        </p:txBody>
      </p:sp>
      <p:sp>
        <p:nvSpPr>
          <p:cNvPr id="48" name="Text 13"/>
          <p:cNvSpPr/>
          <p:nvPr/>
        </p:nvSpPr>
        <p:spPr>
          <a:xfrm>
            <a:off x="6080820" y="990600"/>
            <a:ext cx="377190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200"/>
              </a:lnSpc>
              <a:buNone/>
            </a:pPr>
            <a:r>
              <a:rPr lang="en-US" sz="84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Filters:</a:t>
            </a:r>
            <a:endParaRPr lang="en-US" sz="840" dirty="0"/>
          </a:p>
        </p:txBody>
      </p:sp>
      <p:sp>
        <p:nvSpPr>
          <p:cNvPr id="49" name="Text 14"/>
          <p:cNvSpPr/>
          <p:nvPr/>
        </p:nvSpPr>
        <p:spPr>
          <a:xfrm>
            <a:off x="6842820" y="1028700"/>
            <a:ext cx="759291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440"/>
              </a:lnSpc>
              <a:buNone/>
            </a:pPr>
            <a:r>
              <a:rPr lang="en-US" sz="896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Latte</a:t>
            </a:r>
            <a:endParaRPr lang="en-US" sz="896" dirty="0"/>
          </a:p>
        </p:txBody>
      </p:sp>
      <p:sp>
        <p:nvSpPr>
          <p:cNvPr id="50" name="Text 15"/>
          <p:cNvSpPr/>
          <p:nvPr/>
        </p:nvSpPr>
        <p:spPr>
          <a:xfrm>
            <a:off x="7590234" y="1028700"/>
            <a:ext cx="626358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440"/>
              </a:lnSpc>
              <a:buNone/>
            </a:pPr>
            <a:r>
              <a:rPr lang="en-US" sz="896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HK</a:t>
            </a:r>
            <a:endParaRPr lang="en-US" sz="896" dirty="0"/>
          </a:p>
        </p:txBody>
      </p:sp>
      <p:sp>
        <p:nvSpPr>
          <p:cNvPr id="51" name="Text 16"/>
          <p:cNvSpPr/>
          <p:nvPr/>
        </p:nvSpPr>
        <p:spPr>
          <a:xfrm>
            <a:off x="4356050" y="2735461"/>
            <a:ext cx="102777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200"/>
              </a:lnSpc>
              <a:buNone/>
            </a:pPr>
            <a:r>
              <a:rPr lang="en-US" sz="84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Revenue: €81,700</a:t>
            </a:r>
            <a:endParaRPr lang="en-US" sz="840" dirty="0"/>
          </a:p>
        </p:txBody>
      </p:sp>
      <p:sp>
        <p:nvSpPr>
          <p:cNvPr id="52" name="Text 17"/>
          <p:cNvSpPr/>
          <p:nvPr/>
        </p:nvSpPr>
        <p:spPr>
          <a:xfrm>
            <a:off x="7062788" y="2735461"/>
            <a:ext cx="8922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200"/>
              </a:lnSpc>
              <a:buNone/>
            </a:pPr>
            <a:r>
              <a:rPr lang="en-US" sz="84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Weeks: Jan-Apr</a:t>
            </a:r>
            <a:endParaRPr lang="en-US" sz="840" dirty="0"/>
          </a:p>
        </p:txBody>
      </p:sp>
      <p:sp>
        <p:nvSpPr>
          <p:cNvPr id="53" name="Text 18"/>
          <p:cNvSpPr/>
          <p:nvPr/>
        </p:nvSpPr>
        <p:spPr>
          <a:xfrm>
            <a:off x="8464451" y="1043880"/>
            <a:ext cx="14529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Average Basket</a:t>
            </a:r>
            <a:endParaRPr lang="en-US" sz="1120" dirty="0"/>
          </a:p>
        </p:txBody>
      </p:sp>
      <p:sp>
        <p:nvSpPr>
          <p:cNvPr id="54" name="Text 19"/>
          <p:cNvSpPr/>
          <p:nvPr/>
        </p:nvSpPr>
        <p:spPr>
          <a:xfrm>
            <a:off x="10252770" y="990600"/>
            <a:ext cx="377190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200"/>
              </a:lnSpc>
              <a:buNone/>
            </a:pPr>
            <a:r>
              <a:rPr lang="en-US" sz="84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Filters:</a:t>
            </a:r>
            <a:endParaRPr lang="en-US" sz="840" dirty="0"/>
          </a:p>
        </p:txBody>
      </p:sp>
      <p:sp>
        <p:nvSpPr>
          <p:cNvPr id="55" name="Text 20"/>
          <p:cNvSpPr/>
          <p:nvPr/>
        </p:nvSpPr>
        <p:spPr>
          <a:xfrm>
            <a:off x="11014770" y="1028700"/>
            <a:ext cx="1169224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440"/>
              </a:lnSpc>
              <a:buNone/>
            </a:pPr>
            <a:r>
              <a:rPr lang="en-US" sz="896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Cappuccino</a:t>
            </a:r>
            <a:endParaRPr lang="en-US" sz="896" dirty="0"/>
          </a:p>
        </p:txBody>
      </p:sp>
      <p:sp>
        <p:nvSpPr>
          <p:cNvPr id="56" name="Text 21"/>
          <p:cNvSpPr/>
          <p:nvPr/>
        </p:nvSpPr>
        <p:spPr>
          <a:xfrm>
            <a:off x="8254901" y="2735461"/>
            <a:ext cx="8506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200"/>
              </a:lnSpc>
              <a:buNone/>
            </a:pPr>
            <a:r>
              <a:rPr lang="en-US" sz="84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Average: €4.72</a:t>
            </a:r>
            <a:endParaRPr lang="en-US" sz="840" dirty="0"/>
          </a:p>
        </p:txBody>
      </p:sp>
      <p:sp>
        <p:nvSpPr>
          <p:cNvPr id="57" name="Text 22"/>
          <p:cNvSpPr/>
          <p:nvPr/>
        </p:nvSpPr>
        <p:spPr>
          <a:xfrm>
            <a:off x="11131153" y="2735461"/>
            <a:ext cx="70592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200"/>
              </a:lnSpc>
              <a:buNone/>
            </a:pPr>
            <a:r>
              <a:rPr lang="en-US" sz="84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Products: 80</a:t>
            </a:r>
            <a:endParaRPr lang="en-US" sz="840" dirty="0"/>
          </a:p>
        </p:txBody>
      </p:sp>
      <p:sp>
        <p:nvSpPr>
          <p:cNvPr id="58" name="Text 23"/>
          <p:cNvSpPr/>
          <p:nvPr/>
        </p:nvSpPr>
        <p:spPr>
          <a:xfrm>
            <a:off x="4565600" y="3284041"/>
            <a:ext cx="18939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Revenue by Category</a:t>
            </a:r>
            <a:endParaRPr lang="en-US" sz="1120" dirty="0"/>
          </a:p>
        </p:txBody>
      </p:sp>
      <p:sp>
        <p:nvSpPr>
          <p:cNvPr id="59" name="Text 24"/>
          <p:cNvSpPr/>
          <p:nvPr/>
        </p:nvSpPr>
        <p:spPr>
          <a:xfrm>
            <a:off x="6848624" y="3230761"/>
            <a:ext cx="377190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200"/>
              </a:lnSpc>
              <a:buNone/>
            </a:pPr>
            <a:r>
              <a:rPr lang="en-US" sz="84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Filters:</a:t>
            </a:r>
            <a:endParaRPr lang="en-US" sz="840" dirty="0"/>
          </a:p>
        </p:txBody>
      </p:sp>
      <p:sp>
        <p:nvSpPr>
          <p:cNvPr id="60" name="Text 25"/>
          <p:cNvSpPr/>
          <p:nvPr/>
        </p:nvSpPr>
        <p:spPr>
          <a:xfrm>
            <a:off x="7562999" y="3268861"/>
            <a:ext cx="624885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440"/>
              </a:lnSpc>
              <a:buNone/>
            </a:pPr>
            <a:r>
              <a:rPr lang="en-US" sz="896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Jan</a:t>
            </a:r>
            <a:endParaRPr lang="en-US" sz="896" dirty="0"/>
          </a:p>
        </p:txBody>
      </p:sp>
      <p:sp>
        <p:nvSpPr>
          <p:cNvPr id="61" name="Text 26"/>
          <p:cNvSpPr/>
          <p:nvPr/>
        </p:nvSpPr>
        <p:spPr>
          <a:xfrm>
            <a:off x="4356050" y="4975622"/>
            <a:ext cx="68971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200"/>
              </a:lnSpc>
              <a:buNone/>
            </a:pPr>
            <a:r>
              <a:rPr lang="en-US" sz="84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Coffee: 65%</a:t>
            </a:r>
            <a:endParaRPr lang="en-US" sz="840" dirty="0"/>
          </a:p>
        </p:txBody>
      </p:sp>
      <p:sp>
        <p:nvSpPr>
          <p:cNvPr id="62" name="Text 27"/>
          <p:cNvSpPr/>
          <p:nvPr/>
        </p:nvSpPr>
        <p:spPr>
          <a:xfrm>
            <a:off x="7225754" y="4975622"/>
            <a:ext cx="7129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200"/>
              </a:lnSpc>
              <a:buNone/>
            </a:pPr>
            <a:r>
              <a:rPr lang="en-US" sz="84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Bakery: 20%</a:t>
            </a:r>
            <a:endParaRPr lang="en-US" sz="840" dirty="0"/>
          </a:p>
        </p:txBody>
      </p:sp>
      <p:sp>
        <p:nvSpPr>
          <p:cNvPr id="63" name="Text 28"/>
          <p:cNvSpPr/>
          <p:nvPr/>
        </p:nvSpPr>
        <p:spPr>
          <a:xfrm>
            <a:off x="8464451" y="3284041"/>
            <a:ext cx="12509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Top Products</a:t>
            </a:r>
            <a:endParaRPr lang="en-US" sz="1120" dirty="0"/>
          </a:p>
        </p:txBody>
      </p:sp>
      <p:sp>
        <p:nvSpPr>
          <p:cNvPr id="64" name="Text 29"/>
          <p:cNvSpPr/>
          <p:nvPr/>
        </p:nvSpPr>
        <p:spPr>
          <a:xfrm>
            <a:off x="10746284" y="3230761"/>
            <a:ext cx="377190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200"/>
              </a:lnSpc>
              <a:buNone/>
            </a:pPr>
            <a:r>
              <a:rPr lang="en-US" sz="84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Filters:</a:t>
            </a:r>
            <a:endParaRPr lang="en-US" sz="840" dirty="0"/>
          </a:p>
        </p:txBody>
      </p:sp>
      <p:sp>
        <p:nvSpPr>
          <p:cNvPr id="65" name="Text 30"/>
          <p:cNvSpPr/>
          <p:nvPr/>
        </p:nvSpPr>
        <p:spPr>
          <a:xfrm>
            <a:off x="11489234" y="3268861"/>
            <a:ext cx="626358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440"/>
              </a:lnSpc>
              <a:buNone/>
            </a:pPr>
            <a:r>
              <a:rPr lang="en-US" sz="896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NY</a:t>
            </a:r>
            <a:endParaRPr lang="en-US" sz="896" dirty="0"/>
          </a:p>
        </p:txBody>
      </p:sp>
      <p:sp>
        <p:nvSpPr>
          <p:cNvPr id="66" name="Text 31"/>
          <p:cNvSpPr/>
          <p:nvPr/>
        </p:nvSpPr>
        <p:spPr>
          <a:xfrm>
            <a:off x="8252676" y="3832622"/>
            <a:ext cx="1725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92400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Latte Rg</a:t>
            </a:r>
            <a:endParaRPr lang="en-US" sz="1120" dirty="0"/>
          </a:p>
        </p:txBody>
      </p:sp>
      <p:sp>
        <p:nvSpPr>
          <p:cNvPr id="67" name="Text 32"/>
          <p:cNvSpPr/>
          <p:nvPr/>
        </p:nvSpPr>
        <p:spPr>
          <a:xfrm>
            <a:off x="8252676" y="4061222"/>
            <a:ext cx="1725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4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€12.50</a:t>
            </a:r>
            <a:endParaRPr lang="en-US" sz="840" dirty="0"/>
          </a:p>
        </p:txBody>
      </p:sp>
      <p:sp>
        <p:nvSpPr>
          <p:cNvPr id="68" name="Text 33"/>
          <p:cNvSpPr/>
          <p:nvPr/>
        </p:nvSpPr>
        <p:spPr>
          <a:xfrm>
            <a:off x="10049775" y="3832622"/>
            <a:ext cx="1725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92400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Latte</a:t>
            </a:r>
            <a:endParaRPr lang="en-US" sz="1120" dirty="0"/>
          </a:p>
        </p:txBody>
      </p:sp>
      <p:sp>
        <p:nvSpPr>
          <p:cNvPr id="69" name="Text 34"/>
          <p:cNvSpPr/>
          <p:nvPr/>
        </p:nvSpPr>
        <p:spPr>
          <a:xfrm>
            <a:off x="10049775" y="4061222"/>
            <a:ext cx="1725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4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€10.50</a:t>
            </a:r>
            <a:endParaRPr lang="en-US" sz="840" dirty="0"/>
          </a:p>
        </p:txBody>
      </p:sp>
      <p:sp>
        <p:nvSpPr>
          <p:cNvPr id="70" name="Text 35"/>
          <p:cNvSpPr/>
          <p:nvPr/>
        </p:nvSpPr>
        <p:spPr>
          <a:xfrm>
            <a:off x="8252676" y="4442222"/>
            <a:ext cx="1725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92400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Cappuccino</a:t>
            </a:r>
            <a:endParaRPr lang="en-US" sz="1120" dirty="0"/>
          </a:p>
        </p:txBody>
      </p:sp>
      <p:sp>
        <p:nvSpPr>
          <p:cNvPr id="71" name="Text 36"/>
          <p:cNvSpPr/>
          <p:nvPr/>
        </p:nvSpPr>
        <p:spPr>
          <a:xfrm>
            <a:off x="8252676" y="4670822"/>
            <a:ext cx="1725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4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€9.50</a:t>
            </a:r>
            <a:endParaRPr lang="en-US" sz="840" dirty="0"/>
          </a:p>
        </p:txBody>
      </p:sp>
      <p:sp>
        <p:nvSpPr>
          <p:cNvPr id="72" name="Text 37"/>
          <p:cNvSpPr/>
          <p:nvPr/>
        </p:nvSpPr>
        <p:spPr>
          <a:xfrm>
            <a:off x="10049775" y="4442222"/>
            <a:ext cx="1725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92400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Brazilian Coffee</a:t>
            </a:r>
            <a:endParaRPr lang="en-US" sz="1120" dirty="0"/>
          </a:p>
        </p:txBody>
      </p:sp>
      <p:sp>
        <p:nvSpPr>
          <p:cNvPr id="73" name="Text 38"/>
          <p:cNvSpPr/>
          <p:nvPr/>
        </p:nvSpPr>
        <p:spPr>
          <a:xfrm>
            <a:off x="10049775" y="4670822"/>
            <a:ext cx="1725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4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€8.50</a:t>
            </a:r>
            <a:endParaRPr lang="en-US" sz="840" dirty="0"/>
          </a:p>
        </p:txBody>
      </p:sp>
      <p:sp>
        <p:nvSpPr>
          <p:cNvPr id="74" name="Text 39"/>
          <p:cNvSpPr/>
          <p:nvPr/>
        </p:nvSpPr>
        <p:spPr>
          <a:xfrm>
            <a:off x="381000" y="6553200"/>
            <a:ext cx="21215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Coffee Data Analysis Project</a:t>
            </a:r>
            <a:endParaRPr lang="en-US" sz="11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9342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096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942975"/>
            <a:ext cx="285750" cy="2857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0" y="1485900"/>
            <a:ext cx="6814840" cy="4762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1638300"/>
            <a:ext cx="6505575" cy="36576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58082" y="5467350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56768" y="5467350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70189" y="5467350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48240" y="1485900"/>
            <a:ext cx="4538960" cy="14859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38740" y="1714500"/>
            <a:ext cx="219075" cy="1905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48240" y="3124200"/>
            <a:ext cx="4538960" cy="12192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538740" y="3352800"/>
            <a:ext cx="219075" cy="1905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348240" y="4495800"/>
            <a:ext cx="4538960" cy="17526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538740" y="4724400"/>
            <a:ext cx="190500" cy="1905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0" y="6553200"/>
            <a:ext cx="12192000" cy="381000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381000" y="152400"/>
            <a:ext cx="341451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400"/>
              </a:lnSpc>
              <a:buNone/>
            </a:pPr>
            <a:r>
              <a:rPr lang="en-US" sz="1646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Coffee Data Analysis Project</a:t>
            </a:r>
            <a:endParaRPr lang="en-US" sz="1646" dirty="0"/>
          </a:p>
        </p:txBody>
      </p:sp>
      <p:sp>
        <p:nvSpPr>
          <p:cNvPr id="18" name="Text 1"/>
          <p:cNvSpPr/>
          <p:nvPr/>
        </p:nvSpPr>
        <p:spPr>
          <a:xfrm>
            <a:off x="9654332" y="209550"/>
            <a:ext cx="237233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From Raw Data to Business Insights</a:t>
            </a:r>
            <a:endParaRPr lang="en-US" sz="980" dirty="0"/>
          </a:p>
        </p:txBody>
      </p:sp>
      <p:sp>
        <p:nvSpPr>
          <p:cNvPr id="19" name="Text 2"/>
          <p:cNvSpPr/>
          <p:nvPr/>
        </p:nvSpPr>
        <p:spPr>
          <a:xfrm>
            <a:off x="704850" y="914400"/>
            <a:ext cx="127406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700"/>
              </a:lnSpc>
              <a:buNone/>
            </a:pPr>
            <a:r>
              <a:rPr lang="en-US" sz="2040" b="1" dirty="0">
                <a:solidFill>
                  <a:srgbClr val="92400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Revenue Over Time</a:t>
            </a:r>
            <a:endParaRPr lang="en-US" sz="2040" dirty="0"/>
          </a:p>
        </p:txBody>
      </p:sp>
      <p:sp>
        <p:nvSpPr>
          <p:cNvPr id="20" name="Text 3"/>
          <p:cNvSpPr/>
          <p:nvPr/>
        </p:nvSpPr>
        <p:spPr>
          <a:xfrm>
            <a:off x="1786682" y="5448300"/>
            <a:ext cx="103563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dirty="0">
                <a:solidFill>
                  <a:srgbClr val="4B556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Revenue Peaks</a:t>
            </a:r>
            <a:endParaRPr lang="en-US" sz="980" dirty="0"/>
          </a:p>
        </p:txBody>
      </p:sp>
      <p:sp>
        <p:nvSpPr>
          <p:cNvPr id="21" name="Text 4"/>
          <p:cNvSpPr/>
          <p:nvPr/>
        </p:nvSpPr>
        <p:spPr>
          <a:xfrm>
            <a:off x="3185368" y="5448300"/>
            <a:ext cx="105184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dirty="0">
                <a:solidFill>
                  <a:srgbClr val="4B556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Low Sales Days</a:t>
            </a:r>
            <a:endParaRPr lang="en-US" sz="980" dirty="0"/>
          </a:p>
        </p:txBody>
      </p:sp>
      <p:sp>
        <p:nvSpPr>
          <p:cNvPr id="22" name="Text 5"/>
          <p:cNvSpPr/>
          <p:nvPr/>
        </p:nvSpPr>
        <p:spPr>
          <a:xfrm>
            <a:off x="4598789" y="5448300"/>
            <a:ext cx="13941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dirty="0">
                <a:solidFill>
                  <a:srgbClr val="4B556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Overall Growth Trend</a:t>
            </a:r>
            <a:endParaRPr lang="en-US" sz="980" dirty="0"/>
          </a:p>
        </p:txBody>
      </p:sp>
      <p:sp>
        <p:nvSpPr>
          <p:cNvPr id="23" name="Text 6"/>
          <p:cNvSpPr/>
          <p:nvPr/>
        </p:nvSpPr>
        <p:spPr>
          <a:xfrm>
            <a:off x="7834015" y="1676400"/>
            <a:ext cx="457375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92400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Key Revenue Peaks</a:t>
            </a:r>
            <a:endParaRPr lang="en-US" sz="1380" dirty="0"/>
          </a:p>
        </p:txBody>
      </p:sp>
      <p:sp>
        <p:nvSpPr>
          <p:cNvPr id="24" name="Text 7"/>
          <p:cNvSpPr/>
          <p:nvPr/>
        </p:nvSpPr>
        <p:spPr>
          <a:xfrm>
            <a:off x="7538740" y="2057400"/>
            <a:ext cx="4157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January 7-9:</a:t>
            </a:r>
            <a:r>
              <a:rPr lang="en-US" sz="1120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Notable revenue surge, possibly linked to special event or promotion</a:t>
            </a:r>
            <a:endParaRPr lang="en-US" sz="1120" dirty="0"/>
          </a:p>
        </p:txBody>
      </p:sp>
      <p:sp>
        <p:nvSpPr>
          <p:cNvPr id="25" name="Text 8"/>
          <p:cNvSpPr/>
          <p:nvPr/>
        </p:nvSpPr>
        <p:spPr>
          <a:xfrm>
            <a:off x="7538740" y="2590800"/>
            <a:ext cx="457375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dirty="0">
                <a:solidFill>
                  <a:srgbClr val="4B556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Daily peaks: €1,500 (Jan 9), €1,200 (Jan 8), €800 (Jan 7)</a:t>
            </a:r>
            <a:endParaRPr lang="en-US" sz="980" dirty="0"/>
          </a:p>
        </p:txBody>
      </p:sp>
      <p:sp>
        <p:nvSpPr>
          <p:cNvPr id="26" name="Text 9"/>
          <p:cNvSpPr/>
          <p:nvPr/>
        </p:nvSpPr>
        <p:spPr>
          <a:xfrm>
            <a:off x="7834015" y="3314700"/>
            <a:ext cx="457375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92400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Low Sales Periods</a:t>
            </a:r>
            <a:endParaRPr lang="en-US" sz="1380" dirty="0"/>
          </a:p>
        </p:txBody>
      </p:sp>
      <p:sp>
        <p:nvSpPr>
          <p:cNvPr id="27" name="Text 10"/>
          <p:cNvSpPr/>
          <p:nvPr/>
        </p:nvSpPr>
        <p:spPr>
          <a:xfrm>
            <a:off x="7538740" y="3695700"/>
            <a:ext cx="4157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January 13 &amp; 25:</a:t>
            </a:r>
            <a:r>
              <a:rPr lang="en-US" sz="1120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Consistent low sales days, identified as slow sales periods</a:t>
            </a:r>
            <a:endParaRPr lang="en-US" sz="1120" dirty="0"/>
          </a:p>
        </p:txBody>
      </p:sp>
      <p:sp>
        <p:nvSpPr>
          <p:cNvPr id="28" name="Text 11"/>
          <p:cNvSpPr/>
          <p:nvPr/>
        </p:nvSpPr>
        <p:spPr>
          <a:xfrm>
            <a:off x="7805440" y="4686300"/>
            <a:ext cx="457375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92400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Monthly Trend Analysis</a:t>
            </a:r>
            <a:endParaRPr lang="en-US" sz="1380" dirty="0"/>
          </a:p>
        </p:txBody>
      </p:sp>
      <p:sp>
        <p:nvSpPr>
          <p:cNvPr id="29" name="Text 12"/>
          <p:cNvSpPr/>
          <p:nvPr/>
        </p:nvSpPr>
        <p:spPr>
          <a:xfrm>
            <a:off x="7538740" y="5067300"/>
            <a:ext cx="4157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Overall growth:</a:t>
            </a:r>
            <a:r>
              <a:rPr lang="en-US" sz="1120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January shows continuous growth within the month</a:t>
            </a:r>
            <a:endParaRPr lang="en-US" sz="1120" dirty="0"/>
          </a:p>
        </p:txBody>
      </p:sp>
      <p:sp>
        <p:nvSpPr>
          <p:cNvPr id="30" name="Text 13"/>
          <p:cNvSpPr/>
          <p:nvPr/>
        </p:nvSpPr>
        <p:spPr>
          <a:xfrm>
            <a:off x="7538740" y="5600700"/>
            <a:ext cx="4157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Seasonal effect:</a:t>
            </a:r>
            <a:r>
              <a:rPr lang="en-US" sz="1120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January/February represents lowest sales months, while June shows highest sales</a:t>
            </a:r>
            <a:endParaRPr lang="en-US" sz="1120" dirty="0"/>
          </a:p>
        </p:txBody>
      </p:sp>
      <p:sp>
        <p:nvSpPr>
          <p:cNvPr id="31" name="Text 14"/>
          <p:cNvSpPr/>
          <p:nvPr/>
        </p:nvSpPr>
        <p:spPr>
          <a:xfrm>
            <a:off x="381000" y="6629400"/>
            <a:ext cx="21215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Coffee Data Analysis Project</a:t>
            </a:r>
            <a:endParaRPr lang="en-US" sz="11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01992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096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590675"/>
            <a:ext cx="219075" cy="190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1981200"/>
            <a:ext cx="6553200" cy="73342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2133600"/>
            <a:ext cx="390525" cy="42862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2209800"/>
            <a:ext cx="238125" cy="266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62600" y="2252663"/>
            <a:ext cx="1219200" cy="2857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62600" y="2252663"/>
            <a:ext cx="1158180" cy="2857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2867025"/>
            <a:ext cx="6553200" cy="733425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3400" y="3019425"/>
            <a:ext cx="390525" cy="428625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3095625"/>
            <a:ext cx="238125" cy="2667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62600" y="3138488"/>
            <a:ext cx="1219200" cy="2857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62600" y="3138488"/>
            <a:ext cx="1097161" cy="2857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3752850"/>
            <a:ext cx="6553200" cy="733425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3400" y="3905250"/>
            <a:ext cx="390525" cy="428625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3981450"/>
            <a:ext cx="238125" cy="2667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562600" y="4024313"/>
            <a:ext cx="1219200" cy="28575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562600" y="4024313"/>
            <a:ext cx="1036290" cy="28575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4638675"/>
            <a:ext cx="6553200" cy="733425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33400" y="4791075"/>
            <a:ext cx="390525" cy="428625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4867275"/>
            <a:ext cx="238125" cy="2667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62600" y="4910138"/>
            <a:ext cx="1219200" cy="28575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562600" y="4910138"/>
            <a:ext cx="975271" cy="28575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5524500"/>
            <a:ext cx="6553200" cy="733425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33400" y="5676900"/>
            <a:ext cx="342900" cy="428625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09600" y="5753100"/>
            <a:ext cx="190500" cy="2667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62600" y="5795963"/>
            <a:ext cx="1219200" cy="28575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562600" y="5795963"/>
            <a:ext cx="914400" cy="28575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239000" y="1562100"/>
            <a:ext cx="4572000" cy="24384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467600" y="1819275"/>
            <a:ext cx="142875" cy="1905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467600" y="2247900"/>
            <a:ext cx="228600" cy="4191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505700" y="2305050"/>
            <a:ext cx="152400" cy="1524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467600" y="2857500"/>
            <a:ext cx="247650" cy="30480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505700" y="2914650"/>
            <a:ext cx="171450" cy="152400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467600" y="3352800"/>
            <a:ext cx="247650" cy="419100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505700" y="3409950"/>
            <a:ext cx="171450" cy="152400"/>
          </a:xfrm>
          <a:prstGeom prst="rect">
            <a:avLst/>
          </a:prstGeom>
        </p:spPr>
      </p:pic>
      <p:pic>
        <p:nvPicPr>
          <p:cNvPr id="38" name="Image 36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239000" y="4229100"/>
            <a:ext cx="4572000" cy="1828800"/>
          </a:xfrm>
          <a:prstGeom prst="rect">
            <a:avLst/>
          </a:prstGeom>
        </p:spPr>
      </p:pic>
      <p:pic>
        <p:nvPicPr>
          <p:cNvPr id="39" name="Image 37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467600" y="4486275"/>
            <a:ext cx="190500" cy="190500"/>
          </a:xfrm>
          <a:prstGeom prst="rect">
            <a:avLst/>
          </a:prstGeom>
        </p:spPr>
      </p:pic>
      <p:pic>
        <p:nvPicPr>
          <p:cNvPr id="40" name="Image 38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467600" y="4914900"/>
            <a:ext cx="228600" cy="304800"/>
          </a:xfrm>
          <a:prstGeom prst="rect">
            <a:avLst/>
          </a:prstGeom>
        </p:spPr>
      </p:pic>
      <p:pic>
        <p:nvPicPr>
          <p:cNvPr id="41" name="Image 39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505700" y="4972050"/>
            <a:ext cx="152400" cy="152400"/>
          </a:xfrm>
          <a:prstGeom prst="rect">
            <a:avLst/>
          </a:prstGeom>
        </p:spPr>
      </p:pic>
      <p:pic>
        <p:nvPicPr>
          <p:cNvPr id="42" name="Image 40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467600" y="5410200"/>
            <a:ext cx="228600" cy="419100"/>
          </a:xfrm>
          <a:prstGeom prst="rect">
            <a:avLst/>
          </a:prstGeom>
        </p:spPr>
      </p:pic>
      <p:pic>
        <p:nvPicPr>
          <p:cNvPr id="43" name="Image 41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505700" y="5467350"/>
            <a:ext cx="152400" cy="152400"/>
          </a:xfrm>
          <a:prstGeom prst="rect">
            <a:avLst/>
          </a:prstGeom>
        </p:spPr>
      </p:pic>
      <p:pic>
        <p:nvPicPr>
          <p:cNvPr id="44" name="Image 42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0" y="6638925"/>
            <a:ext cx="12192000" cy="381000"/>
          </a:xfrm>
          <a:prstGeom prst="rect">
            <a:avLst/>
          </a:prstGeom>
        </p:spPr>
      </p:pic>
      <p:sp>
        <p:nvSpPr>
          <p:cNvPr id="45" name="Text 0"/>
          <p:cNvSpPr/>
          <p:nvPr/>
        </p:nvSpPr>
        <p:spPr>
          <a:xfrm>
            <a:off x="381000" y="152400"/>
            <a:ext cx="341451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400"/>
              </a:lnSpc>
              <a:buNone/>
            </a:pPr>
            <a:r>
              <a:rPr lang="en-US" sz="1646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Coffee Data Analysis Project</a:t>
            </a:r>
            <a:endParaRPr lang="en-US" sz="1646" dirty="0"/>
          </a:p>
        </p:txBody>
      </p:sp>
      <p:sp>
        <p:nvSpPr>
          <p:cNvPr id="46" name="Text 1"/>
          <p:cNvSpPr/>
          <p:nvPr/>
        </p:nvSpPr>
        <p:spPr>
          <a:xfrm>
            <a:off x="9654332" y="209550"/>
            <a:ext cx="237233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From Raw Data to Business Insights</a:t>
            </a:r>
            <a:endParaRPr lang="en-US" sz="980" dirty="0"/>
          </a:p>
        </p:txBody>
      </p:sp>
      <p:sp>
        <p:nvSpPr>
          <p:cNvPr id="47" name="Text 2"/>
          <p:cNvSpPr/>
          <p:nvPr/>
        </p:nvSpPr>
        <p:spPr>
          <a:xfrm>
            <a:off x="381000" y="990600"/>
            <a:ext cx="12573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700"/>
              </a:lnSpc>
              <a:buNone/>
            </a:pPr>
            <a:r>
              <a:rPr lang="en-US" sz="2040" b="1" dirty="0">
                <a:solidFill>
                  <a:srgbClr val="92400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Sales by Product</a:t>
            </a:r>
            <a:endParaRPr lang="en-US" sz="2040" dirty="0"/>
          </a:p>
        </p:txBody>
      </p:sp>
      <p:sp>
        <p:nvSpPr>
          <p:cNvPr id="48" name="Text 3"/>
          <p:cNvSpPr/>
          <p:nvPr/>
        </p:nvSpPr>
        <p:spPr>
          <a:xfrm>
            <a:off x="676275" y="1562100"/>
            <a:ext cx="72085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B4530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Top Revenue-Generating Products</a:t>
            </a:r>
            <a:endParaRPr lang="en-US" sz="1380" dirty="0"/>
          </a:p>
        </p:txBody>
      </p:sp>
      <p:sp>
        <p:nvSpPr>
          <p:cNvPr id="49" name="Text 4"/>
          <p:cNvSpPr/>
          <p:nvPr/>
        </p:nvSpPr>
        <p:spPr>
          <a:xfrm>
            <a:off x="1038225" y="2138363"/>
            <a:ext cx="2250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92400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Latte Rg</a:t>
            </a:r>
            <a:endParaRPr lang="en-US" sz="1120" dirty="0"/>
          </a:p>
        </p:txBody>
      </p:sp>
      <p:sp>
        <p:nvSpPr>
          <p:cNvPr id="50" name="Text 5"/>
          <p:cNvSpPr/>
          <p:nvPr/>
        </p:nvSpPr>
        <p:spPr>
          <a:xfrm>
            <a:off x="1038225" y="2366963"/>
            <a:ext cx="225020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dirty="0">
                <a:solidFill>
                  <a:srgbClr val="4B556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Regular latte with classic espresso</a:t>
            </a:r>
            <a:endParaRPr lang="en-US" sz="980" dirty="0"/>
          </a:p>
        </p:txBody>
      </p:sp>
      <p:sp>
        <p:nvSpPr>
          <p:cNvPr id="51" name="Text 6"/>
          <p:cNvSpPr/>
          <p:nvPr/>
        </p:nvSpPr>
        <p:spPr>
          <a:xfrm>
            <a:off x="1038225" y="3024188"/>
            <a:ext cx="21198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92400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Latte</a:t>
            </a:r>
            <a:endParaRPr lang="en-US" sz="1120" dirty="0"/>
          </a:p>
        </p:txBody>
      </p:sp>
      <p:sp>
        <p:nvSpPr>
          <p:cNvPr id="52" name="Text 7"/>
          <p:cNvSpPr/>
          <p:nvPr/>
        </p:nvSpPr>
        <p:spPr>
          <a:xfrm>
            <a:off x="1038225" y="3252788"/>
            <a:ext cx="211989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dirty="0">
                <a:solidFill>
                  <a:srgbClr val="4B556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Standard latte with steamed milk</a:t>
            </a:r>
            <a:endParaRPr lang="en-US" sz="980" dirty="0"/>
          </a:p>
        </p:txBody>
      </p:sp>
      <p:sp>
        <p:nvSpPr>
          <p:cNvPr id="53" name="Text 8"/>
          <p:cNvSpPr/>
          <p:nvPr/>
        </p:nvSpPr>
        <p:spPr>
          <a:xfrm>
            <a:off x="1038225" y="3910013"/>
            <a:ext cx="256829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92400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Cappuccino</a:t>
            </a:r>
            <a:endParaRPr lang="en-US" sz="1120" dirty="0"/>
          </a:p>
        </p:txBody>
      </p:sp>
      <p:sp>
        <p:nvSpPr>
          <p:cNvPr id="54" name="Text 9"/>
          <p:cNvSpPr/>
          <p:nvPr/>
        </p:nvSpPr>
        <p:spPr>
          <a:xfrm>
            <a:off x="1038225" y="4138613"/>
            <a:ext cx="256829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dirty="0">
                <a:solidFill>
                  <a:srgbClr val="4B556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Equal parts espresso and steamed milk</a:t>
            </a:r>
            <a:endParaRPr lang="en-US" sz="980" dirty="0"/>
          </a:p>
        </p:txBody>
      </p:sp>
      <p:sp>
        <p:nvSpPr>
          <p:cNvPr id="55" name="Text 10"/>
          <p:cNvSpPr/>
          <p:nvPr/>
        </p:nvSpPr>
        <p:spPr>
          <a:xfrm>
            <a:off x="1038225" y="4795838"/>
            <a:ext cx="19948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92400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Brazilian Coffee</a:t>
            </a:r>
            <a:endParaRPr lang="en-US" sz="1120" dirty="0"/>
          </a:p>
        </p:txBody>
      </p:sp>
      <p:sp>
        <p:nvSpPr>
          <p:cNvPr id="56" name="Text 11"/>
          <p:cNvSpPr/>
          <p:nvPr/>
        </p:nvSpPr>
        <p:spPr>
          <a:xfrm>
            <a:off x="1038225" y="5024438"/>
            <a:ext cx="199481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dirty="0">
                <a:solidFill>
                  <a:srgbClr val="4B556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Single-origin coffee from Brazil</a:t>
            </a:r>
            <a:endParaRPr lang="en-US" sz="980" dirty="0"/>
          </a:p>
        </p:txBody>
      </p:sp>
      <p:sp>
        <p:nvSpPr>
          <p:cNvPr id="57" name="Text 12"/>
          <p:cNvSpPr/>
          <p:nvPr/>
        </p:nvSpPr>
        <p:spPr>
          <a:xfrm>
            <a:off x="990600" y="5681663"/>
            <a:ext cx="19461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92400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Sustainable Coffee</a:t>
            </a:r>
            <a:endParaRPr lang="en-US" sz="1120" dirty="0"/>
          </a:p>
        </p:txBody>
      </p:sp>
      <p:sp>
        <p:nvSpPr>
          <p:cNvPr id="58" name="Text 13"/>
          <p:cNvSpPr/>
          <p:nvPr/>
        </p:nvSpPr>
        <p:spPr>
          <a:xfrm>
            <a:off x="990600" y="5910263"/>
            <a:ext cx="19461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dirty="0">
                <a:solidFill>
                  <a:srgbClr val="4B556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Ethically sourced coffee blend</a:t>
            </a:r>
            <a:endParaRPr lang="en-US" sz="980" dirty="0"/>
          </a:p>
        </p:txBody>
      </p:sp>
      <p:sp>
        <p:nvSpPr>
          <p:cNvPr id="59" name="Text 14"/>
          <p:cNvSpPr/>
          <p:nvPr/>
        </p:nvSpPr>
        <p:spPr>
          <a:xfrm>
            <a:off x="7686675" y="1790700"/>
            <a:ext cx="45262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B4530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Key Insights</a:t>
            </a:r>
            <a:endParaRPr lang="en-US" sz="1380" dirty="0"/>
          </a:p>
        </p:txBody>
      </p:sp>
      <p:sp>
        <p:nvSpPr>
          <p:cNvPr id="60" name="Text 15"/>
          <p:cNvSpPr/>
          <p:nvPr/>
        </p:nvSpPr>
        <p:spPr>
          <a:xfrm>
            <a:off x="7810500" y="2209800"/>
            <a:ext cx="3771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20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Strong preference for traditional and gourmet coffee drinks</a:t>
            </a:r>
            <a:endParaRPr lang="en-US" sz="1120" dirty="0"/>
          </a:p>
        </p:txBody>
      </p:sp>
      <p:sp>
        <p:nvSpPr>
          <p:cNvPr id="61" name="Text 16"/>
          <p:cNvSpPr/>
          <p:nvPr/>
        </p:nvSpPr>
        <p:spPr>
          <a:xfrm>
            <a:off x="7829550" y="2819400"/>
            <a:ext cx="30790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20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"Coffee" remains the core business driver</a:t>
            </a:r>
            <a:endParaRPr lang="en-US" sz="1120" dirty="0"/>
          </a:p>
        </p:txBody>
      </p:sp>
      <p:sp>
        <p:nvSpPr>
          <p:cNvPr id="62" name="Text 17"/>
          <p:cNvSpPr/>
          <p:nvPr/>
        </p:nvSpPr>
        <p:spPr>
          <a:xfrm>
            <a:off x="7829550" y="3314700"/>
            <a:ext cx="3752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20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Pareto analysis shows 20% of products generate ~80% of revenue</a:t>
            </a:r>
            <a:endParaRPr lang="en-US" sz="1120" dirty="0"/>
          </a:p>
        </p:txBody>
      </p:sp>
      <p:sp>
        <p:nvSpPr>
          <p:cNvPr id="63" name="Text 18"/>
          <p:cNvSpPr/>
          <p:nvPr/>
        </p:nvSpPr>
        <p:spPr>
          <a:xfrm>
            <a:off x="7734300" y="4457700"/>
            <a:ext cx="45262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B4530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Implications</a:t>
            </a:r>
            <a:endParaRPr lang="en-US" sz="1380" dirty="0"/>
          </a:p>
        </p:txBody>
      </p:sp>
      <p:sp>
        <p:nvSpPr>
          <p:cNvPr id="64" name="Text 19"/>
          <p:cNvSpPr/>
          <p:nvPr/>
        </p:nvSpPr>
        <p:spPr>
          <a:xfrm>
            <a:off x="7810500" y="4876800"/>
            <a:ext cx="329844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20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Focus marketing on top-performing products</a:t>
            </a:r>
            <a:endParaRPr lang="en-US" sz="1120" dirty="0"/>
          </a:p>
        </p:txBody>
      </p:sp>
      <p:sp>
        <p:nvSpPr>
          <p:cNvPr id="65" name="Text 20"/>
          <p:cNvSpPr/>
          <p:nvPr/>
        </p:nvSpPr>
        <p:spPr>
          <a:xfrm>
            <a:off x="7810500" y="5372100"/>
            <a:ext cx="3771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20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Consider bundling coffee with bakery items for cross-selling</a:t>
            </a:r>
            <a:endParaRPr lang="en-US" sz="1120" dirty="0"/>
          </a:p>
        </p:txBody>
      </p:sp>
      <p:sp>
        <p:nvSpPr>
          <p:cNvPr id="66" name="Text 21"/>
          <p:cNvSpPr/>
          <p:nvPr/>
        </p:nvSpPr>
        <p:spPr>
          <a:xfrm>
            <a:off x="381000" y="6715125"/>
            <a:ext cx="21215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Coffee Data Analysis Project</a:t>
            </a:r>
            <a:endParaRPr lang="en-US" sz="11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09612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096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1485900"/>
            <a:ext cx="11582400" cy="2857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0" y="4572000"/>
            <a:ext cx="3708350" cy="183832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300" y="4762500"/>
            <a:ext cx="514350" cy="54292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4876800"/>
            <a:ext cx="285750" cy="304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41750" y="4572000"/>
            <a:ext cx="3708350" cy="183832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32250" y="4762500"/>
            <a:ext cx="457200" cy="542925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46550" y="4876800"/>
            <a:ext cx="228600" cy="304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78701" y="4572000"/>
            <a:ext cx="3708499" cy="1838325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69201" y="4762500"/>
            <a:ext cx="457200" cy="542925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83501" y="4876800"/>
            <a:ext cx="228600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6715125"/>
            <a:ext cx="12192000" cy="381000"/>
          </a:xfrm>
          <a:prstGeom prst="rect">
            <a:avLst/>
          </a:prstGeom>
        </p:spPr>
      </p:pic>
      <p:sp>
        <p:nvSpPr>
          <p:cNvPr id="15" name="Text 0"/>
          <p:cNvSpPr/>
          <p:nvPr/>
        </p:nvSpPr>
        <p:spPr>
          <a:xfrm>
            <a:off x="381000" y="152400"/>
            <a:ext cx="341451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400"/>
              </a:lnSpc>
              <a:buNone/>
            </a:pPr>
            <a:r>
              <a:rPr lang="en-US" sz="1646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Coffee Data Analysis Project</a:t>
            </a:r>
            <a:endParaRPr lang="en-US" sz="1646" dirty="0"/>
          </a:p>
        </p:txBody>
      </p:sp>
      <p:sp>
        <p:nvSpPr>
          <p:cNvPr id="16" name="Text 1"/>
          <p:cNvSpPr/>
          <p:nvPr/>
        </p:nvSpPr>
        <p:spPr>
          <a:xfrm>
            <a:off x="9654332" y="209550"/>
            <a:ext cx="237233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From Raw Data to Business Insights</a:t>
            </a:r>
            <a:endParaRPr lang="en-US" sz="980" dirty="0"/>
          </a:p>
        </p:txBody>
      </p:sp>
      <p:sp>
        <p:nvSpPr>
          <p:cNvPr id="17" name="Text 2"/>
          <p:cNvSpPr/>
          <p:nvPr/>
        </p:nvSpPr>
        <p:spPr>
          <a:xfrm>
            <a:off x="304800" y="914400"/>
            <a:ext cx="127406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700"/>
              </a:lnSpc>
              <a:buNone/>
            </a:pPr>
            <a:r>
              <a:rPr lang="en-US" sz="2040" b="1" dirty="0">
                <a:solidFill>
                  <a:srgbClr val="92400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Revenue by Category</a:t>
            </a:r>
            <a:endParaRPr lang="en-US" sz="2040" dirty="0"/>
          </a:p>
        </p:txBody>
      </p:sp>
      <p:sp>
        <p:nvSpPr>
          <p:cNvPr id="18" name="Text 3"/>
          <p:cNvSpPr/>
          <p:nvPr/>
        </p:nvSpPr>
        <p:spPr>
          <a:xfrm>
            <a:off x="1123950" y="4900613"/>
            <a:ext cx="6520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92400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Coffee</a:t>
            </a:r>
            <a:endParaRPr lang="en-US" sz="1380" dirty="0"/>
          </a:p>
        </p:txBody>
      </p:sp>
      <p:sp>
        <p:nvSpPr>
          <p:cNvPr id="19" name="Text 4"/>
          <p:cNvSpPr/>
          <p:nvPr/>
        </p:nvSpPr>
        <p:spPr>
          <a:xfrm>
            <a:off x="495300" y="5448300"/>
            <a:ext cx="115563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Primary Driver</a:t>
            </a:r>
            <a:endParaRPr lang="en-US" sz="1120" dirty="0"/>
          </a:p>
        </p:txBody>
      </p:sp>
      <p:sp>
        <p:nvSpPr>
          <p:cNvPr id="20" name="Text 5"/>
          <p:cNvSpPr/>
          <p:nvPr/>
        </p:nvSpPr>
        <p:spPr>
          <a:xfrm>
            <a:off x="495300" y="5762625"/>
            <a:ext cx="33273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core business, consistently generating the highest revenue across all locations.</a:t>
            </a:r>
            <a:endParaRPr lang="en-US" sz="1120" dirty="0"/>
          </a:p>
        </p:txBody>
      </p:sp>
      <p:sp>
        <p:nvSpPr>
          <p:cNvPr id="21" name="Text 6"/>
          <p:cNvSpPr/>
          <p:nvPr/>
        </p:nvSpPr>
        <p:spPr>
          <a:xfrm>
            <a:off x="5003750" y="4900613"/>
            <a:ext cx="19799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92400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Bakery &amp; Chocolate</a:t>
            </a:r>
            <a:endParaRPr lang="en-US" sz="1380" dirty="0"/>
          </a:p>
        </p:txBody>
      </p:sp>
      <p:sp>
        <p:nvSpPr>
          <p:cNvPr id="22" name="Text 7"/>
          <p:cNvSpPr/>
          <p:nvPr/>
        </p:nvSpPr>
        <p:spPr>
          <a:xfrm>
            <a:off x="4432250" y="5448300"/>
            <a:ext cx="141593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Strong Cross-Sell</a:t>
            </a:r>
            <a:endParaRPr lang="en-US" sz="1120" dirty="0"/>
          </a:p>
        </p:txBody>
      </p:sp>
      <p:sp>
        <p:nvSpPr>
          <p:cNvPr id="23" name="Text 8"/>
          <p:cNvSpPr/>
          <p:nvPr/>
        </p:nvSpPr>
        <p:spPr>
          <a:xfrm>
            <a:off x="4432250" y="5762625"/>
            <a:ext cx="33273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High-performing complementary categories that benefit from coffee purchases.</a:t>
            </a:r>
            <a:endParaRPr lang="en-US" sz="1120" dirty="0"/>
          </a:p>
        </p:txBody>
      </p:sp>
      <p:sp>
        <p:nvSpPr>
          <p:cNvPr id="24" name="Text 9"/>
          <p:cNvSpPr/>
          <p:nvPr/>
        </p:nvSpPr>
        <p:spPr>
          <a:xfrm>
            <a:off x="8940701" y="4900613"/>
            <a:ext cx="62897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92400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Beans</a:t>
            </a:r>
            <a:endParaRPr lang="en-US" sz="1380" dirty="0"/>
          </a:p>
        </p:txBody>
      </p:sp>
      <p:sp>
        <p:nvSpPr>
          <p:cNvPr id="25" name="Text 10"/>
          <p:cNvSpPr/>
          <p:nvPr/>
        </p:nvSpPr>
        <p:spPr>
          <a:xfrm>
            <a:off x="8369201" y="5448300"/>
            <a:ext cx="104349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Niche Market</a:t>
            </a:r>
            <a:endParaRPr lang="en-US" sz="1120" dirty="0"/>
          </a:p>
        </p:txBody>
      </p:sp>
      <p:sp>
        <p:nvSpPr>
          <p:cNvPr id="26" name="Text 11"/>
          <p:cNvSpPr/>
          <p:nvPr/>
        </p:nvSpPr>
        <p:spPr>
          <a:xfrm>
            <a:off x="8369201" y="5762625"/>
            <a:ext cx="33274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Serves specialty customers seeking premium coffee products.</a:t>
            </a:r>
            <a:endParaRPr lang="en-US" sz="1120" dirty="0"/>
          </a:p>
        </p:txBody>
      </p:sp>
      <p:sp>
        <p:nvSpPr>
          <p:cNvPr id="27" name="Text 12"/>
          <p:cNvSpPr/>
          <p:nvPr/>
        </p:nvSpPr>
        <p:spPr>
          <a:xfrm>
            <a:off x="381000" y="6791325"/>
            <a:ext cx="21215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Coffee Data Analysis Project</a:t>
            </a:r>
            <a:endParaRPr lang="en-US" sz="11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1628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096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1485900"/>
            <a:ext cx="5676900" cy="16764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300" y="1676400"/>
            <a:ext cx="381000" cy="381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263" y="1733550"/>
            <a:ext cx="219075" cy="2667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1485900"/>
            <a:ext cx="5676900" cy="1676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1676400"/>
            <a:ext cx="381000" cy="381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81763" y="1733550"/>
            <a:ext cx="219075" cy="266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3390900"/>
            <a:ext cx="5676900" cy="1676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5300" y="3581400"/>
            <a:ext cx="381000" cy="381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0550" y="3638550"/>
            <a:ext cx="190500" cy="2667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3390900"/>
            <a:ext cx="5676900" cy="1676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00800" y="3581400"/>
            <a:ext cx="381000" cy="3810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96050" y="3638550"/>
            <a:ext cx="190500" cy="2667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04800" y="5295900"/>
            <a:ext cx="11582400" cy="11811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7200" y="5505450"/>
            <a:ext cx="1143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0" y="6781800"/>
            <a:ext cx="12192000" cy="381000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381000" y="152400"/>
            <a:ext cx="341451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400"/>
              </a:lnSpc>
              <a:buNone/>
            </a:pPr>
            <a:r>
              <a:rPr lang="en-US" sz="1646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Coffee Data Analysis Project</a:t>
            </a:r>
            <a:endParaRPr lang="en-US" sz="1646" dirty="0"/>
          </a:p>
        </p:txBody>
      </p:sp>
      <p:sp>
        <p:nvSpPr>
          <p:cNvPr id="20" name="Text 1"/>
          <p:cNvSpPr/>
          <p:nvPr/>
        </p:nvSpPr>
        <p:spPr>
          <a:xfrm>
            <a:off x="9654332" y="209550"/>
            <a:ext cx="237233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From Raw Data to Business Insights</a:t>
            </a:r>
            <a:endParaRPr lang="en-US" sz="980" dirty="0"/>
          </a:p>
        </p:txBody>
      </p:sp>
      <p:sp>
        <p:nvSpPr>
          <p:cNvPr id="21" name="Text 2"/>
          <p:cNvSpPr/>
          <p:nvPr/>
        </p:nvSpPr>
        <p:spPr>
          <a:xfrm>
            <a:off x="304800" y="914400"/>
            <a:ext cx="127406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700"/>
              </a:lnSpc>
              <a:buNone/>
            </a:pPr>
            <a:r>
              <a:rPr lang="en-US" sz="2040" b="1" dirty="0">
                <a:solidFill>
                  <a:srgbClr val="92400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Product Performance Insights</a:t>
            </a:r>
            <a:endParaRPr lang="en-US" sz="2040" dirty="0"/>
          </a:p>
        </p:txBody>
      </p:sp>
      <p:sp>
        <p:nvSpPr>
          <p:cNvPr id="22" name="Text 3"/>
          <p:cNvSpPr/>
          <p:nvPr/>
        </p:nvSpPr>
        <p:spPr>
          <a:xfrm>
            <a:off x="990600" y="1733550"/>
            <a:ext cx="15449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1580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Top Performers</a:t>
            </a:r>
            <a:endParaRPr lang="en-US" sz="1380" dirty="0"/>
          </a:p>
        </p:txBody>
      </p:sp>
      <p:sp>
        <p:nvSpPr>
          <p:cNvPr id="23" name="Text 4"/>
          <p:cNvSpPr/>
          <p:nvPr/>
        </p:nvSpPr>
        <p:spPr>
          <a:xfrm>
            <a:off x="952500" y="2209800"/>
            <a:ext cx="53225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Barista Espresso:</a:t>
            </a:r>
            <a:endParaRPr lang="en-US" sz="1120" dirty="0"/>
          </a:p>
        </p:txBody>
      </p:sp>
      <p:sp>
        <p:nvSpPr>
          <p:cNvPr id="24" name="Text 5"/>
          <p:cNvSpPr/>
          <p:nvPr/>
        </p:nvSpPr>
        <p:spPr>
          <a:xfrm>
            <a:off x="952500" y="2514600"/>
            <a:ext cx="53225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20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Top-selling product with strong revenue</a:t>
            </a:r>
            <a:endParaRPr lang="en-US" sz="1120" dirty="0"/>
          </a:p>
        </p:txBody>
      </p:sp>
      <p:sp>
        <p:nvSpPr>
          <p:cNvPr id="25" name="Text 6"/>
          <p:cNvSpPr/>
          <p:nvPr/>
        </p:nvSpPr>
        <p:spPr>
          <a:xfrm>
            <a:off x="952500" y="2743200"/>
            <a:ext cx="53225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20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High customer preference item</a:t>
            </a:r>
            <a:endParaRPr lang="en-US" sz="1120" dirty="0"/>
          </a:p>
        </p:txBody>
      </p:sp>
      <p:sp>
        <p:nvSpPr>
          <p:cNvPr id="26" name="Text 7"/>
          <p:cNvSpPr/>
          <p:nvPr/>
        </p:nvSpPr>
        <p:spPr>
          <a:xfrm>
            <a:off x="6896100" y="1733550"/>
            <a:ext cx="15020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B4530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Entry Products</a:t>
            </a:r>
            <a:endParaRPr lang="en-US" sz="1380" dirty="0"/>
          </a:p>
        </p:txBody>
      </p:sp>
      <p:sp>
        <p:nvSpPr>
          <p:cNvPr id="27" name="Text 8"/>
          <p:cNvSpPr/>
          <p:nvPr/>
        </p:nvSpPr>
        <p:spPr>
          <a:xfrm>
            <a:off x="6858000" y="2209800"/>
            <a:ext cx="53225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Brewed Teas:</a:t>
            </a:r>
            <a:endParaRPr lang="en-US" sz="1120" dirty="0"/>
          </a:p>
        </p:txBody>
      </p:sp>
      <p:sp>
        <p:nvSpPr>
          <p:cNvPr id="28" name="Text 9"/>
          <p:cNvSpPr/>
          <p:nvPr/>
        </p:nvSpPr>
        <p:spPr>
          <a:xfrm>
            <a:off x="6858000" y="2514600"/>
            <a:ext cx="53225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20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High sales volume but low margins</a:t>
            </a:r>
            <a:endParaRPr lang="en-US" sz="1120" dirty="0"/>
          </a:p>
        </p:txBody>
      </p:sp>
      <p:sp>
        <p:nvSpPr>
          <p:cNvPr id="29" name="Text 10"/>
          <p:cNvSpPr/>
          <p:nvPr/>
        </p:nvSpPr>
        <p:spPr>
          <a:xfrm>
            <a:off x="6858000" y="2743200"/>
            <a:ext cx="53225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20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Positioned as entry products to attract customers</a:t>
            </a:r>
            <a:endParaRPr lang="en-US" sz="1120" dirty="0"/>
          </a:p>
        </p:txBody>
      </p:sp>
      <p:sp>
        <p:nvSpPr>
          <p:cNvPr id="30" name="Text 11"/>
          <p:cNvSpPr/>
          <p:nvPr/>
        </p:nvSpPr>
        <p:spPr>
          <a:xfrm>
            <a:off x="990600" y="3638550"/>
            <a:ext cx="211874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1D4ED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Margin Opportunities</a:t>
            </a:r>
            <a:endParaRPr lang="en-US" sz="1380" dirty="0"/>
          </a:p>
        </p:txBody>
      </p:sp>
      <p:sp>
        <p:nvSpPr>
          <p:cNvPr id="31" name="Text 12"/>
          <p:cNvSpPr/>
          <p:nvPr/>
        </p:nvSpPr>
        <p:spPr>
          <a:xfrm>
            <a:off x="952500" y="4114800"/>
            <a:ext cx="53225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Biscotti:</a:t>
            </a:r>
            <a:endParaRPr lang="en-US" sz="1120" dirty="0"/>
          </a:p>
        </p:txBody>
      </p:sp>
      <p:sp>
        <p:nvSpPr>
          <p:cNvPr id="32" name="Text 13"/>
          <p:cNvSpPr/>
          <p:nvPr/>
        </p:nvSpPr>
        <p:spPr>
          <a:xfrm>
            <a:off x="952500" y="4419600"/>
            <a:ext cx="53225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20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Low sales but excellent margins</a:t>
            </a:r>
            <a:endParaRPr lang="en-US" sz="1120" dirty="0"/>
          </a:p>
        </p:txBody>
      </p:sp>
      <p:sp>
        <p:nvSpPr>
          <p:cNvPr id="33" name="Text 14"/>
          <p:cNvSpPr/>
          <p:nvPr/>
        </p:nvSpPr>
        <p:spPr>
          <a:xfrm>
            <a:off x="952500" y="4648200"/>
            <a:ext cx="53225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20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Promotion potential through combos</a:t>
            </a:r>
            <a:endParaRPr lang="en-US" sz="1120" dirty="0"/>
          </a:p>
        </p:txBody>
      </p:sp>
      <p:sp>
        <p:nvSpPr>
          <p:cNvPr id="34" name="Text 15"/>
          <p:cNvSpPr/>
          <p:nvPr/>
        </p:nvSpPr>
        <p:spPr>
          <a:xfrm>
            <a:off x="6896100" y="3638550"/>
            <a:ext cx="20840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B91C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Repositioning Needs</a:t>
            </a:r>
            <a:endParaRPr lang="en-US" sz="1380" dirty="0"/>
          </a:p>
        </p:txBody>
      </p:sp>
      <p:sp>
        <p:nvSpPr>
          <p:cNvPr id="35" name="Text 16"/>
          <p:cNvSpPr/>
          <p:nvPr/>
        </p:nvSpPr>
        <p:spPr>
          <a:xfrm>
            <a:off x="6858000" y="4114800"/>
            <a:ext cx="53225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Black/Chai Tea &amp; Clothing:</a:t>
            </a:r>
            <a:endParaRPr lang="en-US" sz="1120" dirty="0"/>
          </a:p>
        </p:txBody>
      </p:sp>
      <p:sp>
        <p:nvSpPr>
          <p:cNvPr id="36" name="Text 17"/>
          <p:cNvSpPr/>
          <p:nvPr/>
        </p:nvSpPr>
        <p:spPr>
          <a:xfrm>
            <a:off x="6858000" y="4419600"/>
            <a:ext cx="53225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20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Black/Chai Tea: Very low sales but premium price</a:t>
            </a:r>
            <a:endParaRPr lang="en-US" sz="1120" dirty="0"/>
          </a:p>
        </p:txBody>
      </p:sp>
      <p:sp>
        <p:nvSpPr>
          <p:cNvPr id="37" name="Text 18"/>
          <p:cNvSpPr/>
          <p:nvPr/>
        </p:nvSpPr>
        <p:spPr>
          <a:xfrm>
            <a:off x="6858000" y="4648200"/>
            <a:ext cx="53225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20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Clothing: Branded items with low sales need repositioning</a:t>
            </a:r>
            <a:endParaRPr lang="en-US" sz="1120" dirty="0"/>
          </a:p>
        </p:txBody>
      </p:sp>
      <p:sp>
        <p:nvSpPr>
          <p:cNvPr id="38" name="Text 19"/>
          <p:cNvSpPr/>
          <p:nvPr/>
        </p:nvSpPr>
        <p:spPr>
          <a:xfrm>
            <a:off x="647700" y="5448300"/>
            <a:ext cx="195994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260" b="1" dirty="0">
                <a:solidFill>
                  <a:srgbClr val="92400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Strategic Implications</a:t>
            </a:r>
            <a:endParaRPr lang="en-US" sz="1260" dirty="0"/>
          </a:p>
        </p:txBody>
      </p:sp>
      <p:sp>
        <p:nvSpPr>
          <p:cNvPr id="39" name="Text 20"/>
          <p:cNvSpPr/>
          <p:nvPr/>
        </p:nvSpPr>
        <p:spPr>
          <a:xfrm>
            <a:off x="571500" y="5791200"/>
            <a:ext cx="6202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20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Promote Biscotti through combo offers</a:t>
            </a:r>
            <a:endParaRPr lang="en-US" sz="1120" dirty="0"/>
          </a:p>
        </p:txBody>
      </p:sp>
      <p:sp>
        <p:nvSpPr>
          <p:cNvPr id="40" name="Text 21"/>
          <p:cNvSpPr/>
          <p:nvPr/>
        </p:nvSpPr>
        <p:spPr>
          <a:xfrm>
            <a:off x="6096000" y="5791200"/>
            <a:ext cx="6202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20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Develop new "Drinking Chocolate" offerings</a:t>
            </a:r>
            <a:endParaRPr lang="en-US" sz="1120" dirty="0"/>
          </a:p>
        </p:txBody>
      </p:sp>
      <p:sp>
        <p:nvSpPr>
          <p:cNvPr id="41" name="Text 22"/>
          <p:cNvSpPr/>
          <p:nvPr/>
        </p:nvSpPr>
        <p:spPr>
          <a:xfrm>
            <a:off x="571500" y="6096000"/>
            <a:ext cx="6202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20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Consider premium positioning for Barista Espresso</a:t>
            </a:r>
            <a:endParaRPr lang="en-US" sz="1120" dirty="0"/>
          </a:p>
        </p:txBody>
      </p:sp>
      <p:sp>
        <p:nvSpPr>
          <p:cNvPr id="42" name="Text 23"/>
          <p:cNvSpPr/>
          <p:nvPr/>
        </p:nvSpPr>
        <p:spPr>
          <a:xfrm>
            <a:off x="6096000" y="6096000"/>
            <a:ext cx="6202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20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Reassess Clothing product strategy</a:t>
            </a:r>
            <a:endParaRPr lang="en-US" sz="1120" dirty="0"/>
          </a:p>
        </p:txBody>
      </p:sp>
      <p:sp>
        <p:nvSpPr>
          <p:cNvPr id="43" name="Text 24"/>
          <p:cNvSpPr/>
          <p:nvPr/>
        </p:nvSpPr>
        <p:spPr>
          <a:xfrm>
            <a:off x="381000" y="6858000"/>
            <a:ext cx="21215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Coffee Data Analysis Project</a:t>
            </a:r>
            <a:endParaRPr lang="en-US" sz="11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90575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096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942975"/>
            <a:ext cx="285750" cy="2857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0" y="1485900"/>
            <a:ext cx="11582400" cy="2895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1714500"/>
            <a:ext cx="11125200" cy="2438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4800" y="4610100"/>
            <a:ext cx="5676900" cy="1295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4800600"/>
            <a:ext cx="17145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0300" y="4610100"/>
            <a:ext cx="5676900" cy="1295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62700" y="4800600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4800" y="6134100"/>
            <a:ext cx="11582400" cy="1066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" y="6324600"/>
            <a:ext cx="114300" cy="152400"/>
          </a:xfrm>
          <a:prstGeom prst="rect">
            <a:avLst/>
          </a:prstGeom>
        </p:spPr>
      </p:pic>
      <p:sp>
        <p:nvSpPr>
          <p:cNvPr id="13" name="Text 0"/>
          <p:cNvSpPr/>
          <p:nvPr/>
        </p:nvSpPr>
        <p:spPr>
          <a:xfrm>
            <a:off x="381000" y="152400"/>
            <a:ext cx="341451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400"/>
              </a:lnSpc>
              <a:buNone/>
            </a:pPr>
            <a:r>
              <a:rPr lang="en-US" sz="1646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Coffee Data Analysis Project</a:t>
            </a:r>
            <a:endParaRPr lang="en-US" sz="1646" dirty="0"/>
          </a:p>
        </p:txBody>
      </p:sp>
      <p:sp>
        <p:nvSpPr>
          <p:cNvPr id="14" name="Text 1"/>
          <p:cNvSpPr/>
          <p:nvPr/>
        </p:nvSpPr>
        <p:spPr>
          <a:xfrm>
            <a:off x="9654332" y="209550"/>
            <a:ext cx="237233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From Raw Data to Business Insights</a:t>
            </a:r>
            <a:endParaRPr lang="en-US" sz="980" dirty="0"/>
          </a:p>
        </p:txBody>
      </p:sp>
      <p:sp>
        <p:nvSpPr>
          <p:cNvPr id="15" name="Text 2"/>
          <p:cNvSpPr/>
          <p:nvPr/>
        </p:nvSpPr>
        <p:spPr>
          <a:xfrm>
            <a:off x="704850" y="914400"/>
            <a:ext cx="127406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700"/>
              </a:lnSpc>
              <a:buNone/>
            </a:pPr>
            <a:r>
              <a:rPr lang="en-US" sz="2040" b="1" dirty="0">
                <a:solidFill>
                  <a:srgbClr val="92400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Revenue by Hour</a:t>
            </a:r>
            <a:endParaRPr lang="en-US" sz="2040" dirty="0"/>
          </a:p>
        </p:txBody>
      </p:sp>
      <p:sp>
        <p:nvSpPr>
          <p:cNvPr id="16" name="Text 3"/>
          <p:cNvSpPr/>
          <p:nvPr/>
        </p:nvSpPr>
        <p:spPr>
          <a:xfrm>
            <a:off x="704850" y="4762500"/>
            <a:ext cx="5909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92400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Key Revenue Peaks</a:t>
            </a:r>
            <a:endParaRPr lang="en-US" sz="1120" dirty="0"/>
          </a:p>
        </p:txBody>
      </p:sp>
      <p:sp>
        <p:nvSpPr>
          <p:cNvPr id="17" name="Text 4"/>
          <p:cNvSpPr/>
          <p:nvPr/>
        </p:nvSpPr>
        <p:spPr>
          <a:xfrm>
            <a:off x="495300" y="5067300"/>
            <a:ext cx="586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20" b="1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11:18:</a:t>
            </a:r>
            <a:r>
              <a:rPr lang="en-US" sz="1120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€1,500</a:t>
            </a:r>
            <a:endParaRPr lang="en-US" sz="1120" dirty="0"/>
          </a:p>
        </p:txBody>
      </p:sp>
      <p:sp>
        <p:nvSpPr>
          <p:cNvPr id="18" name="Text 5"/>
          <p:cNvSpPr/>
          <p:nvPr/>
        </p:nvSpPr>
        <p:spPr>
          <a:xfrm>
            <a:off x="495300" y="5295900"/>
            <a:ext cx="586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20" b="1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09:55:</a:t>
            </a:r>
            <a:r>
              <a:rPr lang="en-US" sz="1120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€1,200</a:t>
            </a:r>
            <a:endParaRPr lang="en-US" sz="1120" dirty="0"/>
          </a:p>
        </p:txBody>
      </p:sp>
      <p:sp>
        <p:nvSpPr>
          <p:cNvPr id="19" name="Text 6"/>
          <p:cNvSpPr/>
          <p:nvPr/>
        </p:nvSpPr>
        <p:spPr>
          <a:xfrm>
            <a:off x="495300" y="5524500"/>
            <a:ext cx="586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20" b="1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09:05:</a:t>
            </a:r>
            <a:r>
              <a:rPr lang="en-US" sz="1120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€800</a:t>
            </a:r>
            <a:endParaRPr lang="en-US" sz="1120" dirty="0"/>
          </a:p>
        </p:txBody>
      </p:sp>
      <p:sp>
        <p:nvSpPr>
          <p:cNvPr id="20" name="Text 7"/>
          <p:cNvSpPr/>
          <p:nvPr/>
        </p:nvSpPr>
        <p:spPr>
          <a:xfrm>
            <a:off x="6591300" y="4762500"/>
            <a:ext cx="5909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92400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Sales Patterns</a:t>
            </a:r>
            <a:endParaRPr lang="en-US" sz="1120" dirty="0"/>
          </a:p>
        </p:txBody>
      </p:sp>
      <p:sp>
        <p:nvSpPr>
          <p:cNvPr id="21" name="Text 8"/>
          <p:cNvSpPr/>
          <p:nvPr/>
        </p:nvSpPr>
        <p:spPr>
          <a:xfrm>
            <a:off x="6400800" y="5067300"/>
            <a:ext cx="586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20" b="1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Morning (09:00-11:30):</a:t>
            </a:r>
            <a:r>
              <a:rPr lang="en-US" sz="1120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"Golden hours" with strong revenue</a:t>
            </a:r>
            <a:endParaRPr lang="en-US" sz="1120" dirty="0"/>
          </a:p>
        </p:txBody>
      </p:sp>
      <p:sp>
        <p:nvSpPr>
          <p:cNvPr id="22" name="Text 9"/>
          <p:cNvSpPr/>
          <p:nvPr/>
        </p:nvSpPr>
        <p:spPr>
          <a:xfrm>
            <a:off x="6400800" y="5295900"/>
            <a:ext cx="586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20" b="1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Afternoon:</a:t>
            </a:r>
            <a:r>
              <a:rPr lang="en-US" sz="1120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Very low sales</a:t>
            </a:r>
            <a:endParaRPr lang="en-US" sz="1120" dirty="0"/>
          </a:p>
        </p:txBody>
      </p:sp>
      <p:sp>
        <p:nvSpPr>
          <p:cNvPr id="23" name="Text 10"/>
          <p:cNvSpPr/>
          <p:nvPr/>
        </p:nvSpPr>
        <p:spPr>
          <a:xfrm>
            <a:off x="6400800" y="5524500"/>
            <a:ext cx="586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20" b="1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Evening:</a:t>
            </a:r>
            <a:r>
              <a:rPr lang="en-US" sz="1120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Moderate to low sales</a:t>
            </a:r>
            <a:endParaRPr lang="en-US" sz="1120" dirty="0"/>
          </a:p>
        </p:txBody>
      </p:sp>
      <p:sp>
        <p:nvSpPr>
          <p:cNvPr id="24" name="Text 11"/>
          <p:cNvSpPr/>
          <p:nvPr/>
        </p:nvSpPr>
        <p:spPr>
          <a:xfrm>
            <a:off x="647700" y="6286500"/>
            <a:ext cx="1240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92400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Business Implications</a:t>
            </a:r>
            <a:endParaRPr lang="en-US" sz="1120" dirty="0"/>
          </a:p>
        </p:txBody>
      </p:sp>
      <p:sp>
        <p:nvSpPr>
          <p:cNvPr id="25" name="Text 12"/>
          <p:cNvSpPr/>
          <p:nvPr/>
        </p:nvSpPr>
        <p:spPr>
          <a:xfrm>
            <a:off x="457200" y="6591300"/>
            <a:ext cx="1127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morning peak suggests a strong coffee culture in the local area. The late morning/early afternoon drop indicates a need for new product offerings or promotions to maintain customer interest.</a:t>
            </a:r>
            <a:endParaRPr lang="en-US" sz="1120" dirty="0"/>
          </a:p>
        </p:txBody>
      </p:sp>
      <p:sp>
        <p:nvSpPr>
          <p:cNvPr id="26" name="Text 13"/>
          <p:cNvSpPr/>
          <p:nvPr/>
        </p:nvSpPr>
        <p:spPr>
          <a:xfrm>
            <a:off x="381000" y="7600950"/>
            <a:ext cx="21215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Coffee Data Analysis Project</a:t>
            </a:r>
            <a:endParaRPr lang="en-US" sz="11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096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562100"/>
            <a:ext cx="5715000" cy="3657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2209800"/>
            <a:ext cx="5257800" cy="24384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0" y="1562100"/>
            <a:ext cx="5410200" cy="27813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9400" y="2247900"/>
            <a:ext cx="1905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29400" y="2857500"/>
            <a:ext cx="17145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29400" y="3467100"/>
            <a:ext cx="17145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65900" y="4572000"/>
            <a:ext cx="571500" cy="5715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65925" y="4743450"/>
            <a:ext cx="171450" cy="2286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820001" y="4572000"/>
            <a:ext cx="571500" cy="5715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20026" y="4743450"/>
            <a:ext cx="171450" cy="2286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674251" y="4572000"/>
            <a:ext cx="571500" cy="5715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874276" y="4743450"/>
            <a:ext cx="171450" cy="2286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6477000"/>
            <a:ext cx="12192000" cy="381000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381000" y="152400"/>
            <a:ext cx="341451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400"/>
              </a:lnSpc>
              <a:buNone/>
            </a:pPr>
            <a:r>
              <a:rPr lang="en-US" sz="1646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Coffee Data Analysis Project</a:t>
            </a:r>
            <a:endParaRPr lang="en-US" sz="1646" dirty="0"/>
          </a:p>
        </p:txBody>
      </p:sp>
      <p:sp>
        <p:nvSpPr>
          <p:cNvPr id="18" name="Text 1"/>
          <p:cNvSpPr/>
          <p:nvPr/>
        </p:nvSpPr>
        <p:spPr>
          <a:xfrm>
            <a:off x="9654332" y="209550"/>
            <a:ext cx="237233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From Raw Data to Business Insights</a:t>
            </a:r>
            <a:endParaRPr lang="en-US" sz="980" dirty="0"/>
          </a:p>
        </p:txBody>
      </p:sp>
      <p:sp>
        <p:nvSpPr>
          <p:cNvPr id="19" name="Text 2"/>
          <p:cNvSpPr/>
          <p:nvPr/>
        </p:nvSpPr>
        <p:spPr>
          <a:xfrm>
            <a:off x="381000" y="990600"/>
            <a:ext cx="12573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700"/>
              </a:lnSpc>
              <a:buNone/>
            </a:pPr>
            <a:r>
              <a:rPr lang="en-US" sz="2040" b="1" dirty="0">
                <a:solidFill>
                  <a:srgbClr val="92400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Revenue by Location</a:t>
            </a:r>
            <a:endParaRPr lang="en-US" sz="2040" dirty="0"/>
          </a:p>
        </p:txBody>
      </p:sp>
      <p:sp>
        <p:nvSpPr>
          <p:cNvPr id="20" name="Text 3"/>
          <p:cNvSpPr/>
          <p:nvPr/>
        </p:nvSpPr>
        <p:spPr>
          <a:xfrm>
            <a:off x="346710" y="1790700"/>
            <a:ext cx="57835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Store Performance Comparison</a:t>
            </a:r>
            <a:endParaRPr lang="en-US" sz="1380" dirty="0"/>
          </a:p>
        </p:txBody>
      </p:sp>
      <p:sp>
        <p:nvSpPr>
          <p:cNvPr id="21" name="Text 4"/>
          <p:cNvSpPr/>
          <p:nvPr/>
        </p:nvSpPr>
        <p:spPr>
          <a:xfrm>
            <a:off x="6629400" y="1790700"/>
            <a:ext cx="5448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92400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Key Insights</a:t>
            </a:r>
            <a:endParaRPr lang="en-US" sz="1380" dirty="0"/>
          </a:p>
        </p:txBody>
      </p:sp>
      <p:sp>
        <p:nvSpPr>
          <p:cNvPr id="22" name="Text 5"/>
          <p:cNvSpPr/>
          <p:nvPr/>
        </p:nvSpPr>
        <p:spPr>
          <a:xfrm>
            <a:off x="6934200" y="2209800"/>
            <a:ext cx="4648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20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All three store locations show a</a:t>
            </a:r>
            <a:r>
              <a:rPr lang="en-US" sz="1120" b="1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balanced revenue distribution</a:t>
            </a:r>
            <a:r>
              <a:rPr lang="en-US" sz="1120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, indicating consistent business performance across the board.</a:t>
            </a:r>
            <a:endParaRPr lang="en-US" sz="1120" dirty="0"/>
          </a:p>
        </p:txBody>
      </p:sp>
      <p:sp>
        <p:nvSpPr>
          <p:cNvPr id="23" name="Text 6"/>
          <p:cNvSpPr/>
          <p:nvPr/>
        </p:nvSpPr>
        <p:spPr>
          <a:xfrm>
            <a:off x="6915150" y="2819400"/>
            <a:ext cx="4667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Hell's Kitchen</a:t>
            </a:r>
            <a:r>
              <a:rPr lang="en-US" sz="1120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location slightly leads in overall revenue, suggesting it could serve as a benchmark for operational best practices.</a:t>
            </a:r>
            <a:endParaRPr lang="en-US" sz="1120" dirty="0"/>
          </a:p>
        </p:txBody>
      </p:sp>
      <p:sp>
        <p:nvSpPr>
          <p:cNvPr id="24" name="Text 7"/>
          <p:cNvSpPr/>
          <p:nvPr/>
        </p:nvSpPr>
        <p:spPr>
          <a:xfrm>
            <a:off x="6915150" y="3429000"/>
            <a:ext cx="46672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20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</a:t>
            </a:r>
            <a:r>
              <a:rPr lang="en-US" sz="1120" b="1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consistent performance</a:t>
            </a:r>
            <a:r>
              <a:rPr lang="en-US" sz="1120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across stores indicates an effective standardized business strategy that can be replicated across all locations.</a:t>
            </a:r>
            <a:endParaRPr lang="en-US" sz="1120" dirty="0"/>
          </a:p>
        </p:txBody>
      </p:sp>
      <p:sp>
        <p:nvSpPr>
          <p:cNvPr id="25" name="Text 8"/>
          <p:cNvSpPr/>
          <p:nvPr/>
        </p:nvSpPr>
        <p:spPr>
          <a:xfrm>
            <a:off x="6700607" y="5219700"/>
            <a:ext cx="11019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1F29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Hell's Kitchen</a:t>
            </a:r>
            <a:endParaRPr lang="en-US" sz="1120" dirty="0"/>
          </a:p>
        </p:txBody>
      </p:sp>
      <p:sp>
        <p:nvSpPr>
          <p:cNvPr id="26" name="Text 9"/>
          <p:cNvSpPr/>
          <p:nvPr/>
        </p:nvSpPr>
        <p:spPr>
          <a:xfrm>
            <a:off x="6700607" y="5448300"/>
            <a:ext cx="1101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980" dirty="0">
                <a:solidFill>
                  <a:srgbClr val="4B556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Slight Leader</a:t>
            </a:r>
            <a:endParaRPr lang="en-US" sz="980" dirty="0"/>
          </a:p>
        </p:txBody>
      </p:sp>
      <p:sp>
        <p:nvSpPr>
          <p:cNvPr id="27" name="Text 10"/>
          <p:cNvSpPr/>
          <p:nvPr/>
        </p:nvSpPr>
        <p:spPr>
          <a:xfrm>
            <a:off x="8359713" y="5219700"/>
            <a:ext cx="1492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1F29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Location 2</a:t>
            </a:r>
            <a:endParaRPr lang="en-US" sz="1120" dirty="0"/>
          </a:p>
        </p:txBody>
      </p:sp>
      <p:sp>
        <p:nvSpPr>
          <p:cNvPr id="28" name="Text 11"/>
          <p:cNvSpPr/>
          <p:nvPr/>
        </p:nvSpPr>
        <p:spPr>
          <a:xfrm>
            <a:off x="8359713" y="5448300"/>
            <a:ext cx="1492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980" dirty="0">
                <a:solidFill>
                  <a:srgbClr val="4B556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Balanced Performance</a:t>
            </a:r>
            <a:endParaRPr lang="en-US" sz="980" dirty="0"/>
          </a:p>
        </p:txBody>
      </p:sp>
      <p:sp>
        <p:nvSpPr>
          <p:cNvPr id="29" name="Text 12"/>
          <p:cNvSpPr/>
          <p:nvPr/>
        </p:nvSpPr>
        <p:spPr>
          <a:xfrm>
            <a:off x="10205948" y="5219700"/>
            <a:ext cx="15081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1F29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Location 3</a:t>
            </a:r>
            <a:endParaRPr lang="en-US" sz="1120" dirty="0"/>
          </a:p>
        </p:txBody>
      </p:sp>
      <p:sp>
        <p:nvSpPr>
          <p:cNvPr id="30" name="Text 13"/>
          <p:cNvSpPr/>
          <p:nvPr/>
        </p:nvSpPr>
        <p:spPr>
          <a:xfrm>
            <a:off x="10205948" y="5448300"/>
            <a:ext cx="150810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980" dirty="0">
                <a:solidFill>
                  <a:srgbClr val="4B556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Consistent With Others</a:t>
            </a:r>
            <a:endParaRPr lang="en-US" sz="980" dirty="0"/>
          </a:p>
        </p:txBody>
      </p:sp>
      <p:sp>
        <p:nvSpPr>
          <p:cNvPr id="31" name="Text 14"/>
          <p:cNvSpPr/>
          <p:nvPr/>
        </p:nvSpPr>
        <p:spPr>
          <a:xfrm>
            <a:off x="381000" y="6553200"/>
            <a:ext cx="21215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Coffee Data Analysis Project</a:t>
            </a:r>
            <a:endParaRPr lang="en-US" sz="11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9248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096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1485900"/>
            <a:ext cx="6888361" cy="55435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638300"/>
            <a:ext cx="6200775" cy="50673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45561" y="1485900"/>
            <a:ext cx="4541490" cy="309562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36061" y="1676400"/>
            <a:ext cx="342900" cy="42862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12261" y="1752600"/>
            <a:ext cx="190500" cy="2667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45561" y="4733925"/>
            <a:ext cx="4541490" cy="2295525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36061" y="4924425"/>
            <a:ext cx="295275" cy="428625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12261" y="5000625"/>
            <a:ext cx="142875" cy="266700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381000" y="152400"/>
            <a:ext cx="341451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400"/>
              </a:lnSpc>
              <a:buNone/>
            </a:pPr>
            <a:r>
              <a:rPr lang="en-US" sz="1646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Coffee Data Analysis Project</a:t>
            </a:r>
            <a:endParaRPr lang="en-US" sz="1646" dirty="0"/>
          </a:p>
        </p:txBody>
      </p:sp>
      <p:sp>
        <p:nvSpPr>
          <p:cNvPr id="13" name="Text 1"/>
          <p:cNvSpPr/>
          <p:nvPr/>
        </p:nvSpPr>
        <p:spPr>
          <a:xfrm>
            <a:off x="9654332" y="209550"/>
            <a:ext cx="237233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From Raw Data to Business Insights</a:t>
            </a:r>
            <a:endParaRPr lang="en-US" sz="980" dirty="0"/>
          </a:p>
        </p:txBody>
      </p:sp>
      <p:sp>
        <p:nvSpPr>
          <p:cNvPr id="14" name="Text 2"/>
          <p:cNvSpPr/>
          <p:nvPr/>
        </p:nvSpPr>
        <p:spPr>
          <a:xfrm>
            <a:off x="304800" y="914400"/>
            <a:ext cx="127406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700"/>
              </a:lnSpc>
              <a:buNone/>
            </a:pPr>
            <a:r>
              <a:rPr lang="en-US" sz="2040" b="1" dirty="0">
                <a:solidFill>
                  <a:srgbClr val="92400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Monthly Sales Trends</a:t>
            </a:r>
            <a:endParaRPr lang="en-US" sz="2040" dirty="0"/>
          </a:p>
        </p:txBody>
      </p:sp>
      <p:sp>
        <p:nvSpPr>
          <p:cNvPr id="15" name="Text 3"/>
          <p:cNvSpPr/>
          <p:nvPr/>
        </p:nvSpPr>
        <p:spPr>
          <a:xfrm>
            <a:off x="7993261" y="1757363"/>
            <a:ext cx="112976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92400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Key Trends</a:t>
            </a:r>
            <a:endParaRPr lang="en-US" sz="1380" dirty="0"/>
          </a:p>
        </p:txBody>
      </p:sp>
      <p:sp>
        <p:nvSpPr>
          <p:cNvPr id="16" name="Text 4"/>
          <p:cNvSpPr/>
          <p:nvPr/>
        </p:nvSpPr>
        <p:spPr>
          <a:xfrm>
            <a:off x="7650361" y="2219325"/>
            <a:ext cx="40461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20" b="1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Growth Period:</a:t>
            </a:r>
            <a:r>
              <a:rPr lang="en-US" sz="1120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Continuous growth observed from February through June</a:t>
            </a:r>
            <a:endParaRPr lang="en-US" sz="1120" dirty="0"/>
          </a:p>
        </p:txBody>
      </p:sp>
      <p:sp>
        <p:nvSpPr>
          <p:cNvPr id="17" name="Text 5"/>
          <p:cNvSpPr/>
          <p:nvPr/>
        </p:nvSpPr>
        <p:spPr>
          <a:xfrm>
            <a:off x="7650361" y="2790825"/>
            <a:ext cx="40461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20" b="1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Peak Performance:</a:t>
            </a:r>
            <a:r>
              <a:rPr lang="en-US" sz="1120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June recorded the highest sales month</a:t>
            </a:r>
            <a:endParaRPr lang="en-US" sz="1120" dirty="0"/>
          </a:p>
        </p:txBody>
      </p:sp>
      <p:sp>
        <p:nvSpPr>
          <p:cNvPr id="18" name="Text 6"/>
          <p:cNvSpPr/>
          <p:nvPr/>
        </p:nvSpPr>
        <p:spPr>
          <a:xfrm>
            <a:off x="7650361" y="3362325"/>
            <a:ext cx="40461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20" b="1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Low Season:</a:t>
            </a:r>
            <a:r>
              <a:rPr lang="en-US" sz="1120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January and February showed the lowest sales</a:t>
            </a:r>
            <a:endParaRPr lang="en-US" sz="1120" dirty="0"/>
          </a:p>
        </p:txBody>
      </p:sp>
      <p:sp>
        <p:nvSpPr>
          <p:cNvPr id="19" name="Text 7"/>
          <p:cNvSpPr/>
          <p:nvPr/>
        </p:nvSpPr>
        <p:spPr>
          <a:xfrm>
            <a:off x="7650361" y="3933825"/>
            <a:ext cx="40461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20" b="1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Seasonality:</a:t>
            </a:r>
            <a:r>
              <a:rPr lang="en-US" sz="1120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Clear seasonal effect with sales typically lowest in winter months</a:t>
            </a:r>
            <a:endParaRPr lang="en-US" sz="1120" dirty="0"/>
          </a:p>
        </p:txBody>
      </p:sp>
      <p:sp>
        <p:nvSpPr>
          <p:cNvPr id="20" name="Text 8"/>
          <p:cNvSpPr/>
          <p:nvPr/>
        </p:nvSpPr>
        <p:spPr>
          <a:xfrm>
            <a:off x="7945636" y="5005388"/>
            <a:ext cx="217768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92400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Strategic Implications</a:t>
            </a:r>
            <a:endParaRPr lang="en-US" sz="1380" dirty="0"/>
          </a:p>
        </p:txBody>
      </p:sp>
      <p:sp>
        <p:nvSpPr>
          <p:cNvPr id="21" name="Text 9"/>
          <p:cNvSpPr/>
          <p:nvPr/>
        </p:nvSpPr>
        <p:spPr>
          <a:xfrm>
            <a:off x="7650361" y="5467350"/>
            <a:ext cx="40461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20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Consider targeted marketing for winter months to boost sales</a:t>
            </a:r>
            <a:endParaRPr lang="en-US" sz="1120" dirty="0"/>
          </a:p>
        </p:txBody>
      </p:sp>
      <p:sp>
        <p:nvSpPr>
          <p:cNvPr id="22" name="Text 10"/>
          <p:cNvSpPr/>
          <p:nvPr/>
        </p:nvSpPr>
        <p:spPr>
          <a:xfrm>
            <a:off x="7650361" y="6038850"/>
            <a:ext cx="44508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20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Prepare for increased demand in spring/summer periods</a:t>
            </a:r>
            <a:endParaRPr lang="en-US" sz="1120" dirty="0"/>
          </a:p>
        </p:txBody>
      </p:sp>
      <p:sp>
        <p:nvSpPr>
          <p:cNvPr id="23" name="Text 11"/>
          <p:cNvSpPr/>
          <p:nvPr/>
        </p:nvSpPr>
        <p:spPr>
          <a:xfrm>
            <a:off x="7650361" y="6381750"/>
            <a:ext cx="40461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20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Develop seasonal product variations to address changing preferences</a:t>
            </a:r>
            <a:endParaRPr lang="en-US" sz="1120" dirty="0"/>
          </a:p>
        </p:txBody>
      </p:sp>
      <p:sp>
        <p:nvSpPr>
          <p:cNvPr id="24" name="Text 12"/>
          <p:cNvSpPr/>
          <p:nvPr/>
        </p:nvSpPr>
        <p:spPr>
          <a:xfrm>
            <a:off x="381000" y="7620000"/>
            <a:ext cx="21215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Coffee Data Analysis Project</a:t>
            </a:r>
            <a:endParaRPr lang="en-US" sz="11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096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714500"/>
            <a:ext cx="3555950" cy="33909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7901" y="1943100"/>
            <a:ext cx="762000" cy="762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87451" y="2133600"/>
            <a:ext cx="342900" cy="381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4114800"/>
            <a:ext cx="3095625" cy="762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17950" y="1714500"/>
            <a:ext cx="3555950" cy="33909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4851" y="1943100"/>
            <a:ext cx="762000" cy="762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00589" y="2133600"/>
            <a:ext cx="390525" cy="381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30170" y="4152900"/>
            <a:ext cx="3095625" cy="762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54901" y="1714500"/>
            <a:ext cx="3555950" cy="33909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651802" y="1943100"/>
            <a:ext cx="762000" cy="7620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818489" y="2133600"/>
            <a:ext cx="428625" cy="3810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483501" y="4152900"/>
            <a:ext cx="3095625" cy="7620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0" y="6477000"/>
            <a:ext cx="12192000" cy="381000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381000" y="152400"/>
            <a:ext cx="341451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400"/>
              </a:lnSpc>
              <a:buNone/>
            </a:pPr>
            <a:r>
              <a:rPr lang="en-US" sz="1646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Coffee Data Analysis Project</a:t>
            </a:r>
            <a:endParaRPr lang="en-US" sz="1646" dirty="0"/>
          </a:p>
        </p:txBody>
      </p:sp>
      <p:sp>
        <p:nvSpPr>
          <p:cNvPr id="18" name="Text 1"/>
          <p:cNvSpPr/>
          <p:nvPr/>
        </p:nvSpPr>
        <p:spPr>
          <a:xfrm>
            <a:off x="9654332" y="209550"/>
            <a:ext cx="237233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From Raw Data to Business Insights</a:t>
            </a:r>
            <a:endParaRPr lang="en-US" sz="980" dirty="0"/>
          </a:p>
        </p:txBody>
      </p:sp>
      <p:sp>
        <p:nvSpPr>
          <p:cNvPr id="19" name="Text 2"/>
          <p:cNvSpPr/>
          <p:nvPr/>
        </p:nvSpPr>
        <p:spPr>
          <a:xfrm>
            <a:off x="381000" y="990600"/>
            <a:ext cx="12573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700"/>
              </a:lnSpc>
              <a:buNone/>
            </a:pPr>
            <a:r>
              <a:rPr lang="en-US" sz="2040" b="1" dirty="0">
                <a:solidFill>
                  <a:srgbClr val="92400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Key Performance Indicators</a:t>
            </a:r>
            <a:endParaRPr lang="en-US" sz="2040" dirty="0"/>
          </a:p>
        </p:txBody>
      </p:sp>
      <p:sp>
        <p:nvSpPr>
          <p:cNvPr id="20" name="Text 3"/>
          <p:cNvSpPr/>
          <p:nvPr/>
        </p:nvSpPr>
        <p:spPr>
          <a:xfrm>
            <a:off x="1370409" y="2857500"/>
            <a:ext cx="173484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92400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Monthly Revenue</a:t>
            </a:r>
            <a:endParaRPr lang="en-US" sz="1380" dirty="0"/>
          </a:p>
        </p:txBody>
      </p:sp>
      <p:sp>
        <p:nvSpPr>
          <p:cNvPr id="21" name="Text 4"/>
          <p:cNvSpPr/>
          <p:nvPr/>
        </p:nvSpPr>
        <p:spPr>
          <a:xfrm>
            <a:off x="1539180" y="3200400"/>
            <a:ext cx="136354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3000"/>
              </a:lnSpc>
              <a:buNone/>
            </a:pPr>
            <a:r>
              <a:rPr lang="en-US" sz="2426" b="1" dirty="0">
                <a:solidFill>
                  <a:srgbClr val="D9770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€81,700</a:t>
            </a:r>
            <a:endParaRPr lang="en-US" sz="2426" dirty="0"/>
          </a:p>
        </p:txBody>
      </p:sp>
      <p:sp>
        <p:nvSpPr>
          <p:cNvPr id="22" name="Text 5"/>
          <p:cNvSpPr/>
          <p:nvPr/>
        </p:nvSpPr>
        <p:spPr>
          <a:xfrm>
            <a:off x="1194472" y="3733800"/>
            <a:ext cx="19290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20" dirty="0">
                <a:solidFill>
                  <a:srgbClr val="4B556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Baseline monthly revenue</a:t>
            </a:r>
            <a:endParaRPr lang="en-US" sz="1120" dirty="0"/>
          </a:p>
        </p:txBody>
      </p:sp>
      <p:sp>
        <p:nvSpPr>
          <p:cNvPr id="23" name="Text 6"/>
          <p:cNvSpPr/>
          <p:nvPr/>
        </p:nvSpPr>
        <p:spPr>
          <a:xfrm>
            <a:off x="5167610" y="2857500"/>
            <a:ext cx="204229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92400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Average Basket Size</a:t>
            </a:r>
            <a:endParaRPr lang="en-US" sz="1380" dirty="0"/>
          </a:p>
        </p:txBody>
      </p:sp>
      <p:sp>
        <p:nvSpPr>
          <p:cNvPr id="24" name="Text 7"/>
          <p:cNvSpPr/>
          <p:nvPr/>
        </p:nvSpPr>
        <p:spPr>
          <a:xfrm>
            <a:off x="5666780" y="3200400"/>
            <a:ext cx="9439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3000"/>
              </a:lnSpc>
              <a:buNone/>
            </a:pPr>
            <a:r>
              <a:rPr lang="en-US" sz="2426" b="1" dirty="0">
                <a:solidFill>
                  <a:srgbClr val="D9770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€4.72</a:t>
            </a:r>
            <a:endParaRPr lang="en-US" sz="2426" dirty="0"/>
          </a:p>
        </p:txBody>
      </p:sp>
      <p:sp>
        <p:nvSpPr>
          <p:cNvPr id="25" name="Text 8"/>
          <p:cNvSpPr/>
          <p:nvPr/>
        </p:nvSpPr>
        <p:spPr>
          <a:xfrm>
            <a:off x="5128156" y="3733800"/>
            <a:ext cx="19353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20" dirty="0">
                <a:solidFill>
                  <a:srgbClr val="4B556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Average transaction value</a:t>
            </a:r>
            <a:endParaRPr lang="en-US" sz="1120" dirty="0"/>
          </a:p>
        </p:txBody>
      </p:sp>
      <p:sp>
        <p:nvSpPr>
          <p:cNvPr id="26" name="Text 9"/>
          <p:cNvSpPr/>
          <p:nvPr/>
        </p:nvSpPr>
        <p:spPr>
          <a:xfrm>
            <a:off x="9270802" y="2857500"/>
            <a:ext cx="167656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92400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Unique Products</a:t>
            </a:r>
            <a:endParaRPr lang="en-US" sz="1380" dirty="0"/>
          </a:p>
        </p:txBody>
      </p:sp>
      <p:sp>
        <p:nvSpPr>
          <p:cNvPr id="27" name="Text 10"/>
          <p:cNvSpPr/>
          <p:nvPr/>
        </p:nvSpPr>
        <p:spPr>
          <a:xfrm>
            <a:off x="9842153" y="3200400"/>
            <a:ext cx="41959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3000"/>
              </a:lnSpc>
              <a:buNone/>
            </a:pPr>
            <a:r>
              <a:rPr lang="en-US" sz="2426" b="1" dirty="0">
                <a:solidFill>
                  <a:srgbClr val="D9770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80</a:t>
            </a:r>
            <a:endParaRPr lang="en-US" sz="2426" dirty="0"/>
          </a:p>
        </p:txBody>
      </p:sp>
      <p:sp>
        <p:nvSpPr>
          <p:cNvPr id="28" name="Text 11"/>
          <p:cNvSpPr/>
          <p:nvPr/>
        </p:nvSpPr>
        <p:spPr>
          <a:xfrm>
            <a:off x="9068544" y="3733800"/>
            <a:ext cx="19285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20" dirty="0">
                <a:solidFill>
                  <a:srgbClr val="4B556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Distinct items in our menu</a:t>
            </a:r>
            <a:endParaRPr lang="en-US" sz="1120" dirty="0"/>
          </a:p>
        </p:txBody>
      </p:sp>
      <p:sp>
        <p:nvSpPr>
          <p:cNvPr id="29" name="Text 12"/>
          <p:cNvSpPr/>
          <p:nvPr/>
        </p:nvSpPr>
        <p:spPr>
          <a:xfrm>
            <a:off x="-190500" y="5486400"/>
            <a:ext cx="1257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20" i="1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These KPIs provide a foundation for analyzing coffee sales performance</a:t>
            </a:r>
            <a:endParaRPr lang="en-US" sz="1120" dirty="0"/>
          </a:p>
        </p:txBody>
      </p:sp>
      <p:sp>
        <p:nvSpPr>
          <p:cNvPr id="30" name="Text 13"/>
          <p:cNvSpPr/>
          <p:nvPr/>
        </p:nvSpPr>
        <p:spPr>
          <a:xfrm>
            <a:off x="381000" y="6553200"/>
            <a:ext cx="21215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Coffee Data Analysis Project</a:t>
            </a:r>
            <a:endParaRPr lang="en-US" sz="11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81153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096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562100"/>
            <a:ext cx="5600700" cy="20193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752600"/>
            <a:ext cx="226368" cy="4762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9359" y="1857375"/>
            <a:ext cx="190500" cy="2667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0743" y="2838450"/>
            <a:ext cx="1143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1562100"/>
            <a:ext cx="5600700" cy="20193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0" y="1752600"/>
            <a:ext cx="234107" cy="4762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22529" y="1857375"/>
            <a:ext cx="190500" cy="2667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77782" y="2838450"/>
            <a:ext cx="1143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1000" y="3810000"/>
            <a:ext cx="5600700" cy="20193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4000500"/>
            <a:ext cx="243036" cy="4762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3406" y="4105275"/>
            <a:ext cx="219075" cy="2667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7411" y="4857750"/>
            <a:ext cx="1143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10300" y="3810000"/>
            <a:ext cx="5600700" cy="20193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00800" y="4000500"/>
            <a:ext cx="238125" cy="47625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00800" y="4105275"/>
            <a:ext cx="238125" cy="2667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81800" y="5086350"/>
            <a:ext cx="11430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81000" y="6057900"/>
            <a:ext cx="11430000" cy="1295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71500" y="6248400"/>
            <a:ext cx="369540" cy="47625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70471" y="6353175"/>
            <a:ext cx="171450" cy="266700"/>
          </a:xfrm>
          <a:prstGeom prst="rect">
            <a:avLst/>
          </a:prstGeom>
        </p:spPr>
      </p:pic>
      <p:sp>
        <p:nvSpPr>
          <p:cNvPr id="23" name="Text 0"/>
          <p:cNvSpPr/>
          <p:nvPr/>
        </p:nvSpPr>
        <p:spPr>
          <a:xfrm>
            <a:off x="381000" y="152400"/>
            <a:ext cx="341451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400"/>
              </a:lnSpc>
              <a:buNone/>
            </a:pPr>
            <a:r>
              <a:rPr lang="en-US" sz="1646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Coffee Data Analysis Project</a:t>
            </a:r>
            <a:endParaRPr lang="en-US" sz="1646" dirty="0"/>
          </a:p>
        </p:txBody>
      </p:sp>
      <p:sp>
        <p:nvSpPr>
          <p:cNvPr id="24" name="Text 1"/>
          <p:cNvSpPr/>
          <p:nvPr/>
        </p:nvSpPr>
        <p:spPr>
          <a:xfrm>
            <a:off x="9654332" y="209550"/>
            <a:ext cx="237233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From Raw Data to Business Insights</a:t>
            </a:r>
            <a:endParaRPr lang="en-US" sz="980" dirty="0"/>
          </a:p>
        </p:txBody>
      </p:sp>
      <p:sp>
        <p:nvSpPr>
          <p:cNvPr id="25" name="Text 2"/>
          <p:cNvSpPr/>
          <p:nvPr/>
        </p:nvSpPr>
        <p:spPr>
          <a:xfrm>
            <a:off x="381000" y="990600"/>
            <a:ext cx="12573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700"/>
              </a:lnSpc>
              <a:buNone/>
            </a:pPr>
            <a:r>
              <a:rPr lang="en-US" sz="2040" b="1" dirty="0">
                <a:solidFill>
                  <a:srgbClr val="92400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Strategic Recommendations</a:t>
            </a:r>
            <a:endParaRPr lang="en-US" sz="2040" dirty="0"/>
          </a:p>
        </p:txBody>
      </p:sp>
      <p:sp>
        <p:nvSpPr>
          <p:cNvPr id="26" name="Text 3"/>
          <p:cNvSpPr/>
          <p:nvPr/>
        </p:nvSpPr>
        <p:spPr>
          <a:xfrm>
            <a:off x="940743" y="1752600"/>
            <a:ext cx="533550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92400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Target Off-Peak Periods</a:t>
            </a:r>
            <a:endParaRPr lang="en-US" sz="1380" dirty="0"/>
          </a:p>
        </p:txBody>
      </p:sp>
      <p:sp>
        <p:nvSpPr>
          <p:cNvPr id="27" name="Text 4"/>
          <p:cNvSpPr/>
          <p:nvPr/>
        </p:nvSpPr>
        <p:spPr>
          <a:xfrm>
            <a:off x="940743" y="2095500"/>
            <a:ext cx="485045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Implement focused marketing campaigns during slow sales days (mid-month, afternoons, Saturdays) to stimulate demand and balance customer traffic.</a:t>
            </a:r>
            <a:endParaRPr lang="en-US" sz="1120" dirty="0"/>
          </a:p>
        </p:txBody>
      </p:sp>
      <p:sp>
        <p:nvSpPr>
          <p:cNvPr id="28" name="Text 5"/>
          <p:cNvSpPr/>
          <p:nvPr/>
        </p:nvSpPr>
        <p:spPr>
          <a:xfrm>
            <a:off x="1093143" y="2819400"/>
            <a:ext cx="485045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i="1" dirty="0">
                <a:solidFill>
                  <a:srgbClr val="4B556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Example: "Happy Hour" discounts in the late afternoon to attract new customers</a:t>
            </a:r>
            <a:endParaRPr lang="en-US" sz="1120" dirty="0"/>
          </a:p>
        </p:txBody>
      </p:sp>
      <p:sp>
        <p:nvSpPr>
          <p:cNvPr id="29" name="Text 6"/>
          <p:cNvSpPr/>
          <p:nvPr/>
        </p:nvSpPr>
        <p:spPr>
          <a:xfrm>
            <a:off x="6777782" y="1752600"/>
            <a:ext cx="53269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92400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Strengthen Cross-Selling</a:t>
            </a:r>
            <a:endParaRPr lang="en-US" sz="1380" dirty="0"/>
          </a:p>
        </p:txBody>
      </p:sp>
      <p:sp>
        <p:nvSpPr>
          <p:cNvPr id="30" name="Text 7"/>
          <p:cNvSpPr/>
          <p:nvPr/>
        </p:nvSpPr>
        <p:spPr>
          <a:xfrm>
            <a:off x="6777782" y="2095500"/>
            <a:ext cx="48427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Capitalize on coffee as a core driver by actively promoting cross-selling with high-performing complementary categories like bakery and chocolate.</a:t>
            </a:r>
            <a:endParaRPr lang="en-US" sz="1120" dirty="0"/>
          </a:p>
        </p:txBody>
      </p:sp>
      <p:sp>
        <p:nvSpPr>
          <p:cNvPr id="31" name="Text 8"/>
          <p:cNvSpPr/>
          <p:nvPr/>
        </p:nvSpPr>
        <p:spPr>
          <a:xfrm>
            <a:off x="6930182" y="2819400"/>
            <a:ext cx="48427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i="1" dirty="0">
                <a:solidFill>
                  <a:srgbClr val="4B556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Bundle coffee with bakery items or offer combo deals to increase average basket value</a:t>
            </a:r>
            <a:endParaRPr lang="en-US" sz="1120" dirty="0"/>
          </a:p>
        </p:txBody>
      </p:sp>
      <p:sp>
        <p:nvSpPr>
          <p:cNvPr id="32" name="Text 9"/>
          <p:cNvSpPr/>
          <p:nvPr/>
        </p:nvSpPr>
        <p:spPr>
          <a:xfrm>
            <a:off x="957411" y="4000500"/>
            <a:ext cx="53171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92400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Optimize Product Promotion</a:t>
            </a:r>
            <a:endParaRPr lang="en-US" sz="1380" dirty="0"/>
          </a:p>
        </p:txBody>
      </p:sp>
      <p:sp>
        <p:nvSpPr>
          <p:cNvPr id="33" name="Text 10"/>
          <p:cNvSpPr/>
          <p:nvPr/>
        </p:nvSpPr>
        <p:spPr>
          <a:xfrm>
            <a:off x="957411" y="4343400"/>
            <a:ext cx="48337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Promote products with good margins but lower sales, such as Biscotti and premium teas, through attractive combos or prominent placement.</a:t>
            </a:r>
            <a:endParaRPr lang="en-US" sz="1120" dirty="0"/>
          </a:p>
        </p:txBody>
      </p:sp>
      <p:sp>
        <p:nvSpPr>
          <p:cNvPr id="34" name="Text 11"/>
          <p:cNvSpPr/>
          <p:nvPr/>
        </p:nvSpPr>
        <p:spPr>
          <a:xfrm>
            <a:off x="1109811" y="4838700"/>
            <a:ext cx="48337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i="1" dirty="0">
                <a:solidFill>
                  <a:srgbClr val="4B556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For high-volume, low-margin items like Brewed Teas, consider strategies to improve profitability</a:t>
            </a:r>
            <a:endParaRPr lang="en-US" sz="1120" dirty="0"/>
          </a:p>
        </p:txBody>
      </p:sp>
      <p:sp>
        <p:nvSpPr>
          <p:cNvPr id="35" name="Text 12"/>
          <p:cNvSpPr/>
          <p:nvPr/>
        </p:nvSpPr>
        <p:spPr>
          <a:xfrm>
            <a:off x="6781800" y="4000500"/>
            <a:ext cx="53225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92400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Enhance Operations</a:t>
            </a:r>
            <a:endParaRPr lang="en-US" sz="1380" dirty="0"/>
          </a:p>
        </p:txBody>
      </p:sp>
      <p:sp>
        <p:nvSpPr>
          <p:cNvPr id="36" name="Text 13"/>
          <p:cNvSpPr/>
          <p:nvPr/>
        </p:nvSpPr>
        <p:spPr>
          <a:xfrm>
            <a:off x="6781800" y="4343400"/>
            <a:ext cx="48387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Utilize time series analysis and sales forecasts to optimize stock levels and staffing schedules, minimizing waste and maximizing service quality.</a:t>
            </a:r>
            <a:endParaRPr lang="en-US" sz="1120" dirty="0"/>
          </a:p>
        </p:txBody>
      </p:sp>
      <p:sp>
        <p:nvSpPr>
          <p:cNvPr id="37" name="Text 14"/>
          <p:cNvSpPr/>
          <p:nvPr/>
        </p:nvSpPr>
        <p:spPr>
          <a:xfrm>
            <a:off x="6934200" y="5067300"/>
            <a:ext cx="4838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i="1" dirty="0">
                <a:solidFill>
                  <a:srgbClr val="4B556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Leverage Hell's Kitchen best practices across other stores to ensure consistent performance</a:t>
            </a:r>
            <a:endParaRPr lang="en-US" sz="1120" dirty="0"/>
          </a:p>
        </p:txBody>
      </p:sp>
      <p:sp>
        <p:nvSpPr>
          <p:cNvPr id="38" name="Text 15"/>
          <p:cNvSpPr/>
          <p:nvPr/>
        </p:nvSpPr>
        <p:spPr>
          <a:xfrm>
            <a:off x="1083915" y="6248400"/>
            <a:ext cx="1159024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92400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Expand "Drinking Chocolate" Offerings</a:t>
            </a:r>
            <a:endParaRPr lang="en-US" sz="1380" dirty="0"/>
          </a:p>
        </p:txBody>
      </p:sp>
      <p:sp>
        <p:nvSpPr>
          <p:cNvPr id="39" name="Text 16"/>
          <p:cNvSpPr/>
          <p:nvPr/>
        </p:nvSpPr>
        <p:spPr>
          <a:xfrm>
            <a:off x="1083915" y="6591300"/>
            <a:ext cx="1053658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Given the popularity of "Hot Chocolate" within the "Drinking Chocolate" category, consider expanding the product line to include more chocolate-based items, tapping into an emerging consumer interest.</a:t>
            </a:r>
            <a:endParaRPr lang="en-US" sz="1120" dirty="0"/>
          </a:p>
        </p:txBody>
      </p:sp>
      <p:sp>
        <p:nvSpPr>
          <p:cNvPr id="40" name="Text 17"/>
          <p:cNvSpPr/>
          <p:nvPr/>
        </p:nvSpPr>
        <p:spPr>
          <a:xfrm>
            <a:off x="381000" y="7810500"/>
            <a:ext cx="21215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Coffee Data Analysis Project</a:t>
            </a:r>
            <a:endParaRPr lang="en-US" sz="11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3914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096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2324100"/>
            <a:ext cx="5600700" cy="1371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514600"/>
            <a:ext cx="476250" cy="4762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750" y="2600325"/>
            <a:ext cx="285750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2324100"/>
            <a:ext cx="5600700" cy="13716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2514600"/>
            <a:ext cx="476250" cy="4762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24625" y="2600325"/>
            <a:ext cx="228600" cy="304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3924300"/>
            <a:ext cx="5600700" cy="13716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114800"/>
            <a:ext cx="476250" cy="4762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1038" y="4200525"/>
            <a:ext cx="257175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3924300"/>
            <a:ext cx="5600700" cy="13716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4114800"/>
            <a:ext cx="476250" cy="4762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24625" y="4200525"/>
            <a:ext cx="228600" cy="3048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1000" y="5524500"/>
            <a:ext cx="11430000" cy="11049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1500" y="5900738"/>
            <a:ext cx="219075" cy="342900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381000" y="152400"/>
            <a:ext cx="341451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400"/>
              </a:lnSpc>
              <a:buNone/>
            </a:pPr>
            <a:r>
              <a:rPr lang="en-US" sz="1646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Coffee Data Analysis Project</a:t>
            </a:r>
            <a:endParaRPr lang="en-US" sz="1646" dirty="0"/>
          </a:p>
        </p:txBody>
      </p:sp>
      <p:sp>
        <p:nvSpPr>
          <p:cNvPr id="19" name="Text 1"/>
          <p:cNvSpPr/>
          <p:nvPr/>
        </p:nvSpPr>
        <p:spPr>
          <a:xfrm>
            <a:off x="9654332" y="209550"/>
            <a:ext cx="237233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From Raw Data to Business Insights</a:t>
            </a:r>
            <a:endParaRPr lang="en-US" sz="980" dirty="0"/>
          </a:p>
        </p:txBody>
      </p:sp>
      <p:sp>
        <p:nvSpPr>
          <p:cNvPr id="20" name="Text 2"/>
          <p:cNvSpPr/>
          <p:nvPr/>
        </p:nvSpPr>
        <p:spPr>
          <a:xfrm>
            <a:off x="381000" y="990600"/>
            <a:ext cx="12573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700"/>
              </a:lnSpc>
              <a:buNone/>
            </a:pPr>
            <a:r>
              <a:rPr lang="en-US" sz="2040" b="1" dirty="0">
                <a:solidFill>
                  <a:srgbClr val="92400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Conclusion</a:t>
            </a:r>
            <a:endParaRPr lang="en-US" sz="2040" dirty="0"/>
          </a:p>
        </p:txBody>
      </p:sp>
      <p:sp>
        <p:nvSpPr>
          <p:cNvPr id="21" name="Text 3"/>
          <p:cNvSpPr/>
          <p:nvPr/>
        </p:nvSpPr>
        <p:spPr>
          <a:xfrm>
            <a:off x="381000" y="1562100"/>
            <a:ext cx="11430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260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This project successfully transformed raw coffee sales data into actionable business insights through a structured analysis pipeline. The key findings reveal valuable opportunities for business optimization.</a:t>
            </a:r>
            <a:endParaRPr lang="en-US" sz="1260" dirty="0"/>
          </a:p>
        </p:txBody>
      </p:sp>
      <p:sp>
        <p:nvSpPr>
          <p:cNvPr id="22" name="Text 4"/>
          <p:cNvSpPr/>
          <p:nvPr/>
        </p:nvSpPr>
        <p:spPr>
          <a:xfrm>
            <a:off x="1200150" y="2514600"/>
            <a:ext cx="50501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92400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Core Business Driver</a:t>
            </a:r>
            <a:endParaRPr lang="en-US" sz="1120" dirty="0"/>
          </a:p>
        </p:txBody>
      </p:sp>
      <p:sp>
        <p:nvSpPr>
          <p:cNvPr id="23" name="Text 5"/>
          <p:cNvSpPr/>
          <p:nvPr/>
        </p:nvSpPr>
        <p:spPr>
          <a:xfrm>
            <a:off x="1200150" y="2819400"/>
            <a:ext cx="45910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Coffee remains the core business driver, strongly supported by bakery and chocolate items, which present significant cross-selling opportunities.</a:t>
            </a:r>
            <a:endParaRPr lang="en-US" sz="1120" dirty="0"/>
          </a:p>
        </p:txBody>
      </p:sp>
      <p:sp>
        <p:nvSpPr>
          <p:cNvPr id="24" name="Text 6"/>
          <p:cNvSpPr/>
          <p:nvPr/>
        </p:nvSpPr>
        <p:spPr>
          <a:xfrm>
            <a:off x="7029450" y="2514600"/>
            <a:ext cx="50501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92400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Clear Sales Patterns</a:t>
            </a:r>
            <a:endParaRPr lang="en-US" sz="1120" dirty="0"/>
          </a:p>
        </p:txBody>
      </p:sp>
      <p:sp>
        <p:nvSpPr>
          <p:cNvPr id="25" name="Text 7"/>
          <p:cNvSpPr/>
          <p:nvPr/>
        </p:nvSpPr>
        <p:spPr>
          <a:xfrm>
            <a:off x="7029450" y="2819400"/>
            <a:ext cx="45910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Morning hours (09:00-11:30) represent "golden hours" for sales, with distinct patterns observed across days and months revealing opportunities for targeted marketing.</a:t>
            </a:r>
            <a:endParaRPr lang="en-US" sz="1120" dirty="0"/>
          </a:p>
        </p:txBody>
      </p:sp>
      <p:sp>
        <p:nvSpPr>
          <p:cNvPr id="26" name="Text 8"/>
          <p:cNvSpPr/>
          <p:nvPr/>
        </p:nvSpPr>
        <p:spPr>
          <a:xfrm>
            <a:off x="1200150" y="4114800"/>
            <a:ext cx="50501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92400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Consistent Store Performance</a:t>
            </a:r>
            <a:endParaRPr lang="en-US" sz="1120" dirty="0"/>
          </a:p>
        </p:txBody>
      </p:sp>
      <p:sp>
        <p:nvSpPr>
          <p:cNvPr id="27" name="Text 9"/>
          <p:cNvSpPr/>
          <p:nvPr/>
        </p:nvSpPr>
        <p:spPr>
          <a:xfrm>
            <a:off x="1200150" y="4419600"/>
            <a:ext cx="45910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All three store locations demonstrated consistent performance, with Hell's Kitchen showing a slight lead, suggesting a robust and replicable business strategy.</a:t>
            </a:r>
            <a:endParaRPr lang="en-US" sz="1120" dirty="0"/>
          </a:p>
        </p:txBody>
      </p:sp>
      <p:sp>
        <p:nvSpPr>
          <p:cNvPr id="28" name="Text 10"/>
          <p:cNvSpPr/>
          <p:nvPr/>
        </p:nvSpPr>
        <p:spPr>
          <a:xfrm>
            <a:off x="7029450" y="4114800"/>
            <a:ext cx="50501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92400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Business Optimization</a:t>
            </a:r>
            <a:endParaRPr lang="en-US" sz="1120" dirty="0"/>
          </a:p>
        </p:txBody>
      </p:sp>
      <p:sp>
        <p:nvSpPr>
          <p:cNvPr id="29" name="Text 11"/>
          <p:cNvSpPr/>
          <p:nvPr/>
        </p:nvSpPr>
        <p:spPr>
          <a:xfrm>
            <a:off x="7029450" y="4419600"/>
            <a:ext cx="45910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These insights are crucial for optimizing inventory management, refining marketing strategies, and fostering sustainable revenue growth through data-driven decision-making.</a:t>
            </a:r>
            <a:endParaRPr lang="en-US" sz="1120" dirty="0"/>
          </a:p>
        </p:txBody>
      </p:sp>
      <p:sp>
        <p:nvSpPr>
          <p:cNvPr id="30" name="Text 12"/>
          <p:cNvSpPr/>
          <p:nvPr/>
        </p:nvSpPr>
        <p:spPr>
          <a:xfrm>
            <a:off x="942975" y="5715000"/>
            <a:ext cx="117452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92400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Key Insight</a:t>
            </a:r>
            <a:endParaRPr lang="en-US" sz="1120" dirty="0"/>
          </a:p>
        </p:txBody>
      </p:sp>
      <p:sp>
        <p:nvSpPr>
          <p:cNvPr id="31" name="Text 13"/>
          <p:cNvSpPr/>
          <p:nvPr/>
        </p:nvSpPr>
        <p:spPr>
          <a:xfrm>
            <a:off x="942975" y="5981700"/>
            <a:ext cx="106775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analysis pipeline, from data cleaning to advanced modeling, demonstrates how transforming raw data into actionable insights can drive meaningful business growth and inform strategic decision-making.</a:t>
            </a:r>
            <a:endParaRPr lang="en-US" sz="1120" dirty="0"/>
          </a:p>
        </p:txBody>
      </p:sp>
      <p:sp>
        <p:nvSpPr>
          <p:cNvPr id="32" name="Text 14"/>
          <p:cNvSpPr/>
          <p:nvPr/>
        </p:nvSpPr>
        <p:spPr>
          <a:xfrm>
            <a:off x="381000" y="7086600"/>
            <a:ext cx="21215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Coffee Data Analysis Project</a:t>
            </a:r>
            <a:endParaRPr lang="en-US" sz="11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096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9750" y="2681288"/>
            <a:ext cx="2654201" cy="233362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32050" y="2909888"/>
            <a:ext cx="609600" cy="69532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84450" y="3062288"/>
            <a:ext cx="304800" cy="381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68751" y="2681288"/>
            <a:ext cx="2654350" cy="233362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76764" y="2909888"/>
            <a:ext cx="638175" cy="69532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29164" y="3062288"/>
            <a:ext cx="333375" cy="381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27900" y="2681288"/>
            <a:ext cx="2654201" cy="2333625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31151" y="2909888"/>
            <a:ext cx="647700" cy="695325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883551" y="3062288"/>
            <a:ext cx="342900" cy="3810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6477000"/>
            <a:ext cx="12192000" cy="3810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668000" y="5905500"/>
            <a:ext cx="1143000" cy="5715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453252" y="1824038"/>
            <a:ext cx="504825" cy="571500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381000" y="152400"/>
            <a:ext cx="341451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400"/>
              </a:lnSpc>
              <a:buNone/>
            </a:pPr>
            <a:r>
              <a:rPr lang="en-US" sz="1646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Coffee Data Analysis Project</a:t>
            </a:r>
            <a:endParaRPr lang="en-US" sz="1646" dirty="0"/>
          </a:p>
        </p:txBody>
      </p:sp>
      <p:sp>
        <p:nvSpPr>
          <p:cNvPr id="18" name="Text 1"/>
          <p:cNvSpPr/>
          <p:nvPr/>
        </p:nvSpPr>
        <p:spPr>
          <a:xfrm>
            <a:off x="9654332" y="209550"/>
            <a:ext cx="237233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From Raw Data to Business Insights</a:t>
            </a:r>
            <a:endParaRPr lang="en-US" sz="980" dirty="0"/>
          </a:p>
        </p:txBody>
      </p:sp>
      <p:sp>
        <p:nvSpPr>
          <p:cNvPr id="19" name="Text 2"/>
          <p:cNvSpPr/>
          <p:nvPr/>
        </p:nvSpPr>
        <p:spPr>
          <a:xfrm>
            <a:off x="2556741" y="1347788"/>
            <a:ext cx="70783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158" b="1" dirty="0">
                <a:solidFill>
                  <a:srgbClr val="92400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Thank You!</a:t>
            </a:r>
            <a:endParaRPr lang="en-US" sz="3158" dirty="0"/>
          </a:p>
        </p:txBody>
      </p:sp>
      <p:sp>
        <p:nvSpPr>
          <p:cNvPr id="20" name="Text 3"/>
          <p:cNvSpPr/>
          <p:nvPr/>
        </p:nvSpPr>
        <p:spPr>
          <a:xfrm>
            <a:off x="2556741" y="1957388"/>
            <a:ext cx="70783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80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For questions or follow-up discussions about the coffee data analysis project</a:t>
            </a:r>
            <a:endParaRPr lang="en-US" sz="1380" dirty="0"/>
          </a:p>
        </p:txBody>
      </p:sp>
      <p:sp>
        <p:nvSpPr>
          <p:cNvPr id="21" name="Text 4"/>
          <p:cNvSpPr/>
          <p:nvPr/>
        </p:nvSpPr>
        <p:spPr>
          <a:xfrm>
            <a:off x="2745135" y="3757613"/>
            <a:ext cx="86161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92400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LinkedIn</a:t>
            </a:r>
            <a:endParaRPr lang="en-US" sz="1380" dirty="0"/>
          </a:p>
        </p:txBody>
      </p:sp>
      <p:sp>
        <p:nvSpPr>
          <p:cNvPr id="22" name="Text 5"/>
          <p:cNvSpPr/>
          <p:nvPr/>
        </p:nvSpPr>
        <p:spPr>
          <a:xfrm>
            <a:off x="2038350" y="4100513"/>
            <a:ext cx="219700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20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Connect with me to discuss the project and explore further insights</a:t>
            </a:r>
            <a:endParaRPr lang="en-US" sz="1120" dirty="0"/>
          </a:p>
        </p:txBody>
      </p:sp>
      <p:sp>
        <p:nvSpPr>
          <p:cNvPr id="23" name="Text 6"/>
          <p:cNvSpPr/>
          <p:nvPr/>
        </p:nvSpPr>
        <p:spPr>
          <a:xfrm>
            <a:off x="5778401" y="3757613"/>
            <a:ext cx="6983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92400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GitHub</a:t>
            </a:r>
            <a:endParaRPr lang="en-US" sz="1380" dirty="0"/>
          </a:p>
        </p:txBody>
      </p:sp>
      <p:sp>
        <p:nvSpPr>
          <p:cNvPr id="24" name="Text 7"/>
          <p:cNvSpPr/>
          <p:nvPr/>
        </p:nvSpPr>
        <p:spPr>
          <a:xfrm>
            <a:off x="4997351" y="4100513"/>
            <a:ext cx="21971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20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Access the project repository and explore the data analysis code</a:t>
            </a:r>
            <a:endParaRPr lang="en-US" sz="1120" dirty="0"/>
          </a:p>
        </p:txBody>
      </p:sp>
      <p:sp>
        <p:nvSpPr>
          <p:cNvPr id="25" name="Text 8"/>
          <p:cNvSpPr/>
          <p:nvPr/>
        </p:nvSpPr>
        <p:spPr>
          <a:xfrm>
            <a:off x="8800802" y="3757613"/>
            <a:ext cx="55907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92400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Email</a:t>
            </a:r>
            <a:endParaRPr lang="en-US" sz="1380" dirty="0"/>
          </a:p>
        </p:txBody>
      </p:sp>
      <p:sp>
        <p:nvSpPr>
          <p:cNvPr id="26" name="Text 9"/>
          <p:cNvSpPr/>
          <p:nvPr/>
        </p:nvSpPr>
        <p:spPr>
          <a:xfrm>
            <a:off x="7956500" y="4100513"/>
            <a:ext cx="219700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20" dirty="0">
                <a:solidFill>
                  <a:srgbClr val="3741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Direct contact for questions about the coffee data analysis project</a:t>
            </a:r>
            <a:endParaRPr lang="en-US" sz="1120" dirty="0"/>
          </a:p>
        </p:txBody>
      </p:sp>
      <p:sp>
        <p:nvSpPr>
          <p:cNvPr id="27" name="Text 10"/>
          <p:cNvSpPr/>
          <p:nvPr/>
        </p:nvSpPr>
        <p:spPr>
          <a:xfrm>
            <a:off x="4115916" y="5472113"/>
            <a:ext cx="39601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260" i="1" dirty="0">
                <a:solidFill>
                  <a:srgbClr val="92400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"From raw data to actionable business insights"</a:t>
            </a:r>
            <a:endParaRPr lang="en-US" sz="1260" dirty="0"/>
          </a:p>
        </p:txBody>
      </p:sp>
      <p:sp>
        <p:nvSpPr>
          <p:cNvPr id="28" name="Text 11"/>
          <p:cNvSpPr/>
          <p:nvPr/>
        </p:nvSpPr>
        <p:spPr>
          <a:xfrm>
            <a:off x="381000" y="6553200"/>
            <a:ext cx="21215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Coffee Data Analysis Project</a:t>
            </a:r>
            <a:endParaRPr lang="en-US" sz="11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1834</Words>
  <Application>Microsoft Office PowerPoint</Application>
  <PresentationFormat>Widescreen</PresentationFormat>
  <Paragraphs>326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Helvetica</vt:lpstr>
      <vt:lpstr>ui-sans-serif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makhloufimahdi</cp:lastModifiedBy>
  <cp:revision>2</cp:revision>
  <dcterms:created xsi:type="dcterms:W3CDTF">2025-09-19T13:39:48Z</dcterms:created>
  <dcterms:modified xsi:type="dcterms:W3CDTF">2025-09-20T10:03:45Z</dcterms:modified>
</cp:coreProperties>
</file>