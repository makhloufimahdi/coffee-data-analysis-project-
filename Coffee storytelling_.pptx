
<file path=[Content_Types].xml><?xml version="1.0" encoding="utf-8"?>
<Types xmlns="http://schemas.openxmlformats.org/package/2006/content-types">
  <Default Extension="xml" ContentType="application/vnd.openxmlformats-officedocument.extended-properties+xml"/>
  <Default Extension="png" ContentType="image/png"/>
  <Default Extension="jpeg" ContentType="image/jpeg"/>
  <Default Extension="rels" ContentType="application/vnd.openxmlformats-package.relationship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tableStyles.xml" ContentType="application/vnd.openxmlformats-officedocument.presentationml.tableStyles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extended-properties" Target="/docProps/app.xml" Id="rId3" /><Relationship Type="http://schemas.openxmlformats.org/package/2006/relationships/metadata/core-properties" Target="/docProps/core.xml" Id="rId2" /><Relationship Type="http://schemas.openxmlformats.org/officeDocument/2006/relationships/officeDocument" Target="/ppt/presentation.xml" Id="rId1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7.xml" Id="rId8" /><Relationship Type="http://schemas.openxmlformats.org/officeDocument/2006/relationships/slide" Target="/ppt/slides/slide12.xml" Id="rId13" /><Relationship Type="http://schemas.openxmlformats.org/officeDocument/2006/relationships/theme" Target="/ppt/theme/theme1.xml" Id="rId18" /><Relationship Type="http://schemas.openxmlformats.org/officeDocument/2006/relationships/slide" Target="/ppt/slides/slide2.xml" Id="rId3" /><Relationship Type="http://schemas.openxmlformats.org/officeDocument/2006/relationships/slide" Target="/ppt/slides/slide6.xml" Id="rId7" /><Relationship Type="http://schemas.openxmlformats.org/officeDocument/2006/relationships/slide" Target="/ppt/slides/slide11.xml" Id="rId12" /><Relationship Type="http://schemas.openxmlformats.org/officeDocument/2006/relationships/viewProps" Target="/ppt/viewProps.xml" Id="rId17" /><Relationship Type="http://schemas.openxmlformats.org/officeDocument/2006/relationships/slide" Target="/ppt/slides/slide1.xml" Id="rId2" /><Relationship Type="http://schemas.openxmlformats.org/officeDocument/2006/relationships/presProps" Target="/ppt/presProps.xml" Id="rId16" /><Relationship Type="http://schemas.openxmlformats.org/officeDocument/2006/relationships/slideMaster" Target="/ppt/slideMasters/slideMaster1.xml" Id="rId1" /><Relationship Type="http://schemas.openxmlformats.org/officeDocument/2006/relationships/slide" Target="/ppt/slides/slide5.xml" Id="rId6" /><Relationship Type="http://schemas.openxmlformats.org/officeDocument/2006/relationships/slide" Target="/ppt/slides/slide10.xml" Id="rId11" /><Relationship Type="http://schemas.openxmlformats.org/officeDocument/2006/relationships/slide" Target="/ppt/slides/slide4.xml" Id="rId5" /><Relationship Type="http://schemas.openxmlformats.org/officeDocument/2006/relationships/notesMaster" Target="/ppt/notesMasters/notesMaster1.xml" Id="rId15" /><Relationship Type="http://schemas.openxmlformats.org/officeDocument/2006/relationships/slide" Target="/ppt/slides/slide9.xml" Id="rId10" /><Relationship Type="http://schemas.openxmlformats.org/officeDocument/2006/relationships/tableStyles" Target="/ppt/tableStyles.xml" Id="rId19" /><Relationship Type="http://schemas.openxmlformats.org/officeDocument/2006/relationships/slide" Target="/ppt/slides/slide3.xml" Id="rId4" /><Relationship Type="http://schemas.openxmlformats.org/officeDocument/2006/relationships/slide" Target="/ppt/slides/slide8.xml" Id="rId9" /><Relationship Type="http://schemas.openxmlformats.org/officeDocument/2006/relationships/slide" Target="/ppt/slides/slide13.xml" Id="rId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theme/theme2.xml" Id="rId1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443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Id2" /><Relationship Type="http://schemas.openxmlformats.org/officeDocument/2006/relationships/notesMaster" Target="/ppt/notesMasters/notesMaster1.xml" Id="rI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Id2" /><Relationship Type="http://schemas.openxmlformats.org/officeDocument/2006/relationships/notesMaster" Target="/ppt/notesMasters/notesMaster1.xml" Id="rI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Id2" /><Relationship Type="http://schemas.openxmlformats.org/officeDocument/2006/relationships/notesMaster" Target="/ppt/notesMasters/notesMaster1.xml" Id="rI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Id2" /><Relationship Type="http://schemas.openxmlformats.org/officeDocument/2006/relationships/notesMaster" Target="/ppt/notesMasters/notesMaster1.xml" Id="rI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Id2" /><Relationship Type="http://schemas.openxmlformats.org/officeDocument/2006/relationships/notesMaster" Target="/ppt/notesMasters/notesMaster1.xml" Id="rI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Id2" /><Relationship Type="http://schemas.openxmlformats.org/officeDocument/2006/relationships/notesMaster" Target="/ppt/notesMasters/notesMaster1.xml" Id="rI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Id2" /><Relationship Type="http://schemas.openxmlformats.org/officeDocument/2006/relationships/notesMaster" Target="/ppt/notesMasters/notesMaster1.xml" Id="rId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Id2" /><Relationship Type="http://schemas.openxmlformats.org/officeDocument/2006/relationships/notesMaster" Target="/ppt/notesMasters/notesMaster1.xml" Id="rId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Id2" /><Relationship Type="http://schemas.openxmlformats.org/officeDocument/2006/relationships/notesMaster" Target="/ppt/notesMasters/notesMaster1.xml" Id="rId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Id2" /><Relationship Type="http://schemas.openxmlformats.org/officeDocument/2006/relationships/notesMaster" Target="/ppt/notesMasters/notesMaster1.xml" Id="rId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Id2" /><Relationship Type="http://schemas.openxmlformats.org/officeDocument/2006/relationships/notesMaster" Target="/ppt/notesMasters/notesMaster1.xml" Id="rId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Id2" /><Relationship Type="http://schemas.openxmlformats.org/officeDocument/2006/relationships/notesMaster" Target="/ppt/notesMasters/notesMaster1.xml" Id="rId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Id2" /><Relationship Type="http://schemas.openxmlformats.org/officeDocument/2006/relationships/notesMaster" Target="/ppt/notesMasters/notesMaster1.xml" Id="rId1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Id2" /><Relationship Type="http://schemas.openxmlformats.org/officeDocument/2006/relationships/slideLayout" Target="/ppt/slideLayouts/slideLayout1.xml" Id="rId1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6.png" Id="rId8" /><Relationship Type="http://schemas.openxmlformats.org/officeDocument/2006/relationships/image" Target="/ppt/media/image11.png" Id="rId13" /><Relationship Type="http://schemas.openxmlformats.org/officeDocument/2006/relationships/image" Target="/ppt/media/image16.png" Id="rId18" /><Relationship Type="http://schemas.openxmlformats.org/officeDocument/2006/relationships/image" Target="/ppt/media/image1.png" Id="rId3" /><Relationship Type="http://schemas.openxmlformats.org/officeDocument/2006/relationships/image" Target="/ppt/media/image5.png" Id="rId7" /><Relationship Type="http://schemas.openxmlformats.org/officeDocument/2006/relationships/image" Target="/ppt/media/image10.png" Id="rId12" /><Relationship Type="http://schemas.openxmlformats.org/officeDocument/2006/relationships/image" Target="/ppt/media/image15.png" Id="rId17" /><Relationship Type="http://schemas.openxmlformats.org/officeDocument/2006/relationships/notesSlide" Target="/ppt/notesSlides/notesSlide1.xml" Id="rId2" /><Relationship Type="http://schemas.openxmlformats.org/officeDocument/2006/relationships/image" Target="/ppt/media/image14.png" Id="rId16" /><Relationship Type="http://schemas.openxmlformats.org/officeDocument/2006/relationships/slideLayout" Target="/ppt/slideLayouts/slideLayout1.xml" Id="rId1" /><Relationship Type="http://schemas.openxmlformats.org/officeDocument/2006/relationships/image" Target="/ppt/media/image4.png" Id="rId6" /><Relationship Type="http://schemas.openxmlformats.org/officeDocument/2006/relationships/image" Target="/ppt/media/image9.png" Id="rId11" /><Relationship Type="http://schemas.openxmlformats.org/officeDocument/2006/relationships/image" Target="/ppt/media/image3.png" Id="rId5" /><Relationship Type="http://schemas.openxmlformats.org/officeDocument/2006/relationships/image" Target="/ppt/media/image13.png" Id="rId15" /><Relationship Type="http://schemas.openxmlformats.org/officeDocument/2006/relationships/image" Target="/ppt/media/image8.png" Id="rId10" /><Relationship Type="http://schemas.openxmlformats.org/officeDocument/2006/relationships/image" Target="/ppt/media/image2.png" Id="rId4" /><Relationship Type="http://schemas.openxmlformats.org/officeDocument/2006/relationships/image" Target="/ppt/media/image7.png" Id="rId9" /><Relationship Type="http://schemas.openxmlformats.org/officeDocument/2006/relationships/image" Target="/ppt/media/image12.png" Id="rId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image" Target="/ppt/media/image22.png" Id="rId8" /><Relationship Type="http://schemas.openxmlformats.org/officeDocument/2006/relationships/image" Target="/ppt/media/image17.png" Id="rId3" /><Relationship Type="http://schemas.openxmlformats.org/officeDocument/2006/relationships/image" Target="/ppt/media/image21.png" Id="rId7" /><Relationship Type="http://schemas.openxmlformats.org/officeDocument/2006/relationships/notesSlide" Target="/ppt/notesSlides/notesSlide2.xml" Id="rId2" /><Relationship Type="http://schemas.openxmlformats.org/officeDocument/2006/relationships/slideLayout" Target="/ppt/slideLayouts/slideLayout1.xml" Id="rId1" /><Relationship Type="http://schemas.openxmlformats.org/officeDocument/2006/relationships/image" Target="/ppt/media/image20.png" Id="rId6" /><Relationship Type="http://schemas.openxmlformats.org/officeDocument/2006/relationships/image" Target="/ppt/media/image25.png" Id="rId11" /><Relationship Type="http://schemas.openxmlformats.org/officeDocument/2006/relationships/image" Target="/ppt/media/image19.png" Id="rId5" /><Relationship Type="http://schemas.openxmlformats.org/officeDocument/2006/relationships/image" Target="/ppt/media/image24.png" Id="rId10" /><Relationship Type="http://schemas.openxmlformats.org/officeDocument/2006/relationships/image" Target="/ppt/media/image18.png" Id="rId4" /><Relationship Type="http://schemas.openxmlformats.org/officeDocument/2006/relationships/image" Target="/ppt/media/image23.png" Id="rI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image" Target="/ppt/media/image29.png" Id="rId8" /><Relationship Type="http://schemas.openxmlformats.org/officeDocument/2006/relationships/image" Target="/ppt/media/image34.png" Id="rId13" /><Relationship Type="http://schemas.openxmlformats.org/officeDocument/2006/relationships/image" Target="/ppt/media/image39.png" Id="rId18" /><Relationship Type="http://schemas.openxmlformats.org/officeDocument/2006/relationships/image" Target="/ppt/media/image1.png" Id="rId3" /><Relationship Type="http://schemas.openxmlformats.org/officeDocument/2006/relationships/image" Target="/ppt/media/image28.png" Id="rId7" /><Relationship Type="http://schemas.openxmlformats.org/officeDocument/2006/relationships/image" Target="/ppt/media/image33.png" Id="rId12" /><Relationship Type="http://schemas.openxmlformats.org/officeDocument/2006/relationships/image" Target="/ppt/media/image38.png" Id="rId17" /><Relationship Type="http://schemas.openxmlformats.org/officeDocument/2006/relationships/notesSlide" Target="/ppt/notesSlides/notesSlide3.xml" Id="rId2" /><Relationship Type="http://schemas.openxmlformats.org/officeDocument/2006/relationships/image" Target="/ppt/media/image37.png" Id="rId16" /><Relationship Type="http://schemas.openxmlformats.org/officeDocument/2006/relationships/image" Target="/ppt/media/image41.png" Id="rId20" /><Relationship Type="http://schemas.openxmlformats.org/officeDocument/2006/relationships/slideLayout" Target="/ppt/slideLayouts/slideLayout1.xml" Id="rId1" /><Relationship Type="http://schemas.openxmlformats.org/officeDocument/2006/relationships/image" Target="/ppt/media/image27.png" Id="rId6" /><Relationship Type="http://schemas.openxmlformats.org/officeDocument/2006/relationships/image" Target="/ppt/media/image32.png" Id="rId11" /><Relationship Type="http://schemas.openxmlformats.org/officeDocument/2006/relationships/image" Target="/ppt/media/image26.png" Id="rId5" /><Relationship Type="http://schemas.openxmlformats.org/officeDocument/2006/relationships/image" Target="/ppt/media/image36.png" Id="rId15" /><Relationship Type="http://schemas.openxmlformats.org/officeDocument/2006/relationships/image" Target="/ppt/media/image31.png" Id="rId10" /><Relationship Type="http://schemas.openxmlformats.org/officeDocument/2006/relationships/image" Target="/ppt/media/image40.png" Id="rId19" /><Relationship Type="http://schemas.openxmlformats.org/officeDocument/2006/relationships/image" Target="/ppt/media/image18.png" Id="rId4" /><Relationship Type="http://schemas.openxmlformats.org/officeDocument/2006/relationships/image" Target="/ppt/media/image30.png" Id="rId9" /><Relationship Type="http://schemas.openxmlformats.org/officeDocument/2006/relationships/image" Target="/ppt/media/image35.png" Id="rId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image" Target="/ppt/media/image46.png" Id="rId8" /><Relationship Type="http://schemas.openxmlformats.org/officeDocument/2006/relationships/image" Target="/ppt/media/image51.png" Id="rId13" /><Relationship Type="http://schemas.openxmlformats.org/officeDocument/2006/relationships/image" Target="/ppt/media/image42.png" Id="rId3" /><Relationship Type="http://schemas.openxmlformats.org/officeDocument/2006/relationships/image" Target="/ppt/media/image45.png" Id="rId7" /><Relationship Type="http://schemas.openxmlformats.org/officeDocument/2006/relationships/image" Target="/ppt/media/image50.png" Id="rId12" /><Relationship Type="http://schemas.openxmlformats.org/officeDocument/2006/relationships/notesSlide" Target="/ppt/notesSlides/notesSlide4.xml" Id="rId2" /><Relationship Type="http://schemas.openxmlformats.org/officeDocument/2006/relationships/slideLayout" Target="/ppt/slideLayouts/slideLayout1.xml" Id="rId1" /><Relationship Type="http://schemas.openxmlformats.org/officeDocument/2006/relationships/image" Target="/ppt/media/image44.png" Id="rId6" /><Relationship Type="http://schemas.openxmlformats.org/officeDocument/2006/relationships/image" Target="/ppt/media/image49.png" Id="rId11" /><Relationship Type="http://schemas.openxmlformats.org/officeDocument/2006/relationships/image" Target="/ppt/media/image43.png" Id="rId5" /><Relationship Type="http://schemas.openxmlformats.org/officeDocument/2006/relationships/image" Target="/ppt/media/image53.png" Id="rId15" /><Relationship Type="http://schemas.openxmlformats.org/officeDocument/2006/relationships/image" Target="/ppt/media/image48.png" Id="rId10" /><Relationship Type="http://schemas.openxmlformats.org/officeDocument/2006/relationships/image" Target="/ppt/media/image18.png" Id="rId4" /><Relationship Type="http://schemas.openxmlformats.org/officeDocument/2006/relationships/image" Target="/ppt/media/image47.png" Id="rId9" /><Relationship Type="http://schemas.openxmlformats.org/officeDocument/2006/relationships/image" Target="/ppt/media/image52.png" Id="rId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image" Target="/ppt/media/image57.png" Id="rId8" /><Relationship Type="http://schemas.openxmlformats.org/officeDocument/2006/relationships/image" Target="/ppt/media/image62.png" Id="rId13" /><Relationship Type="http://schemas.openxmlformats.org/officeDocument/2006/relationships/image" Target="/ppt/media/image67.png" Id="rId18" /><Relationship Type="http://schemas.openxmlformats.org/officeDocument/2006/relationships/image" Target="/ppt/media/image75.png" Id="rId26" /><Relationship Type="http://schemas.openxmlformats.org/officeDocument/2006/relationships/image" Target="/ppt/media/image1.png" Id="rId3" /><Relationship Type="http://schemas.openxmlformats.org/officeDocument/2006/relationships/image" Target="/ppt/media/image70.png" Id="rId21" /><Relationship Type="http://schemas.openxmlformats.org/officeDocument/2006/relationships/image" Target="/ppt/media/image56.png" Id="rId7" /><Relationship Type="http://schemas.openxmlformats.org/officeDocument/2006/relationships/image" Target="/ppt/media/image61.png" Id="rId12" /><Relationship Type="http://schemas.openxmlformats.org/officeDocument/2006/relationships/image" Target="/ppt/media/image66.png" Id="rId17" /><Relationship Type="http://schemas.openxmlformats.org/officeDocument/2006/relationships/image" Target="/ppt/media/image74.png" Id="rId25" /><Relationship Type="http://schemas.openxmlformats.org/officeDocument/2006/relationships/notesSlide" Target="/ppt/notesSlides/notesSlide5.xml" Id="rId2" /><Relationship Type="http://schemas.openxmlformats.org/officeDocument/2006/relationships/image" Target="/ppt/media/image65.png" Id="rId16" /><Relationship Type="http://schemas.openxmlformats.org/officeDocument/2006/relationships/image" Target="/ppt/media/image69.png" Id="rId20" /><Relationship Type="http://schemas.openxmlformats.org/officeDocument/2006/relationships/slideLayout" Target="/ppt/slideLayouts/slideLayout1.xml" Id="rId1" /><Relationship Type="http://schemas.openxmlformats.org/officeDocument/2006/relationships/image" Target="/ppt/media/image55.png" Id="rId6" /><Relationship Type="http://schemas.openxmlformats.org/officeDocument/2006/relationships/image" Target="/ppt/media/image60.png" Id="rId11" /><Relationship Type="http://schemas.openxmlformats.org/officeDocument/2006/relationships/image" Target="/ppt/media/image73.png" Id="rId24" /><Relationship Type="http://schemas.openxmlformats.org/officeDocument/2006/relationships/image" Target="/ppt/media/image54.png" Id="rId5" /><Relationship Type="http://schemas.openxmlformats.org/officeDocument/2006/relationships/image" Target="/ppt/media/image64.png" Id="rId15" /><Relationship Type="http://schemas.openxmlformats.org/officeDocument/2006/relationships/image" Target="/ppt/media/image72.png" Id="rId23" /><Relationship Type="http://schemas.openxmlformats.org/officeDocument/2006/relationships/image" Target="/ppt/media/image77.png" Id="rId28" /><Relationship Type="http://schemas.openxmlformats.org/officeDocument/2006/relationships/image" Target="/ppt/media/image59.png" Id="rId10" /><Relationship Type="http://schemas.openxmlformats.org/officeDocument/2006/relationships/image" Target="/ppt/media/image68.png" Id="rId19" /><Relationship Type="http://schemas.openxmlformats.org/officeDocument/2006/relationships/image" Target="/ppt/media/image18.png" Id="rId4" /><Relationship Type="http://schemas.openxmlformats.org/officeDocument/2006/relationships/image" Target="/ppt/media/image58.png" Id="rId9" /><Relationship Type="http://schemas.openxmlformats.org/officeDocument/2006/relationships/image" Target="/ppt/media/image63.png" Id="rId14" /><Relationship Type="http://schemas.openxmlformats.org/officeDocument/2006/relationships/image" Target="/ppt/media/image71.png" Id="rId22" /><Relationship Type="http://schemas.openxmlformats.org/officeDocument/2006/relationships/image" Target="/ppt/media/image76.png" Id="rId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image" Target="/ppt/media/image82.png" Id="rId8" /><Relationship Type="http://schemas.openxmlformats.org/officeDocument/2006/relationships/image" Target="/ppt/media/image87.png" Id="rId13" /><Relationship Type="http://schemas.openxmlformats.org/officeDocument/2006/relationships/image" Target="/ppt/media/image78.png" Id="rId3" /><Relationship Type="http://schemas.openxmlformats.org/officeDocument/2006/relationships/image" Target="/ppt/media/image81.png" Id="rId7" /><Relationship Type="http://schemas.openxmlformats.org/officeDocument/2006/relationships/image" Target="/ppt/media/image86.png" Id="rId12" /><Relationship Type="http://schemas.openxmlformats.org/officeDocument/2006/relationships/notesSlide" Target="/ppt/notesSlides/notesSlide6.xml" Id="rId2" /><Relationship Type="http://schemas.openxmlformats.org/officeDocument/2006/relationships/slideLayout" Target="/ppt/slideLayouts/slideLayout1.xml" Id="rId1" /><Relationship Type="http://schemas.openxmlformats.org/officeDocument/2006/relationships/image" Target="/ppt/media/image80.png" Id="rId6" /><Relationship Type="http://schemas.openxmlformats.org/officeDocument/2006/relationships/image" Target="/ppt/media/image85.jpeg" Id="rId11" /><Relationship Type="http://schemas.openxmlformats.org/officeDocument/2006/relationships/image" Target="/ppt/media/image79.png" Id="rId5" /><Relationship Type="http://schemas.openxmlformats.org/officeDocument/2006/relationships/image" Target="/ppt/media/image84.png" Id="rId10" /><Relationship Type="http://schemas.openxmlformats.org/officeDocument/2006/relationships/image" Target="/ppt/media/image18.png" Id="rId4" /><Relationship Type="http://schemas.openxmlformats.org/officeDocument/2006/relationships/image" Target="/ppt/media/image83.png" Id="rI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image" Target="/ppt/media/image92.png" Id="rId8" /><Relationship Type="http://schemas.openxmlformats.org/officeDocument/2006/relationships/image" Target="/ppt/media/image97.png" Id="rId13" /><Relationship Type="http://schemas.openxmlformats.org/officeDocument/2006/relationships/image" Target="/ppt/media/image102.png" Id="rId18" /><Relationship Type="http://schemas.openxmlformats.org/officeDocument/2006/relationships/image" Target="/ppt/media/image110.png" Id="rId26" /><Relationship Type="http://schemas.openxmlformats.org/officeDocument/2006/relationships/image" Target="/ppt/media/image88.png" Id="rId3" /><Relationship Type="http://schemas.openxmlformats.org/officeDocument/2006/relationships/image" Target="/ppt/media/image105.png" Id="rId21" /><Relationship Type="http://schemas.openxmlformats.org/officeDocument/2006/relationships/image" Target="/ppt/media/image91.png" Id="rId7" /><Relationship Type="http://schemas.openxmlformats.org/officeDocument/2006/relationships/image" Target="/ppt/media/image96.png" Id="rId12" /><Relationship Type="http://schemas.openxmlformats.org/officeDocument/2006/relationships/image" Target="/ppt/media/image101.png" Id="rId17" /><Relationship Type="http://schemas.openxmlformats.org/officeDocument/2006/relationships/image" Target="/ppt/media/image109.png" Id="rId25" /><Relationship Type="http://schemas.openxmlformats.org/officeDocument/2006/relationships/notesSlide" Target="/ppt/notesSlides/notesSlide7.xml" Id="rId2" /><Relationship Type="http://schemas.openxmlformats.org/officeDocument/2006/relationships/image" Target="/ppt/media/image100.png" Id="rId16" /><Relationship Type="http://schemas.openxmlformats.org/officeDocument/2006/relationships/image" Target="/ppt/media/image104.png" Id="rId20" /><Relationship Type="http://schemas.openxmlformats.org/officeDocument/2006/relationships/image" Target="/ppt/media/image113.png" Id="rId29" /><Relationship Type="http://schemas.openxmlformats.org/officeDocument/2006/relationships/slideLayout" Target="/ppt/slideLayouts/slideLayout1.xml" Id="rId1" /><Relationship Type="http://schemas.openxmlformats.org/officeDocument/2006/relationships/image" Target="/ppt/media/image90.png" Id="rId6" /><Relationship Type="http://schemas.openxmlformats.org/officeDocument/2006/relationships/image" Target="/ppt/media/image95.png" Id="rId11" /><Relationship Type="http://schemas.openxmlformats.org/officeDocument/2006/relationships/image" Target="/ppt/media/image108.png" Id="rId24" /><Relationship Type="http://schemas.openxmlformats.org/officeDocument/2006/relationships/image" Target="/ppt/media/image89.png" Id="rId5" /><Relationship Type="http://schemas.openxmlformats.org/officeDocument/2006/relationships/image" Target="/ppt/media/image99.png" Id="rId15" /><Relationship Type="http://schemas.openxmlformats.org/officeDocument/2006/relationships/image" Target="/ppt/media/image107.png" Id="rId23" /><Relationship Type="http://schemas.openxmlformats.org/officeDocument/2006/relationships/image" Target="/ppt/media/image112.png" Id="rId28" /><Relationship Type="http://schemas.openxmlformats.org/officeDocument/2006/relationships/image" Target="/ppt/media/image94.png" Id="rId10" /><Relationship Type="http://schemas.openxmlformats.org/officeDocument/2006/relationships/image" Target="/ppt/media/image103.png" Id="rId19" /><Relationship Type="http://schemas.openxmlformats.org/officeDocument/2006/relationships/image" Target="/ppt/media/image18.png" Id="rId4" /><Relationship Type="http://schemas.openxmlformats.org/officeDocument/2006/relationships/image" Target="/ppt/media/image93.png" Id="rId9" /><Relationship Type="http://schemas.openxmlformats.org/officeDocument/2006/relationships/image" Target="/ppt/media/image98.png" Id="rId14" /><Relationship Type="http://schemas.openxmlformats.org/officeDocument/2006/relationships/image" Target="/ppt/media/image106.png" Id="rId22" /><Relationship Type="http://schemas.openxmlformats.org/officeDocument/2006/relationships/image" Target="/ppt/media/image111.png" Id="rId2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image" Target="/ppt/media/image117.png" Id="rId8" /><Relationship Type="http://schemas.openxmlformats.org/officeDocument/2006/relationships/image" Target="/ppt/media/image122.png" Id="rId13" /><Relationship Type="http://schemas.openxmlformats.org/officeDocument/2006/relationships/image" Target="/ppt/media/image46.png" Id="rId18" /><Relationship Type="http://schemas.openxmlformats.org/officeDocument/2006/relationships/image" Target="/ppt/media/image114.png" Id="rId3" /><Relationship Type="http://schemas.openxmlformats.org/officeDocument/2006/relationships/image" Target="/ppt/media/image129.png" Id="rId21" /><Relationship Type="http://schemas.openxmlformats.org/officeDocument/2006/relationships/image" Target="/ppt/media/image116.png" Id="rId7" /><Relationship Type="http://schemas.openxmlformats.org/officeDocument/2006/relationships/image" Target="/ppt/media/image121.png" Id="rId12" /><Relationship Type="http://schemas.openxmlformats.org/officeDocument/2006/relationships/image" Target="/ppt/media/image126.png" Id="rId17" /><Relationship Type="http://schemas.openxmlformats.org/officeDocument/2006/relationships/notesSlide" Target="/ppt/notesSlides/notesSlide8.xml" Id="rId2" /><Relationship Type="http://schemas.openxmlformats.org/officeDocument/2006/relationships/image" Target="/ppt/media/image125.png" Id="rId16" /><Relationship Type="http://schemas.openxmlformats.org/officeDocument/2006/relationships/image" Target="/ppt/media/image128.png" Id="rId20" /><Relationship Type="http://schemas.openxmlformats.org/officeDocument/2006/relationships/slideLayout" Target="/ppt/slideLayouts/slideLayout1.xml" Id="rId1" /><Relationship Type="http://schemas.openxmlformats.org/officeDocument/2006/relationships/image" Target="/ppt/media/image115.png" Id="rId6" /><Relationship Type="http://schemas.openxmlformats.org/officeDocument/2006/relationships/image" Target="/ppt/media/image120.png" Id="rId11" /><Relationship Type="http://schemas.openxmlformats.org/officeDocument/2006/relationships/image" Target="/ppt/media/image79.png" Id="rId5" /><Relationship Type="http://schemas.openxmlformats.org/officeDocument/2006/relationships/image" Target="/ppt/media/image124.png" Id="rId15" /><Relationship Type="http://schemas.openxmlformats.org/officeDocument/2006/relationships/image" Target="/ppt/media/image119.png" Id="rId10" /><Relationship Type="http://schemas.openxmlformats.org/officeDocument/2006/relationships/image" Target="/ppt/media/image127.png" Id="rId19" /><Relationship Type="http://schemas.openxmlformats.org/officeDocument/2006/relationships/image" Target="/ppt/media/image18.png" Id="rId4" /><Relationship Type="http://schemas.openxmlformats.org/officeDocument/2006/relationships/image" Target="/ppt/media/image118.png" Id="rId9" /><Relationship Type="http://schemas.openxmlformats.org/officeDocument/2006/relationships/image" Target="/ppt/media/image123.png" Id="rId14" /><Relationship Type="http://schemas.openxmlformats.org/officeDocument/2006/relationships/image" Target="/ppt/media/image130.png" Id="rId2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image" Target="/ppt/media/image134.png" Id="rId8" /><Relationship Type="http://schemas.openxmlformats.org/officeDocument/2006/relationships/image" Target="/ppt/media/image128.png" Id="rId13" /><Relationship Type="http://schemas.openxmlformats.org/officeDocument/2006/relationships/image" Target="/ppt/media/image131.png" Id="rId3" /><Relationship Type="http://schemas.openxmlformats.org/officeDocument/2006/relationships/image" Target="/ppt/media/image50.png" Id="rId7" /><Relationship Type="http://schemas.openxmlformats.org/officeDocument/2006/relationships/image" Target="/ppt/media/image138.png" Id="rId12" /><Relationship Type="http://schemas.openxmlformats.org/officeDocument/2006/relationships/notesSlide" Target="/ppt/notesSlides/notesSlide9.xml" Id="rId2" /><Relationship Type="http://schemas.openxmlformats.org/officeDocument/2006/relationships/slideLayout" Target="/ppt/slideLayouts/slideLayout1.xml" Id="rId1" /><Relationship Type="http://schemas.openxmlformats.org/officeDocument/2006/relationships/image" Target="/ppt/media/image133.png" Id="rId6" /><Relationship Type="http://schemas.openxmlformats.org/officeDocument/2006/relationships/image" Target="/ppt/media/image137.png" Id="rId11" /><Relationship Type="http://schemas.openxmlformats.org/officeDocument/2006/relationships/image" Target="/ppt/media/image132.png" Id="rId5" /><Relationship Type="http://schemas.openxmlformats.org/officeDocument/2006/relationships/image" Target="/ppt/media/image136.png" Id="rId10" /><Relationship Type="http://schemas.openxmlformats.org/officeDocument/2006/relationships/image" Target="/ppt/media/image18.png" Id="rId4" /><Relationship Type="http://schemas.openxmlformats.org/officeDocument/2006/relationships/image" Target="/ppt/media/image135.png" Id="rId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image" Target="/ppt/media/image128.png" Id="rId8" /><Relationship Type="http://schemas.openxmlformats.org/officeDocument/2006/relationships/image" Target="/ppt/media/image147.png" Id="rId13" /><Relationship Type="http://schemas.openxmlformats.org/officeDocument/2006/relationships/image" Target="/ppt/media/image139.png" Id="rId3" /><Relationship Type="http://schemas.openxmlformats.org/officeDocument/2006/relationships/image" Target="/ppt/media/image142.png" Id="rId7" /><Relationship Type="http://schemas.openxmlformats.org/officeDocument/2006/relationships/image" Target="/ppt/media/image146.png" Id="rId12" /><Relationship Type="http://schemas.openxmlformats.org/officeDocument/2006/relationships/notesSlide" Target="/ppt/notesSlides/notesSlide10.xml" Id="rId2" /><Relationship Type="http://schemas.openxmlformats.org/officeDocument/2006/relationships/slideLayout" Target="/ppt/slideLayouts/slideLayout1.xml" Id="rId1" /><Relationship Type="http://schemas.openxmlformats.org/officeDocument/2006/relationships/image" Target="/ppt/media/image141.png" Id="rId6" /><Relationship Type="http://schemas.openxmlformats.org/officeDocument/2006/relationships/image" Target="/ppt/media/image145.png" Id="rId11" /><Relationship Type="http://schemas.openxmlformats.org/officeDocument/2006/relationships/image" Target="/ppt/media/image140.png" Id="rId5" /><Relationship Type="http://schemas.openxmlformats.org/officeDocument/2006/relationships/image" Target="/ppt/media/image144.png" Id="rId10" /><Relationship Type="http://schemas.openxmlformats.org/officeDocument/2006/relationships/image" Target="/ppt/media/image18.png" Id="rId4" /><Relationship Type="http://schemas.openxmlformats.org/officeDocument/2006/relationships/image" Target="/ppt/media/image143.png" Id="rId9" /><Relationship Type="http://schemas.openxmlformats.org/officeDocument/2006/relationships/image" Target="/ppt/media/image148.png" Id="rId1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image" Target="/ppt/media/image153.png" Id="rId8" /><Relationship Type="http://schemas.openxmlformats.org/officeDocument/2006/relationships/image" Target="/ppt/media/image158.png" Id="rId13" /><Relationship Type="http://schemas.openxmlformats.org/officeDocument/2006/relationships/image" Target="/ppt/media/image163.png" Id="rId18" /><Relationship Type="http://schemas.openxmlformats.org/officeDocument/2006/relationships/image" Target="/ppt/media/image149.png" Id="rId3" /><Relationship Type="http://schemas.openxmlformats.org/officeDocument/2006/relationships/image" Target="/ppt/media/image166.png" Id="rId21" /><Relationship Type="http://schemas.openxmlformats.org/officeDocument/2006/relationships/image" Target="/ppt/media/image152.png" Id="rId7" /><Relationship Type="http://schemas.openxmlformats.org/officeDocument/2006/relationships/image" Target="/ppt/media/image157.png" Id="rId12" /><Relationship Type="http://schemas.openxmlformats.org/officeDocument/2006/relationships/image" Target="/ppt/media/image162.png" Id="rId17" /><Relationship Type="http://schemas.openxmlformats.org/officeDocument/2006/relationships/notesSlide" Target="/ppt/notesSlides/notesSlide11.xml" Id="rId2" /><Relationship Type="http://schemas.openxmlformats.org/officeDocument/2006/relationships/image" Target="/ppt/media/image161.png" Id="rId16" /><Relationship Type="http://schemas.openxmlformats.org/officeDocument/2006/relationships/image" Target="/ppt/media/image165.png" Id="rId20" /><Relationship Type="http://schemas.openxmlformats.org/officeDocument/2006/relationships/slideLayout" Target="/ppt/slideLayouts/slideLayout1.xml" Id="rId1" /><Relationship Type="http://schemas.openxmlformats.org/officeDocument/2006/relationships/image" Target="/ppt/media/image151.png" Id="rId6" /><Relationship Type="http://schemas.openxmlformats.org/officeDocument/2006/relationships/image" Target="/ppt/media/image156.png" Id="rId11" /><Relationship Type="http://schemas.openxmlformats.org/officeDocument/2006/relationships/image" Target="/ppt/media/image169.png" Id="rId24" /><Relationship Type="http://schemas.openxmlformats.org/officeDocument/2006/relationships/image" Target="/ppt/media/image150.png" Id="rId5" /><Relationship Type="http://schemas.openxmlformats.org/officeDocument/2006/relationships/image" Target="/ppt/media/image160.png" Id="rId15" /><Relationship Type="http://schemas.openxmlformats.org/officeDocument/2006/relationships/image" Target="/ppt/media/image168.png" Id="rId23" /><Relationship Type="http://schemas.openxmlformats.org/officeDocument/2006/relationships/image" Target="/ppt/media/image155.png" Id="rId10" /><Relationship Type="http://schemas.openxmlformats.org/officeDocument/2006/relationships/image" Target="/ppt/media/image164.png" Id="rId19" /><Relationship Type="http://schemas.openxmlformats.org/officeDocument/2006/relationships/image" Target="/ppt/media/image18.png" Id="rId4" /><Relationship Type="http://schemas.openxmlformats.org/officeDocument/2006/relationships/image" Target="/ppt/media/image154.png" Id="rId9" /><Relationship Type="http://schemas.openxmlformats.org/officeDocument/2006/relationships/image" Target="/ppt/media/image159.png" Id="rId14" /><Relationship Type="http://schemas.openxmlformats.org/officeDocument/2006/relationships/image" Target="/ppt/media/image167.png" Id="rId2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image" Target="/ppt/media/image174.png" Id="rId8" /><Relationship Type="http://schemas.openxmlformats.org/officeDocument/2006/relationships/image" Target="/ppt/media/image179.png" Id="rId13" /><Relationship Type="http://schemas.openxmlformats.org/officeDocument/2006/relationships/image" Target="/ppt/media/image184.png" Id="rId18" /><Relationship Type="http://schemas.openxmlformats.org/officeDocument/2006/relationships/image" Target="/ppt/media/image170.png" Id="rId3" /><Relationship Type="http://schemas.openxmlformats.org/officeDocument/2006/relationships/image" Target="/ppt/media/image187.png" Id="rId21" /><Relationship Type="http://schemas.openxmlformats.org/officeDocument/2006/relationships/image" Target="/ppt/media/image173.png" Id="rId7" /><Relationship Type="http://schemas.openxmlformats.org/officeDocument/2006/relationships/image" Target="/ppt/media/image178.png" Id="rId12" /><Relationship Type="http://schemas.openxmlformats.org/officeDocument/2006/relationships/image" Target="/ppt/media/image183.png" Id="rId17" /><Relationship Type="http://schemas.openxmlformats.org/officeDocument/2006/relationships/notesSlide" Target="/ppt/notesSlides/notesSlide12.xml" Id="rId2" /><Relationship Type="http://schemas.openxmlformats.org/officeDocument/2006/relationships/image" Target="/ppt/media/image182.png" Id="rId16" /><Relationship Type="http://schemas.openxmlformats.org/officeDocument/2006/relationships/image" Target="/ppt/media/image186.png" Id="rId20" /><Relationship Type="http://schemas.openxmlformats.org/officeDocument/2006/relationships/slideLayout" Target="/ppt/slideLayouts/slideLayout1.xml" Id="rId1" /><Relationship Type="http://schemas.openxmlformats.org/officeDocument/2006/relationships/image" Target="/ppt/media/image172.png" Id="rId6" /><Relationship Type="http://schemas.openxmlformats.org/officeDocument/2006/relationships/image" Target="/ppt/media/image177.png" Id="rId11" /><Relationship Type="http://schemas.openxmlformats.org/officeDocument/2006/relationships/image" Target="/ppt/media/image171.png" Id="rId5" /><Relationship Type="http://schemas.openxmlformats.org/officeDocument/2006/relationships/image" Target="/ppt/media/image181.png" Id="rId15" /><Relationship Type="http://schemas.openxmlformats.org/officeDocument/2006/relationships/image" Target="/ppt/media/image176.png" Id="rId10" /><Relationship Type="http://schemas.openxmlformats.org/officeDocument/2006/relationships/image" Target="/ppt/media/image185.png" Id="rId19" /><Relationship Type="http://schemas.openxmlformats.org/officeDocument/2006/relationships/image" Target="/ppt/media/image18.png" Id="rId4" /><Relationship Type="http://schemas.openxmlformats.org/officeDocument/2006/relationships/image" Target="/ppt/media/image175.png" Id="rId9" /><Relationship Type="http://schemas.openxmlformats.org/officeDocument/2006/relationships/image" Target="/ppt/media/image180.png" Id="rId1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image" Target="/ppt/media/image191.png" Id="rId8" /><Relationship Type="http://schemas.openxmlformats.org/officeDocument/2006/relationships/image" Target="/ppt/media/image196.png" Id="rId13" /><Relationship Type="http://schemas.openxmlformats.org/officeDocument/2006/relationships/image" Target="/ppt/media/image40.png" Id="rId18" /><Relationship Type="http://schemas.openxmlformats.org/officeDocument/2006/relationships/image" Target="/ppt/media/image1.png" Id="rId3" /><Relationship Type="http://schemas.openxmlformats.org/officeDocument/2006/relationships/image" Target="/ppt/media/image190.png" Id="rId7" /><Relationship Type="http://schemas.openxmlformats.org/officeDocument/2006/relationships/image" Target="/ppt/media/image195.png" Id="rId12" /><Relationship Type="http://schemas.openxmlformats.org/officeDocument/2006/relationships/image" Target="/ppt/media/image200.png" Id="rId17" /><Relationship Type="http://schemas.openxmlformats.org/officeDocument/2006/relationships/notesSlide" Target="/ppt/notesSlides/notesSlide13.xml" Id="rId2" /><Relationship Type="http://schemas.openxmlformats.org/officeDocument/2006/relationships/image" Target="/ppt/media/image199.png" Id="rId16" /><Relationship Type="http://schemas.openxmlformats.org/officeDocument/2006/relationships/slideLayout" Target="/ppt/slideLayouts/slideLayout1.xml" Id="rId1" /><Relationship Type="http://schemas.openxmlformats.org/officeDocument/2006/relationships/image" Target="/ppt/media/image10.png" Id="rId6" /><Relationship Type="http://schemas.openxmlformats.org/officeDocument/2006/relationships/image" Target="/ppt/media/image194.png" Id="rId11" /><Relationship Type="http://schemas.openxmlformats.org/officeDocument/2006/relationships/image" Target="/ppt/media/image189.png" Id="rId5" /><Relationship Type="http://schemas.openxmlformats.org/officeDocument/2006/relationships/image" Target="/ppt/media/image198.png" Id="rId15" /><Relationship Type="http://schemas.openxmlformats.org/officeDocument/2006/relationships/image" Target="/ppt/media/image193.png" Id="rId10" /><Relationship Type="http://schemas.openxmlformats.org/officeDocument/2006/relationships/image" Target="/ppt/media/image201.png" Id="rId19" /><Relationship Type="http://schemas.openxmlformats.org/officeDocument/2006/relationships/image" Target="/ppt/media/image188.png" Id="rId4" /><Relationship Type="http://schemas.openxmlformats.org/officeDocument/2006/relationships/image" Target="/ppt/media/image192.png" Id="rId9" /><Relationship Type="http://schemas.openxmlformats.org/officeDocument/2006/relationships/image" Target="/ppt/media/image197.png" Id="rId14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678" y="207120"/>
            <a:ext cx="1826643" cy="1717723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1800" y="5210175"/>
            <a:ext cx="1219200" cy="12668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33700" y="1371600"/>
            <a:ext cx="723900" cy="381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33800" y="1371600"/>
            <a:ext cx="723900" cy="762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33900" y="1371600"/>
            <a:ext cx="723900" cy="1143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0" y="1371600"/>
            <a:ext cx="723900" cy="190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34100" y="1371600"/>
            <a:ext cx="723900" cy="571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34200" y="1371600"/>
            <a:ext cx="723900" cy="952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86400" y="3009900"/>
            <a:ext cx="1219200" cy="381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895600" y="4572000"/>
            <a:ext cx="6400800" cy="914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098453" y="4800600"/>
            <a:ext cx="171450" cy="1905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86564" y="5067300"/>
            <a:ext cx="171450" cy="190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0" y="6286500"/>
            <a:ext cx="12192000" cy="266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125200" y="1714500"/>
            <a:ext cx="457200" cy="4762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9600" y="4667250"/>
            <a:ext cx="571500" cy="47625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2575560" y="2286000"/>
            <a:ext cx="70408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3840" b="1" kern="0" spc="-9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Coffee Data Analysis</a:t>
            </a:r>
            <a:endParaRPr lang="en-US" sz="3840" dirty="0"/>
          </a:p>
        </p:txBody>
      </p:sp>
      <p:sp>
        <p:nvSpPr>
          <p:cNvPr id="19" name="Text 1"/>
          <p:cNvSpPr/>
          <p:nvPr/>
        </p:nvSpPr>
        <p:spPr>
          <a:xfrm>
            <a:off x="2575560" y="3200400"/>
            <a:ext cx="70408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426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Transforming</a:t>
            </a:r>
            <a:r>
              <a:rPr lang="en-US" sz="2426" dirty="0">
                <a:solidFill>
                  <a:srgbClr val="D4A37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</a:t>
            </a:r>
            <a:r>
              <a:rPr lang="en-US" sz="2426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into</a:t>
            </a:r>
            <a:r>
              <a:rPr lang="en-US" sz="2426" dirty="0">
                <a:solidFill>
                  <a:srgbClr val="D4A37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Experiences</a:t>
            </a:r>
            <a:endParaRPr lang="en-US" sz="2426" dirty="0"/>
          </a:p>
        </p:txBody>
      </p:sp>
      <p:sp>
        <p:nvSpPr>
          <p:cNvPr id="20" name="Text 2"/>
          <p:cNvSpPr/>
          <p:nvPr/>
        </p:nvSpPr>
        <p:spPr>
          <a:xfrm>
            <a:off x="2575560" y="3886200"/>
            <a:ext cx="7040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646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By Makhloufi Mahdi</a:t>
            </a:r>
            <a:endParaRPr lang="en-US" sz="1646" dirty="0"/>
          </a:p>
        </p:txBody>
      </p:sp>
      <p:sp>
        <p:nvSpPr>
          <p:cNvPr id="21" name="Text 3"/>
          <p:cNvSpPr/>
          <p:nvPr/>
        </p:nvSpPr>
        <p:spPr>
          <a:xfrm>
            <a:off x="3086100" y="4762500"/>
            <a:ext cx="6019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8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Imagine a Monday morning at Hell's Kitchen café, where by 9:15 AM revenue hits</a:t>
            </a:r>
            <a:r>
              <a:rPr lang="en-US" sz="1380" b="1" dirty="0">
                <a:solidFill>
                  <a:srgbClr val="D4A37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€1,500 per hour</a:t>
            </a:r>
            <a:endParaRPr lang="en-US" sz="13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7343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9144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333500"/>
            <a:ext cx="5181600" cy="3200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1562100"/>
            <a:ext cx="228600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4762500"/>
            <a:ext cx="5181600" cy="24003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4991100"/>
            <a:ext cx="22860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1333500"/>
            <a:ext cx="5181600" cy="58293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29400" y="2057400"/>
            <a:ext cx="4724400" cy="4419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29400" y="6629400"/>
            <a:ext cx="4724400" cy="304800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609600" y="457200"/>
            <a:ext cx="1207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26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Problem –</a:t>
            </a:r>
            <a:r>
              <a:rPr lang="en-US" sz="2426" b="1" dirty="0">
                <a:solidFill>
                  <a:srgbClr val="D4A37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Missed Opportunities</a:t>
            </a:r>
            <a:endParaRPr lang="en-US" sz="2426" dirty="0"/>
          </a:p>
        </p:txBody>
      </p:sp>
      <p:sp>
        <p:nvSpPr>
          <p:cNvPr id="12" name="Text 1"/>
          <p:cNvSpPr/>
          <p:nvPr/>
        </p:nvSpPr>
        <p:spPr>
          <a:xfrm>
            <a:off x="1219200" y="1562100"/>
            <a:ext cx="201446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lang="en-US" sz="1646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Challenge</a:t>
            </a:r>
            <a:endParaRPr lang="en-US" sz="1646" dirty="0"/>
          </a:p>
        </p:txBody>
      </p:sp>
      <p:sp>
        <p:nvSpPr>
          <p:cNvPr id="13" name="Text 2"/>
          <p:cNvSpPr/>
          <p:nvPr/>
        </p:nvSpPr>
        <p:spPr>
          <a:xfrm>
            <a:off x="838200" y="2019300"/>
            <a:ext cx="47244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26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While the morning rush at Hell's Kitchen café generates impressive revenue, the hours following 11:30 AM present a considerable challenge with sales declining dramatically.</a:t>
            </a:r>
            <a:endParaRPr lang="en-US" sz="1260" dirty="0"/>
          </a:p>
        </p:txBody>
      </p:sp>
      <p:sp>
        <p:nvSpPr>
          <p:cNvPr id="14" name="Text 3"/>
          <p:cNvSpPr/>
          <p:nvPr/>
        </p:nvSpPr>
        <p:spPr>
          <a:xfrm>
            <a:off x="838200" y="3238500"/>
            <a:ext cx="47244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26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This stark contrast highlights a critical question:</a:t>
            </a:r>
            <a:r>
              <a:rPr lang="en-US" sz="1260" b="1" dirty="0">
                <a:solidFill>
                  <a:srgbClr val="D4A37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How can we effectively maximize sales and enhance the customer experience throughout the entire day?</a:t>
            </a:r>
            <a:endParaRPr lang="en-US" sz="1260" dirty="0"/>
          </a:p>
        </p:txBody>
      </p:sp>
      <p:sp>
        <p:nvSpPr>
          <p:cNvPr id="15" name="Text 4"/>
          <p:cNvSpPr/>
          <p:nvPr/>
        </p:nvSpPr>
        <p:spPr>
          <a:xfrm>
            <a:off x="1219200" y="4991100"/>
            <a:ext cx="202690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lang="en-US" sz="1646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Evidence</a:t>
            </a:r>
            <a:endParaRPr lang="en-US" sz="1646" dirty="0"/>
          </a:p>
        </p:txBody>
      </p:sp>
      <p:sp>
        <p:nvSpPr>
          <p:cNvPr id="16" name="Text 5"/>
          <p:cNvSpPr/>
          <p:nvPr/>
        </p:nvSpPr>
        <p:spPr>
          <a:xfrm>
            <a:off x="952500" y="5448300"/>
            <a:ext cx="50711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26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Morning peak revenue:</a:t>
            </a:r>
            <a:r>
              <a:rPr lang="en-US" sz="126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€1,500/hour</a:t>
            </a:r>
            <a:r>
              <a:rPr lang="en-US" sz="126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at 11:18 AM</a:t>
            </a:r>
            <a:endParaRPr lang="en-US" sz="1260" dirty="0"/>
          </a:p>
        </p:txBody>
      </p:sp>
      <p:sp>
        <p:nvSpPr>
          <p:cNvPr id="17" name="Text 6"/>
          <p:cNvSpPr/>
          <p:nvPr/>
        </p:nvSpPr>
        <p:spPr>
          <a:xfrm>
            <a:off x="952500" y="5791200"/>
            <a:ext cx="46101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26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Afternoon revenue consistently falls</a:t>
            </a:r>
            <a:r>
              <a:rPr lang="en-US" sz="126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below €400/hour</a:t>
            </a:r>
            <a:endParaRPr lang="en-US" sz="1260" dirty="0"/>
          </a:p>
        </p:txBody>
      </p:sp>
      <p:sp>
        <p:nvSpPr>
          <p:cNvPr id="18" name="Text 7"/>
          <p:cNvSpPr/>
          <p:nvPr/>
        </p:nvSpPr>
        <p:spPr>
          <a:xfrm>
            <a:off x="952500" y="6400800"/>
            <a:ext cx="46101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26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Underutilized products during off-peak times suggest missed cross-selling opportunities</a:t>
            </a:r>
            <a:endParaRPr lang="en-US" sz="1260" dirty="0"/>
          </a:p>
        </p:txBody>
      </p:sp>
      <p:sp>
        <p:nvSpPr>
          <p:cNvPr id="19" name="Text 8"/>
          <p:cNvSpPr/>
          <p:nvPr/>
        </p:nvSpPr>
        <p:spPr>
          <a:xfrm>
            <a:off x="6393180" y="1562100"/>
            <a:ext cx="51968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Revenue Contrast: Morning vs. Afternoon</a:t>
            </a:r>
            <a:endParaRPr lang="en-US" sz="1380" dirty="0"/>
          </a:p>
        </p:txBody>
      </p:sp>
      <p:sp>
        <p:nvSpPr>
          <p:cNvPr id="20" name="Text 9"/>
          <p:cNvSpPr/>
          <p:nvPr/>
        </p:nvSpPr>
        <p:spPr>
          <a:xfrm>
            <a:off x="828675" y="7353300"/>
            <a:ext cx="644939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Transforming these slower periods into valuable opportunities is key to business growth</a:t>
            </a:r>
            <a:endParaRPr lang="en-US" sz="9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9144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" y="2786360"/>
            <a:ext cx="10972800" cy="190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4772" y="2171700"/>
            <a:ext cx="571500" cy="571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27647" y="2305050"/>
            <a:ext cx="28575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9200" y="3228975"/>
            <a:ext cx="2102644" cy="19109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74244" y="2643485"/>
            <a:ext cx="142875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35091" y="2171700"/>
            <a:ext cx="571500" cy="571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20828" y="2305050"/>
            <a:ext cx="200025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69519" y="3228975"/>
            <a:ext cx="2102644" cy="19109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24563" y="2643485"/>
            <a:ext cx="142875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85409" y="2171700"/>
            <a:ext cx="571500" cy="5715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9838" y="3228975"/>
            <a:ext cx="2102644" cy="191095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74881" y="2643485"/>
            <a:ext cx="142875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35728" y="2171700"/>
            <a:ext cx="571500" cy="5715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92891" y="2305050"/>
            <a:ext cx="257175" cy="304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70156" y="3228975"/>
            <a:ext cx="2102644" cy="191095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" y="3801070"/>
            <a:ext cx="2571750" cy="2438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0100" y="4039195"/>
            <a:ext cx="219075" cy="1714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09950" y="3801070"/>
            <a:ext cx="2571750" cy="2438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600450" y="4039195"/>
            <a:ext cx="152400" cy="17145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10300" y="3801070"/>
            <a:ext cx="2571750" cy="2438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10650" y="3801070"/>
            <a:ext cx="2571750" cy="2438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01150" y="4039195"/>
            <a:ext cx="190500" cy="17145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9600" y="6438900"/>
            <a:ext cx="142875" cy="2667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8675" y="6477000"/>
            <a:ext cx="5505450" cy="190500"/>
          </a:xfrm>
          <a:prstGeom prst="rect">
            <a:avLst/>
          </a:prstGeom>
        </p:spPr>
      </p:pic>
      <p:sp>
        <p:nvSpPr>
          <p:cNvPr id="28" name="Text 0"/>
          <p:cNvSpPr/>
          <p:nvPr/>
        </p:nvSpPr>
        <p:spPr>
          <a:xfrm>
            <a:off x="609600" y="457200"/>
            <a:ext cx="1207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26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&amp; Methodology –</a:t>
            </a:r>
            <a:r>
              <a:rPr lang="en-US" sz="2426" b="1" dirty="0">
                <a:solidFill>
                  <a:srgbClr val="D4A37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Our Analytical Approach</a:t>
            </a:r>
            <a:endParaRPr lang="en-US" sz="2426" dirty="0"/>
          </a:p>
        </p:txBody>
      </p:sp>
      <p:sp>
        <p:nvSpPr>
          <p:cNvPr id="29" name="Text 1"/>
          <p:cNvSpPr/>
          <p:nvPr/>
        </p:nvSpPr>
        <p:spPr>
          <a:xfrm>
            <a:off x="609600" y="1333500"/>
            <a:ext cx="10972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8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To transform coffee sales data into actionable insights, we implemented a comprehensive analytical workflow using specialized tools</a:t>
            </a:r>
            <a:endParaRPr lang="en-US" sz="1380" dirty="0"/>
          </a:p>
        </p:txBody>
      </p:sp>
      <p:sp>
        <p:nvSpPr>
          <p:cNvPr id="30" name="Text 2"/>
          <p:cNvSpPr/>
          <p:nvPr/>
        </p:nvSpPr>
        <p:spPr>
          <a:xfrm>
            <a:off x="1114068" y="2886075"/>
            <a:ext cx="23129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Alteryx</a:t>
            </a:r>
            <a:endParaRPr lang="en-US" sz="1380" dirty="0"/>
          </a:p>
        </p:txBody>
      </p:sp>
      <p:sp>
        <p:nvSpPr>
          <p:cNvPr id="31" name="Text 3"/>
          <p:cNvSpPr/>
          <p:nvPr/>
        </p:nvSpPr>
        <p:spPr>
          <a:xfrm>
            <a:off x="3664387" y="2886075"/>
            <a:ext cx="23129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SQL</a:t>
            </a:r>
            <a:endParaRPr lang="en-US" sz="1380" dirty="0"/>
          </a:p>
        </p:txBody>
      </p:sp>
      <p:sp>
        <p:nvSpPr>
          <p:cNvPr id="32" name="Text 4"/>
          <p:cNvSpPr/>
          <p:nvPr/>
        </p:nvSpPr>
        <p:spPr>
          <a:xfrm>
            <a:off x="6214705" y="2886075"/>
            <a:ext cx="23129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PySpark</a:t>
            </a:r>
            <a:endParaRPr lang="en-US" sz="1380" dirty="0"/>
          </a:p>
        </p:txBody>
      </p:sp>
      <p:sp>
        <p:nvSpPr>
          <p:cNvPr id="33" name="Text 5"/>
          <p:cNvSpPr/>
          <p:nvPr/>
        </p:nvSpPr>
        <p:spPr>
          <a:xfrm>
            <a:off x="8765024" y="2886075"/>
            <a:ext cx="23129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Looker Studio</a:t>
            </a:r>
            <a:endParaRPr lang="en-US" sz="1380" dirty="0"/>
          </a:p>
        </p:txBody>
      </p:sp>
      <p:sp>
        <p:nvSpPr>
          <p:cNvPr id="34" name="Text 6"/>
          <p:cNvSpPr/>
          <p:nvPr/>
        </p:nvSpPr>
        <p:spPr>
          <a:xfrm>
            <a:off x="1095375" y="3991570"/>
            <a:ext cx="2409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Alteryx</a:t>
            </a:r>
            <a:endParaRPr lang="en-US" sz="1260" dirty="0"/>
          </a:p>
        </p:txBody>
      </p:sp>
      <p:sp>
        <p:nvSpPr>
          <p:cNvPr id="35" name="Text 7"/>
          <p:cNvSpPr/>
          <p:nvPr/>
        </p:nvSpPr>
        <p:spPr>
          <a:xfrm>
            <a:off x="800100" y="4334470"/>
            <a:ext cx="2409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8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Cleaned raw sales data</a:t>
            </a:r>
            <a:endParaRPr lang="en-US" sz="980" dirty="0"/>
          </a:p>
        </p:txBody>
      </p:sp>
      <p:sp>
        <p:nvSpPr>
          <p:cNvPr id="36" name="Text 8"/>
          <p:cNvSpPr/>
          <p:nvPr/>
        </p:nvSpPr>
        <p:spPr>
          <a:xfrm>
            <a:off x="800100" y="4524970"/>
            <a:ext cx="2190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8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Converted storeID and productID into usable formats</a:t>
            </a:r>
            <a:endParaRPr lang="en-US" sz="980" dirty="0"/>
          </a:p>
        </p:txBody>
      </p:sp>
      <p:sp>
        <p:nvSpPr>
          <p:cNvPr id="37" name="Text 9"/>
          <p:cNvSpPr/>
          <p:nvPr/>
        </p:nvSpPr>
        <p:spPr>
          <a:xfrm>
            <a:off x="800100" y="4905970"/>
            <a:ext cx="2409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8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Removed irrelevant columns</a:t>
            </a:r>
            <a:endParaRPr lang="en-US" sz="980" dirty="0"/>
          </a:p>
        </p:txBody>
      </p:sp>
      <p:sp>
        <p:nvSpPr>
          <p:cNvPr id="38" name="Text 10"/>
          <p:cNvSpPr/>
          <p:nvPr/>
        </p:nvSpPr>
        <p:spPr>
          <a:xfrm>
            <a:off x="800100" y="5096470"/>
            <a:ext cx="2190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8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Streamlined dataset for analysis</a:t>
            </a:r>
            <a:endParaRPr lang="en-US" sz="980" dirty="0"/>
          </a:p>
        </p:txBody>
      </p:sp>
      <p:sp>
        <p:nvSpPr>
          <p:cNvPr id="39" name="Text 11"/>
          <p:cNvSpPr/>
          <p:nvPr/>
        </p:nvSpPr>
        <p:spPr>
          <a:xfrm>
            <a:off x="3829050" y="3991570"/>
            <a:ext cx="2409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SQL</a:t>
            </a:r>
            <a:endParaRPr lang="en-US" sz="1260" dirty="0"/>
          </a:p>
        </p:txBody>
      </p:sp>
      <p:sp>
        <p:nvSpPr>
          <p:cNvPr id="40" name="Text 12"/>
          <p:cNvSpPr/>
          <p:nvPr/>
        </p:nvSpPr>
        <p:spPr>
          <a:xfrm>
            <a:off x="3600450" y="4334470"/>
            <a:ext cx="2190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8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Calculated weekly revenue trends</a:t>
            </a:r>
            <a:endParaRPr lang="en-US" sz="980" dirty="0"/>
          </a:p>
        </p:txBody>
      </p:sp>
      <p:sp>
        <p:nvSpPr>
          <p:cNvPr id="41" name="Text 13"/>
          <p:cNvSpPr/>
          <p:nvPr/>
        </p:nvSpPr>
        <p:spPr>
          <a:xfrm>
            <a:off x="3600450" y="4715470"/>
            <a:ext cx="2190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8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Identified top-performing products</a:t>
            </a:r>
            <a:endParaRPr lang="en-US" sz="980" dirty="0"/>
          </a:p>
        </p:txBody>
      </p:sp>
      <p:sp>
        <p:nvSpPr>
          <p:cNvPr id="42" name="Text 14"/>
          <p:cNvSpPr/>
          <p:nvPr/>
        </p:nvSpPr>
        <p:spPr>
          <a:xfrm>
            <a:off x="3600450" y="5096470"/>
            <a:ext cx="2409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8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Conducted Pareto analysis</a:t>
            </a:r>
            <a:endParaRPr lang="en-US" sz="980" dirty="0"/>
          </a:p>
        </p:txBody>
      </p:sp>
      <p:sp>
        <p:nvSpPr>
          <p:cNvPr id="43" name="Text 15"/>
          <p:cNvSpPr/>
          <p:nvPr/>
        </p:nvSpPr>
        <p:spPr>
          <a:xfrm>
            <a:off x="3600450" y="5286970"/>
            <a:ext cx="2190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8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Pinpointed key products and categories</a:t>
            </a:r>
            <a:endParaRPr lang="en-US" sz="980" dirty="0"/>
          </a:p>
        </p:txBody>
      </p:sp>
      <p:sp>
        <p:nvSpPr>
          <p:cNvPr id="44" name="Text 16"/>
          <p:cNvSpPr/>
          <p:nvPr/>
        </p:nvSpPr>
        <p:spPr>
          <a:xfrm>
            <a:off x="6477000" y="3991570"/>
            <a:ext cx="2409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PySpark</a:t>
            </a:r>
            <a:endParaRPr lang="en-US" sz="1260" dirty="0"/>
          </a:p>
        </p:txBody>
      </p:sp>
      <p:sp>
        <p:nvSpPr>
          <p:cNvPr id="45" name="Text 17"/>
          <p:cNvSpPr/>
          <p:nvPr/>
        </p:nvSpPr>
        <p:spPr>
          <a:xfrm>
            <a:off x="6400800" y="4334470"/>
            <a:ext cx="2190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8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Identified correlations between data points</a:t>
            </a:r>
            <a:endParaRPr lang="en-US" sz="980" dirty="0"/>
          </a:p>
        </p:txBody>
      </p:sp>
      <p:sp>
        <p:nvSpPr>
          <p:cNvPr id="46" name="Text 18"/>
          <p:cNvSpPr/>
          <p:nvPr/>
        </p:nvSpPr>
        <p:spPr>
          <a:xfrm>
            <a:off x="6400800" y="4715470"/>
            <a:ext cx="2190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8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Performed regression analysis</a:t>
            </a:r>
            <a:endParaRPr lang="en-US" sz="980" dirty="0"/>
          </a:p>
        </p:txBody>
      </p:sp>
      <p:sp>
        <p:nvSpPr>
          <p:cNvPr id="47" name="Text 19"/>
          <p:cNvSpPr/>
          <p:nvPr/>
        </p:nvSpPr>
        <p:spPr>
          <a:xfrm>
            <a:off x="6400800" y="5096470"/>
            <a:ext cx="2190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8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Conducted time series analysis</a:t>
            </a:r>
            <a:endParaRPr lang="en-US" sz="980" dirty="0"/>
          </a:p>
        </p:txBody>
      </p:sp>
      <p:sp>
        <p:nvSpPr>
          <p:cNvPr id="48" name="Text 20"/>
          <p:cNvSpPr/>
          <p:nvPr/>
        </p:nvSpPr>
        <p:spPr>
          <a:xfrm>
            <a:off x="6400800" y="5477470"/>
            <a:ext cx="2190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8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Enabled scalable computation for large datasets</a:t>
            </a:r>
            <a:endParaRPr lang="en-US" sz="980" dirty="0"/>
          </a:p>
        </p:txBody>
      </p:sp>
      <p:sp>
        <p:nvSpPr>
          <p:cNvPr id="49" name="Text 21"/>
          <p:cNvSpPr/>
          <p:nvPr/>
        </p:nvSpPr>
        <p:spPr>
          <a:xfrm>
            <a:off x="9467850" y="3991570"/>
            <a:ext cx="2409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Looker Studio</a:t>
            </a:r>
            <a:endParaRPr lang="en-US" sz="1260" dirty="0"/>
          </a:p>
        </p:txBody>
      </p:sp>
      <p:sp>
        <p:nvSpPr>
          <p:cNvPr id="50" name="Text 22"/>
          <p:cNvSpPr/>
          <p:nvPr/>
        </p:nvSpPr>
        <p:spPr>
          <a:xfrm>
            <a:off x="9201150" y="4334470"/>
            <a:ext cx="2190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8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Created interactive dashboards</a:t>
            </a:r>
            <a:endParaRPr lang="en-US" sz="980" dirty="0"/>
          </a:p>
        </p:txBody>
      </p:sp>
      <p:sp>
        <p:nvSpPr>
          <p:cNvPr id="51" name="Text 23"/>
          <p:cNvSpPr/>
          <p:nvPr/>
        </p:nvSpPr>
        <p:spPr>
          <a:xfrm>
            <a:off x="9201150" y="4715470"/>
            <a:ext cx="2190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8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Incorporated filters for product type, category</a:t>
            </a:r>
            <a:endParaRPr lang="en-US" sz="980" dirty="0"/>
          </a:p>
        </p:txBody>
      </p:sp>
      <p:sp>
        <p:nvSpPr>
          <p:cNvPr id="52" name="Text 24"/>
          <p:cNvSpPr/>
          <p:nvPr/>
        </p:nvSpPr>
        <p:spPr>
          <a:xfrm>
            <a:off x="9201150" y="5096470"/>
            <a:ext cx="2190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8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Added store location and date range filters</a:t>
            </a:r>
            <a:endParaRPr lang="en-US" sz="980" dirty="0"/>
          </a:p>
        </p:txBody>
      </p:sp>
      <p:sp>
        <p:nvSpPr>
          <p:cNvPr id="53" name="Text 25"/>
          <p:cNvSpPr/>
          <p:nvPr/>
        </p:nvSpPr>
        <p:spPr>
          <a:xfrm>
            <a:off x="9201150" y="5477470"/>
            <a:ext cx="2190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8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Enabled exploration of tailored insights</a:t>
            </a:r>
            <a:endParaRPr lang="en-US" sz="9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9144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333500"/>
            <a:ext cx="3505200" cy="1752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1524000"/>
            <a:ext cx="228600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44985" y="2628900"/>
            <a:ext cx="171450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1333500"/>
            <a:ext cx="3505200" cy="1752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33900" y="1524000"/>
            <a:ext cx="228600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4364" y="2628900"/>
            <a:ext cx="171450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7200" y="1333500"/>
            <a:ext cx="3505200" cy="1752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67700" y="1524000"/>
            <a:ext cx="228600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72277" y="2628900"/>
            <a:ext cx="238125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3314700"/>
            <a:ext cx="10972800" cy="4343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84021" y="3619500"/>
            <a:ext cx="114300" cy="1143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79545" y="3619500"/>
            <a:ext cx="114300" cy="1143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013305" y="3619500"/>
            <a:ext cx="114300" cy="1143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8200" y="3962400"/>
            <a:ext cx="10515600" cy="285750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609600" y="457200"/>
            <a:ext cx="1207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26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Insights –</a:t>
            </a:r>
            <a:r>
              <a:rPr lang="en-US" sz="2426" b="1" dirty="0">
                <a:solidFill>
                  <a:srgbClr val="D4A37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Revenue Peaks and Valleys</a:t>
            </a:r>
            <a:endParaRPr lang="en-US" sz="2426" dirty="0"/>
          </a:p>
        </p:txBody>
      </p:sp>
      <p:sp>
        <p:nvSpPr>
          <p:cNvPr id="19" name="Text 1"/>
          <p:cNvSpPr/>
          <p:nvPr/>
        </p:nvSpPr>
        <p:spPr>
          <a:xfrm>
            <a:off x="1143000" y="1543050"/>
            <a:ext cx="16721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Peak Revenue</a:t>
            </a:r>
            <a:endParaRPr lang="en-US" sz="1380" dirty="0"/>
          </a:p>
        </p:txBody>
      </p:sp>
      <p:sp>
        <p:nvSpPr>
          <p:cNvPr id="20" name="Text 2"/>
          <p:cNvSpPr/>
          <p:nvPr/>
        </p:nvSpPr>
        <p:spPr>
          <a:xfrm>
            <a:off x="800100" y="1943100"/>
            <a:ext cx="34366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January 7-9 consistently generated:</a:t>
            </a:r>
            <a:endParaRPr lang="en-US" sz="1120" dirty="0"/>
          </a:p>
        </p:txBody>
      </p:sp>
      <p:sp>
        <p:nvSpPr>
          <p:cNvPr id="21" name="Text 3"/>
          <p:cNvSpPr/>
          <p:nvPr/>
        </p:nvSpPr>
        <p:spPr>
          <a:xfrm>
            <a:off x="643890" y="2247900"/>
            <a:ext cx="34366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646" b="1" dirty="0">
                <a:solidFill>
                  <a:srgbClr val="D4A37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€1,500/hour</a:t>
            </a:r>
            <a:endParaRPr lang="en-US" sz="1646" dirty="0"/>
          </a:p>
        </p:txBody>
      </p:sp>
      <p:sp>
        <p:nvSpPr>
          <p:cNvPr id="22" name="Text 4"/>
          <p:cNvSpPr/>
          <p:nvPr/>
        </p:nvSpPr>
        <p:spPr>
          <a:xfrm>
            <a:off x="1792635" y="2628900"/>
            <a:ext cx="15254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3-day peak period</a:t>
            </a:r>
            <a:endParaRPr lang="en-US" sz="1120" dirty="0"/>
          </a:p>
        </p:txBody>
      </p:sp>
      <p:sp>
        <p:nvSpPr>
          <p:cNvPr id="23" name="Text 5"/>
          <p:cNvSpPr/>
          <p:nvPr/>
        </p:nvSpPr>
        <p:spPr>
          <a:xfrm>
            <a:off x="4876800" y="1543050"/>
            <a:ext cx="15667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Low Revenue</a:t>
            </a:r>
            <a:endParaRPr lang="en-US" sz="1380" dirty="0"/>
          </a:p>
        </p:txBody>
      </p:sp>
      <p:sp>
        <p:nvSpPr>
          <p:cNvPr id="24" name="Text 6"/>
          <p:cNvSpPr/>
          <p:nvPr/>
        </p:nvSpPr>
        <p:spPr>
          <a:xfrm>
            <a:off x="4533900" y="1943100"/>
            <a:ext cx="34366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January 13 &amp; 25 saw:</a:t>
            </a:r>
            <a:endParaRPr lang="en-US" sz="1120" dirty="0"/>
          </a:p>
        </p:txBody>
      </p:sp>
      <p:sp>
        <p:nvSpPr>
          <p:cNvPr id="25" name="Text 7"/>
          <p:cNvSpPr/>
          <p:nvPr/>
        </p:nvSpPr>
        <p:spPr>
          <a:xfrm>
            <a:off x="4377690" y="2247900"/>
            <a:ext cx="34366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646" b="1" dirty="0">
                <a:solidFill>
                  <a:srgbClr val="D4A37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€250-400/hour</a:t>
            </a:r>
            <a:endParaRPr lang="en-US" sz="1646" dirty="0"/>
          </a:p>
        </p:txBody>
      </p:sp>
      <p:sp>
        <p:nvSpPr>
          <p:cNvPr id="26" name="Text 8"/>
          <p:cNvSpPr/>
          <p:nvPr/>
        </p:nvSpPr>
        <p:spPr>
          <a:xfrm>
            <a:off x="5402014" y="2628900"/>
            <a:ext cx="17990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Significant sales drop</a:t>
            </a:r>
            <a:endParaRPr lang="en-US" sz="1120" dirty="0"/>
          </a:p>
        </p:txBody>
      </p:sp>
      <p:sp>
        <p:nvSpPr>
          <p:cNvPr id="27" name="Text 9"/>
          <p:cNvSpPr/>
          <p:nvPr/>
        </p:nvSpPr>
        <p:spPr>
          <a:xfrm>
            <a:off x="8610600" y="1543050"/>
            <a:ext cx="15986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Golden Hours</a:t>
            </a:r>
            <a:endParaRPr lang="en-US" sz="1380" dirty="0"/>
          </a:p>
        </p:txBody>
      </p:sp>
      <p:sp>
        <p:nvSpPr>
          <p:cNvPr id="28" name="Text 10"/>
          <p:cNvSpPr/>
          <p:nvPr/>
        </p:nvSpPr>
        <p:spPr>
          <a:xfrm>
            <a:off x="8267700" y="1943100"/>
            <a:ext cx="34366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Most profitable time:</a:t>
            </a:r>
            <a:endParaRPr lang="en-US" sz="1120" dirty="0"/>
          </a:p>
        </p:txBody>
      </p:sp>
      <p:sp>
        <p:nvSpPr>
          <p:cNvPr id="29" name="Text 11"/>
          <p:cNvSpPr/>
          <p:nvPr/>
        </p:nvSpPr>
        <p:spPr>
          <a:xfrm>
            <a:off x="8111490" y="2247900"/>
            <a:ext cx="34366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646" b="1" dirty="0">
                <a:solidFill>
                  <a:srgbClr val="D4A37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9:00-11:30 AM</a:t>
            </a:r>
            <a:endParaRPr lang="en-US" sz="1646" dirty="0"/>
          </a:p>
        </p:txBody>
      </p:sp>
      <p:sp>
        <p:nvSpPr>
          <p:cNvPr id="30" name="Text 12"/>
          <p:cNvSpPr/>
          <p:nvPr/>
        </p:nvSpPr>
        <p:spPr>
          <a:xfrm>
            <a:off x="9486602" y="2628900"/>
            <a:ext cx="11007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Morning rush</a:t>
            </a:r>
            <a:endParaRPr lang="en-US" sz="1120" dirty="0"/>
          </a:p>
        </p:txBody>
      </p:sp>
      <p:sp>
        <p:nvSpPr>
          <p:cNvPr id="31" name="Text 13"/>
          <p:cNvSpPr/>
          <p:nvPr/>
        </p:nvSpPr>
        <p:spPr>
          <a:xfrm>
            <a:off x="838200" y="3543300"/>
            <a:ext cx="35805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January Revenue Performance</a:t>
            </a:r>
            <a:endParaRPr lang="en-US" sz="1380" dirty="0"/>
          </a:p>
        </p:txBody>
      </p:sp>
      <p:sp>
        <p:nvSpPr>
          <p:cNvPr id="32" name="Text 14"/>
          <p:cNvSpPr/>
          <p:nvPr/>
        </p:nvSpPr>
        <p:spPr>
          <a:xfrm>
            <a:off x="8045946" y="3562350"/>
            <a:ext cx="8697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Peak Days</a:t>
            </a:r>
            <a:endParaRPr lang="en-US" sz="1120" dirty="0"/>
          </a:p>
        </p:txBody>
      </p:sp>
      <p:sp>
        <p:nvSpPr>
          <p:cNvPr id="33" name="Text 15"/>
          <p:cNvSpPr/>
          <p:nvPr/>
        </p:nvSpPr>
        <p:spPr>
          <a:xfrm>
            <a:off x="9141470" y="3562350"/>
            <a:ext cx="801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Low Days</a:t>
            </a:r>
            <a:endParaRPr lang="en-US" sz="1120" dirty="0"/>
          </a:p>
        </p:txBody>
      </p:sp>
      <p:sp>
        <p:nvSpPr>
          <p:cNvPr id="34" name="Text 16"/>
          <p:cNvSpPr/>
          <p:nvPr/>
        </p:nvSpPr>
        <p:spPr>
          <a:xfrm>
            <a:off x="10175230" y="3562350"/>
            <a:ext cx="1139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Golden Hours</a:t>
            </a:r>
            <a:endParaRPr lang="en-US" sz="1120" dirty="0"/>
          </a:p>
        </p:txBody>
      </p:sp>
      <p:sp>
        <p:nvSpPr>
          <p:cNvPr id="35" name="Text 17"/>
          <p:cNvSpPr/>
          <p:nvPr/>
        </p:nvSpPr>
        <p:spPr>
          <a:xfrm>
            <a:off x="838200" y="69723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Insight:</a:t>
            </a:r>
            <a:r>
              <a:rPr lang="en-US" sz="112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café experiences consistent patterns in daily revenue, with significant opportunities during the morning rush that decline dramatically in the afternoon.</a:t>
            </a:r>
            <a:endParaRPr lang="en-US" sz="1120" dirty="0"/>
          </a:p>
        </p:txBody>
      </p:sp>
      <p:sp>
        <p:nvSpPr>
          <p:cNvPr id="36" name="Text 18"/>
          <p:cNvSpPr/>
          <p:nvPr/>
        </p:nvSpPr>
        <p:spPr>
          <a:xfrm>
            <a:off x="876300" y="7848600"/>
            <a:ext cx="682920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Understanding these patterns is the first step toward optimizing revenue throughout the day</a:t>
            </a:r>
            <a:endParaRPr lang="en-US" sz="9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651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9144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362075"/>
            <a:ext cx="257175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790700"/>
            <a:ext cx="6278761" cy="762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1943100"/>
            <a:ext cx="457200" cy="457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1538" y="2038350"/>
            <a:ext cx="238125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71600" y="2209800"/>
            <a:ext cx="2466975" cy="190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84639" y="2085975"/>
            <a:ext cx="17145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04607" y="2085975"/>
            <a:ext cx="17145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4575" y="2085975"/>
            <a:ext cx="17145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44543" y="2085975"/>
            <a:ext cx="17145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64511" y="2085975"/>
            <a:ext cx="17145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2705100"/>
            <a:ext cx="6278761" cy="762744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2857798"/>
            <a:ext cx="457200" cy="4572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1538" y="2953048"/>
            <a:ext cx="238125" cy="266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71600" y="3124200"/>
            <a:ext cx="2085975" cy="191244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84639" y="3000673"/>
            <a:ext cx="17145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04607" y="3000673"/>
            <a:ext cx="17145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4575" y="3000673"/>
            <a:ext cx="17145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44543" y="3000673"/>
            <a:ext cx="17145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64511" y="3000673"/>
            <a:ext cx="17145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3620244"/>
            <a:ext cx="6278761" cy="7620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2000" y="3772644"/>
            <a:ext cx="457200" cy="4572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1538" y="3867894"/>
            <a:ext cx="238125" cy="2667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71600" y="4039344"/>
            <a:ext cx="2628900" cy="1905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84639" y="3915519"/>
            <a:ext cx="17145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04607" y="3915519"/>
            <a:ext cx="171450" cy="152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4575" y="3915519"/>
            <a:ext cx="17145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44543" y="3915519"/>
            <a:ext cx="171450" cy="1524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64511" y="3915519"/>
            <a:ext cx="171450" cy="1524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4534644"/>
            <a:ext cx="6278761" cy="7620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2000" y="4687044"/>
            <a:ext cx="457200" cy="4572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1538" y="4782294"/>
            <a:ext cx="238125" cy="2667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371600" y="4953744"/>
            <a:ext cx="2486025" cy="1905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84639" y="4829919"/>
            <a:ext cx="171450" cy="1524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04607" y="4829919"/>
            <a:ext cx="171450" cy="15240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4575" y="4829919"/>
            <a:ext cx="171450" cy="15240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44543" y="4829919"/>
            <a:ext cx="171450" cy="152400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64511" y="4829919"/>
            <a:ext cx="171450" cy="152400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5449044"/>
            <a:ext cx="6278761" cy="762595"/>
          </a:xfrm>
          <a:prstGeom prst="rect">
            <a:avLst/>
          </a:prstGeom>
        </p:spPr>
      </p:pic>
      <p:pic>
        <p:nvPicPr>
          <p:cNvPr id="42" name="Image 4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62000" y="5601742"/>
            <a:ext cx="457200" cy="457200"/>
          </a:xfrm>
          <a:prstGeom prst="rect">
            <a:avLst/>
          </a:prstGeom>
        </p:spPr>
      </p:pic>
      <p:pic>
        <p:nvPicPr>
          <p:cNvPr id="43" name="Image 4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95350" y="5696992"/>
            <a:ext cx="190500" cy="266700"/>
          </a:xfrm>
          <a:prstGeom prst="rect">
            <a:avLst/>
          </a:prstGeom>
        </p:spPr>
      </p:pic>
      <p:pic>
        <p:nvPicPr>
          <p:cNvPr id="44" name="Image 4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371600" y="5868144"/>
            <a:ext cx="2505075" cy="191095"/>
          </a:xfrm>
          <a:prstGeom prst="rect">
            <a:avLst/>
          </a:prstGeom>
        </p:spPr>
      </p:pic>
      <p:pic>
        <p:nvPicPr>
          <p:cNvPr id="45" name="Image 4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84639" y="5744617"/>
            <a:ext cx="171450" cy="152400"/>
          </a:xfrm>
          <a:prstGeom prst="rect">
            <a:avLst/>
          </a:prstGeom>
        </p:spPr>
      </p:pic>
      <p:pic>
        <p:nvPicPr>
          <p:cNvPr id="46" name="Image 4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04607" y="5744617"/>
            <a:ext cx="171450" cy="152400"/>
          </a:xfrm>
          <a:prstGeom prst="rect">
            <a:avLst/>
          </a:prstGeom>
        </p:spPr>
      </p:pic>
      <p:pic>
        <p:nvPicPr>
          <p:cNvPr id="47" name="Image 4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4575" y="5744617"/>
            <a:ext cx="171450" cy="152400"/>
          </a:xfrm>
          <a:prstGeom prst="rect">
            <a:avLst/>
          </a:prstGeom>
        </p:spPr>
      </p:pic>
      <p:pic>
        <p:nvPicPr>
          <p:cNvPr id="48" name="Image 4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44543" y="5744617"/>
            <a:ext cx="171450" cy="152400"/>
          </a:xfrm>
          <a:prstGeom prst="rect">
            <a:avLst/>
          </a:prstGeom>
        </p:spPr>
      </p:pic>
      <p:pic>
        <p:nvPicPr>
          <p:cNvPr id="49" name="Image 4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64511" y="5744617"/>
            <a:ext cx="171450" cy="152400"/>
          </a:xfrm>
          <a:prstGeom prst="rect">
            <a:avLst/>
          </a:prstGeom>
        </p:spPr>
      </p:pic>
      <p:pic>
        <p:nvPicPr>
          <p:cNvPr id="50" name="Image 48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497961" y="1333500"/>
            <a:ext cx="4084290" cy="4960144"/>
          </a:xfrm>
          <a:prstGeom prst="rect">
            <a:avLst/>
          </a:prstGeom>
        </p:spPr>
      </p:pic>
      <p:pic>
        <p:nvPicPr>
          <p:cNvPr id="51" name="Image 49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726561" y="1590675"/>
            <a:ext cx="257175" cy="228600"/>
          </a:xfrm>
          <a:prstGeom prst="rect">
            <a:avLst/>
          </a:prstGeom>
        </p:spPr>
      </p:pic>
      <p:pic>
        <p:nvPicPr>
          <p:cNvPr id="52" name="Image 50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744569" y="2019300"/>
            <a:ext cx="3590925" cy="2712244"/>
          </a:xfrm>
          <a:prstGeom prst="rect">
            <a:avLst/>
          </a:prstGeom>
        </p:spPr>
      </p:pic>
      <p:pic>
        <p:nvPicPr>
          <p:cNvPr id="53" name="Image 51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726561" y="5569744"/>
            <a:ext cx="152400" cy="152400"/>
          </a:xfrm>
          <a:prstGeom prst="rect">
            <a:avLst/>
          </a:prstGeom>
        </p:spPr>
      </p:pic>
      <p:pic>
        <p:nvPicPr>
          <p:cNvPr id="54" name="Image 52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726561" y="5874544"/>
            <a:ext cx="152400" cy="152400"/>
          </a:xfrm>
          <a:prstGeom prst="rect">
            <a:avLst/>
          </a:prstGeom>
        </p:spPr>
      </p:pic>
      <p:pic>
        <p:nvPicPr>
          <p:cNvPr id="55" name="Image 53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09600" y="6446044"/>
            <a:ext cx="142875" cy="266700"/>
          </a:xfrm>
          <a:prstGeom prst="rect">
            <a:avLst/>
          </a:prstGeom>
        </p:spPr>
      </p:pic>
      <p:pic>
        <p:nvPicPr>
          <p:cNvPr id="56" name="Image 54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28675" y="6484144"/>
            <a:ext cx="6000750" cy="190500"/>
          </a:xfrm>
          <a:prstGeom prst="rect">
            <a:avLst/>
          </a:prstGeom>
        </p:spPr>
      </p:pic>
      <p:sp>
        <p:nvSpPr>
          <p:cNvPr id="57" name="Text 0"/>
          <p:cNvSpPr/>
          <p:nvPr/>
        </p:nvSpPr>
        <p:spPr>
          <a:xfrm>
            <a:off x="609600" y="457200"/>
            <a:ext cx="1207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26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Star Products –</a:t>
            </a:r>
            <a:r>
              <a:rPr lang="en-US" sz="2426" b="1" dirty="0">
                <a:solidFill>
                  <a:srgbClr val="D4A37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Customer Favorites</a:t>
            </a:r>
            <a:endParaRPr lang="en-US" sz="2426" dirty="0"/>
          </a:p>
        </p:txBody>
      </p:sp>
      <p:sp>
        <p:nvSpPr>
          <p:cNvPr id="58" name="Text 1"/>
          <p:cNvSpPr/>
          <p:nvPr/>
        </p:nvSpPr>
        <p:spPr>
          <a:xfrm>
            <a:off x="942975" y="1333500"/>
            <a:ext cx="690663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lang="en-US" sz="1646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Top 5 Selling Products</a:t>
            </a:r>
            <a:endParaRPr lang="en-US" sz="1646" dirty="0"/>
          </a:p>
        </p:txBody>
      </p:sp>
      <p:sp>
        <p:nvSpPr>
          <p:cNvPr id="59" name="Text 2"/>
          <p:cNvSpPr/>
          <p:nvPr/>
        </p:nvSpPr>
        <p:spPr>
          <a:xfrm>
            <a:off x="1371600" y="1943100"/>
            <a:ext cx="27136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Latte Rg</a:t>
            </a:r>
            <a:endParaRPr lang="en-US" sz="1380" dirty="0"/>
          </a:p>
        </p:txBody>
      </p:sp>
      <p:sp>
        <p:nvSpPr>
          <p:cNvPr id="60" name="Text 3"/>
          <p:cNvSpPr/>
          <p:nvPr/>
        </p:nvSpPr>
        <p:spPr>
          <a:xfrm>
            <a:off x="1371600" y="2857500"/>
            <a:ext cx="22945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Latte</a:t>
            </a:r>
            <a:endParaRPr lang="en-US" sz="1380" dirty="0"/>
          </a:p>
        </p:txBody>
      </p:sp>
      <p:sp>
        <p:nvSpPr>
          <p:cNvPr id="61" name="Text 4"/>
          <p:cNvSpPr/>
          <p:nvPr/>
        </p:nvSpPr>
        <p:spPr>
          <a:xfrm>
            <a:off x="1371600" y="3772644"/>
            <a:ext cx="28917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Cappuccino</a:t>
            </a:r>
            <a:endParaRPr lang="en-US" sz="1380" dirty="0"/>
          </a:p>
        </p:txBody>
      </p:sp>
      <p:sp>
        <p:nvSpPr>
          <p:cNvPr id="62" name="Text 5"/>
          <p:cNvSpPr/>
          <p:nvPr/>
        </p:nvSpPr>
        <p:spPr>
          <a:xfrm>
            <a:off x="1371600" y="4687044"/>
            <a:ext cx="27346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Brazilian Coffee</a:t>
            </a:r>
            <a:endParaRPr lang="en-US" sz="1380" dirty="0"/>
          </a:p>
        </p:txBody>
      </p:sp>
      <p:sp>
        <p:nvSpPr>
          <p:cNvPr id="63" name="Text 6"/>
          <p:cNvSpPr/>
          <p:nvPr/>
        </p:nvSpPr>
        <p:spPr>
          <a:xfrm>
            <a:off x="1371600" y="5601444"/>
            <a:ext cx="275558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Sustainable Coffee</a:t>
            </a:r>
            <a:endParaRPr lang="en-US" sz="1380" dirty="0"/>
          </a:p>
        </p:txBody>
      </p:sp>
      <p:sp>
        <p:nvSpPr>
          <p:cNvPr id="64" name="Text 7"/>
          <p:cNvSpPr/>
          <p:nvPr/>
        </p:nvSpPr>
        <p:spPr>
          <a:xfrm>
            <a:off x="8059936" y="1562100"/>
            <a:ext cx="398979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lang="en-US" sz="1646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Pareto Principle</a:t>
            </a:r>
            <a:endParaRPr lang="en-US" sz="1646" dirty="0"/>
          </a:p>
        </p:txBody>
      </p:sp>
      <p:sp>
        <p:nvSpPr>
          <p:cNvPr id="65" name="Text 8"/>
          <p:cNvSpPr/>
          <p:nvPr/>
        </p:nvSpPr>
        <p:spPr>
          <a:xfrm>
            <a:off x="7726561" y="4883944"/>
            <a:ext cx="362709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260" b="1" dirty="0">
                <a:solidFill>
                  <a:srgbClr val="D4A37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20%</a:t>
            </a:r>
            <a:r>
              <a:rPr lang="en-US" sz="126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of products generate</a:t>
            </a:r>
            <a:r>
              <a:rPr lang="en-US" sz="1260" b="1" dirty="0">
                <a:solidFill>
                  <a:srgbClr val="D4A37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80%</a:t>
            </a:r>
            <a:r>
              <a:rPr lang="en-US" sz="126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of revenue</a:t>
            </a:r>
            <a:endParaRPr lang="en-US" sz="1260" dirty="0"/>
          </a:p>
        </p:txBody>
      </p:sp>
      <p:sp>
        <p:nvSpPr>
          <p:cNvPr id="66" name="Text 9"/>
          <p:cNvSpPr/>
          <p:nvPr/>
        </p:nvSpPr>
        <p:spPr>
          <a:xfrm>
            <a:off x="7955161" y="5531644"/>
            <a:ext cx="16249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Top products (20%)</a:t>
            </a:r>
            <a:endParaRPr lang="en-US" sz="1120" dirty="0"/>
          </a:p>
        </p:txBody>
      </p:sp>
      <p:sp>
        <p:nvSpPr>
          <p:cNvPr id="67" name="Text 10"/>
          <p:cNvSpPr/>
          <p:nvPr/>
        </p:nvSpPr>
        <p:spPr>
          <a:xfrm>
            <a:off x="7955161" y="5836444"/>
            <a:ext cx="22323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Remaining products (80%)</a:t>
            </a:r>
            <a:endParaRPr lang="en-US" sz="11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91059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9144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333500"/>
            <a:ext cx="5181600" cy="72009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1981200"/>
            <a:ext cx="4724400" cy="4876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1333500"/>
            <a:ext cx="5181600" cy="1447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1300" y="1524000"/>
            <a:ext cx="28575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2933700"/>
            <a:ext cx="5181600" cy="24003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91300" y="3371850"/>
            <a:ext cx="228600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93486" y="3676650"/>
            <a:ext cx="1276350" cy="914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800" y="5486400"/>
            <a:ext cx="5181600" cy="1676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91300" y="5676900"/>
            <a:ext cx="228600" cy="304800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609600" y="457200"/>
            <a:ext cx="1207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26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Categories &amp; Opportunities –</a:t>
            </a:r>
            <a:r>
              <a:rPr lang="en-US" sz="2426" b="1" dirty="0">
                <a:solidFill>
                  <a:srgbClr val="D4A37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Beyond Coffee</a:t>
            </a:r>
            <a:endParaRPr lang="en-US" sz="2426" dirty="0"/>
          </a:p>
        </p:txBody>
      </p:sp>
      <p:sp>
        <p:nvSpPr>
          <p:cNvPr id="14" name="Text 1"/>
          <p:cNvSpPr/>
          <p:nvPr/>
        </p:nvSpPr>
        <p:spPr>
          <a:xfrm>
            <a:off x="601980" y="1562100"/>
            <a:ext cx="51968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Revenue by Category</a:t>
            </a:r>
            <a:endParaRPr lang="en-US" sz="1380" dirty="0"/>
          </a:p>
        </p:txBody>
      </p:sp>
      <p:sp>
        <p:nvSpPr>
          <p:cNvPr id="15" name="Text 2"/>
          <p:cNvSpPr/>
          <p:nvPr/>
        </p:nvSpPr>
        <p:spPr>
          <a:xfrm>
            <a:off x="838200" y="7924800"/>
            <a:ext cx="4724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Coffee dominates revenue, but other categories present opportunities for growth</a:t>
            </a:r>
            <a:endParaRPr lang="en-US" sz="980" dirty="0"/>
          </a:p>
        </p:txBody>
      </p:sp>
      <p:sp>
        <p:nvSpPr>
          <p:cNvPr id="16" name="Text 3"/>
          <p:cNvSpPr/>
          <p:nvPr/>
        </p:nvSpPr>
        <p:spPr>
          <a:xfrm>
            <a:off x="6991350" y="1543050"/>
            <a:ext cx="33514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Coffee: Core Revenue Driver</a:t>
            </a:r>
            <a:endParaRPr lang="en-US" sz="1380" dirty="0"/>
          </a:p>
        </p:txBody>
      </p:sp>
      <p:sp>
        <p:nvSpPr>
          <p:cNvPr id="17" name="Text 4"/>
          <p:cNvSpPr/>
          <p:nvPr/>
        </p:nvSpPr>
        <p:spPr>
          <a:xfrm>
            <a:off x="6591300" y="190500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This category remains the primary revenue driver, forming the foundation of the café's sales. Its consistent performance underscores its importance as the core offering.</a:t>
            </a:r>
            <a:endParaRPr lang="en-US" sz="1120" dirty="0"/>
          </a:p>
        </p:txBody>
      </p:sp>
      <p:sp>
        <p:nvSpPr>
          <p:cNvPr id="18" name="Text 5"/>
          <p:cNvSpPr/>
          <p:nvPr/>
        </p:nvSpPr>
        <p:spPr>
          <a:xfrm>
            <a:off x="6934200" y="3124200"/>
            <a:ext cx="2537371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Bakery &amp; Chocolate: Cross-Selling Opportunities</a:t>
            </a:r>
            <a:endParaRPr lang="en-US" sz="1380" dirty="0"/>
          </a:p>
        </p:txBody>
      </p:sp>
      <p:sp>
        <p:nvSpPr>
          <p:cNvPr id="19" name="Text 6"/>
          <p:cNvSpPr/>
          <p:nvPr/>
        </p:nvSpPr>
        <p:spPr>
          <a:xfrm>
            <a:off x="6591300" y="4000500"/>
            <a:ext cx="2880271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These categories are identified as prime opportunities for cross-selling. Pairing coffee with pastries or chocolate items can increase the average transaction value.</a:t>
            </a:r>
            <a:endParaRPr lang="en-US" sz="1120" dirty="0"/>
          </a:p>
        </p:txBody>
      </p:sp>
      <p:sp>
        <p:nvSpPr>
          <p:cNvPr id="20" name="Text 7"/>
          <p:cNvSpPr/>
          <p:nvPr/>
        </p:nvSpPr>
        <p:spPr>
          <a:xfrm>
            <a:off x="6934200" y="5695950"/>
            <a:ext cx="268387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Beans: Niche Potential</a:t>
            </a:r>
            <a:endParaRPr lang="en-US" sz="1380" dirty="0"/>
          </a:p>
        </p:txBody>
      </p:sp>
      <p:sp>
        <p:nvSpPr>
          <p:cNvPr id="21" name="Text 8"/>
          <p:cNvSpPr/>
          <p:nvPr/>
        </p:nvSpPr>
        <p:spPr>
          <a:xfrm>
            <a:off x="6591300" y="605790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Coffee beans represent a niche product, primarily appealing to loyal customers and coffee enthusiasts who prefer to brew at home. Promoting these high-margin items can cater to a dedicated segment.</a:t>
            </a:r>
            <a:endParaRPr lang="en-US" sz="1120" dirty="0"/>
          </a:p>
        </p:txBody>
      </p:sp>
      <p:sp>
        <p:nvSpPr>
          <p:cNvPr id="22" name="Text 9"/>
          <p:cNvSpPr/>
          <p:nvPr/>
        </p:nvSpPr>
        <p:spPr>
          <a:xfrm>
            <a:off x="6848475" y="7486650"/>
            <a:ext cx="16511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Strategic Insight:</a:t>
            </a:r>
            <a:endParaRPr lang="en-US" sz="1120" dirty="0"/>
          </a:p>
        </p:txBody>
      </p:sp>
      <p:sp>
        <p:nvSpPr>
          <p:cNvPr id="23" name="Text 10"/>
          <p:cNvSpPr/>
          <p:nvPr/>
        </p:nvSpPr>
        <p:spPr>
          <a:xfrm>
            <a:off x="6591300" y="7810500"/>
            <a:ext cx="48387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Implementing targeted cross-selling strategies between these categories can significantly boost average transaction value and enhance customer experience.</a:t>
            </a:r>
            <a:endParaRPr lang="en-US" sz="980" dirty="0"/>
          </a:p>
        </p:txBody>
      </p:sp>
      <p:sp>
        <p:nvSpPr>
          <p:cNvPr id="24" name="Text 11"/>
          <p:cNvSpPr/>
          <p:nvPr/>
        </p:nvSpPr>
        <p:spPr>
          <a:xfrm>
            <a:off x="904875" y="8724900"/>
            <a:ext cx="597004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 stacked bar chart would effectively visualize revenue broken down by category</a:t>
            </a:r>
            <a:endParaRPr lang="en-US" sz="9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835342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9144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1333500"/>
            <a:ext cx="3352800" cy="51911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5025" y="1562100"/>
            <a:ext cx="666750" cy="723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95525" y="1752600"/>
            <a:ext cx="285750" cy="342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0600" y="2962275"/>
            <a:ext cx="2895600" cy="609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4900" y="3095625"/>
            <a:ext cx="123825" cy="1333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29061" y="3286125"/>
            <a:ext cx="123825" cy="1333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0600" y="3762375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0600" y="4333875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0600" y="4676775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0600" y="5534025"/>
            <a:ext cx="2895600" cy="762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0600" y="5934075"/>
            <a:ext cx="171450" cy="1333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19600" y="1333500"/>
            <a:ext cx="3352800" cy="5191125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81675" y="1562100"/>
            <a:ext cx="628650" cy="7239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72175" y="1752600"/>
            <a:ext cx="247650" cy="342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648200" y="2962275"/>
            <a:ext cx="2895600" cy="6096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762500" y="3095625"/>
            <a:ext cx="123825" cy="1333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988397" y="3286125"/>
            <a:ext cx="123825" cy="1333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648200" y="3762375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648200" y="4333875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648200" y="4676775"/>
            <a:ext cx="15240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48200" y="5534025"/>
            <a:ext cx="2895600" cy="7620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648200" y="5934075"/>
            <a:ext cx="133350" cy="13335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077200" y="1333500"/>
            <a:ext cx="3352800" cy="5191125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382125" y="1562100"/>
            <a:ext cx="742950" cy="7239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572625" y="1752600"/>
            <a:ext cx="361950" cy="3429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05800" y="2962275"/>
            <a:ext cx="2895600" cy="6096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420100" y="3095625"/>
            <a:ext cx="123825" cy="13335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801671" y="3286125"/>
            <a:ext cx="123825" cy="13335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305800" y="3762375"/>
            <a:ext cx="152400" cy="1524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305800" y="4333875"/>
            <a:ext cx="152400" cy="1524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305800" y="4905375"/>
            <a:ext cx="152400" cy="1524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05800" y="5534025"/>
            <a:ext cx="2895600" cy="7620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305800" y="5934075"/>
            <a:ext cx="171450" cy="13335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09600" y="6753225"/>
            <a:ext cx="10972800" cy="952500"/>
          </a:xfrm>
          <a:prstGeom prst="rect">
            <a:avLst/>
          </a:prstGeom>
        </p:spPr>
      </p:pic>
      <p:sp>
        <p:nvSpPr>
          <p:cNvPr id="38" name="Text 0"/>
          <p:cNvSpPr/>
          <p:nvPr/>
        </p:nvSpPr>
        <p:spPr>
          <a:xfrm>
            <a:off x="609600" y="457200"/>
            <a:ext cx="1207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26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Customer Personas –</a:t>
            </a:r>
            <a:r>
              <a:rPr lang="en-US" sz="2426" b="1" dirty="0">
                <a:solidFill>
                  <a:srgbClr val="D4A37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People Behind the Data</a:t>
            </a:r>
            <a:endParaRPr lang="en-US" sz="2426" dirty="0"/>
          </a:p>
        </p:txBody>
      </p:sp>
      <p:sp>
        <p:nvSpPr>
          <p:cNvPr id="39" name="Text 1"/>
          <p:cNvSpPr/>
          <p:nvPr/>
        </p:nvSpPr>
        <p:spPr>
          <a:xfrm>
            <a:off x="1071414" y="2428875"/>
            <a:ext cx="273397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646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Morning Commuter</a:t>
            </a:r>
            <a:endParaRPr lang="en-US" sz="1646" dirty="0"/>
          </a:p>
        </p:txBody>
      </p:sp>
      <p:sp>
        <p:nvSpPr>
          <p:cNvPr id="40" name="Text 2"/>
          <p:cNvSpPr/>
          <p:nvPr/>
        </p:nvSpPr>
        <p:spPr>
          <a:xfrm>
            <a:off x="1304925" y="3076575"/>
            <a:ext cx="266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Speed and efficiency are essential for my morning routine</a:t>
            </a:r>
            <a:endParaRPr lang="en-US" sz="980" dirty="0"/>
          </a:p>
        </p:txBody>
      </p:sp>
      <p:sp>
        <p:nvSpPr>
          <p:cNvPr id="41" name="Text 3"/>
          <p:cNvSpPr/>
          <p:nvPr/>
        </p:nvSpPr>
        <p:spPr>
          <a:xfrm>
            <a:off x="1219200" y="3724275"/>
            <a:ext cx="266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Seeks quick, high-quality coffee for workday energy</a:t>
            </a:r>
            <a:endParaRPr lang="en-US" sz="1120" dirty="0"/>
          </a:p>
        </p:txBody>
      </p:sp>
      <p:sp>
        <p:nvSpPr>
          <p:cNvPr id="42" name="Text 4"/>
          <p:cNvSpPr/>
          <p:nvPr/>
        </p:nvSpPr>
        <p:spPr>
          <a:xfrm>
            <a:off x="1219200" y="4295775"/>
            <a:ext cx="2662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Defaults to Latte or Cappuccino</a:t>
            </a:r>
            <a:endParaRPr lang="en-US" sz="1120" dirty="0"/>
          </a:p>
        </p:txBody>
      </p:sp>
      <p:sp>
        <p:nvSpPr>
          <p:cNvPr id="43" name="Text 5"/>
          <p:cNvSpPr/>
          <p:nvPr/>
        </p:nvSpPr>
        <p:spPr>
          <a:xfrm>
            <a:off x="1219200" y="4638675"/>
            <a:ext cx="266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Prioritizes efficiency in ordering and service</a:t>
            </a:r>
            <a:endParaRPr lang="en-US" sz="1120" dirty="0"/>
          </a:p>
        </p:txBody>
      </p:sp>
      <p:sp>
        <p:nvSpPr>
          <p:cNvPr id="44" name="Text 6"/>
          <p:cNvSpPr/>
          <p:nvPr/>
        </p:nvSpPr>
        <p:spPr>
          <a:xfrm>
            <a:off x="990600" y="5686425"/>
            <a:ext cx="31851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Preference:</a:t>
            </a:r>
            <a:endParaRPr lang="en-US" sz="980" dirty="0"/>
          </a:p>
        </p:txBody>
      </p:sp>
      <p:sp>
        <p:nvSpPr>
          <p:cNvPr id="45" name="Text 7"/>
          <p:cNvSpPr/>
          <p:nvPr/>
        </p:nvSpPr>
        <p:spPr>
          <a:xfrm>
            <a:off x="1238250" y="5915025"/>
            <a:ext cx="2895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Quick, strong coffee to fuel the workday</a:t>
            </a:r>
            <a:endParaRPr lang="en-US" sz="980" dirty="0"/>
          </a:p>
        </p:txBody>
      </p:sp>
      <p:sp>
        <p:nvSpPr>
          <p:cNvPr id="46" name="Text 8"/>
          <p:cNvSpPr/>
          <p:nvPr/>
        </p:nvSpPr>
        <p:spPr>
          <a:xfrm>
            <a:off x="4775999" y="2428875"/>
            <a:ext cx="264000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646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Afternoon Student</a:t>
            </a:r>
            <a:endParaRPr lang="en-US" sz="1646" dirty="0"/>
          </a:p>
        </p:txBody>
      </p:sp>
      <p:sp>
        <p:nvSpPr>
          <p:cNvPr id="47" name="Text 9"/>
          <p:cNvSpPr/>
          <p:nvPr/>
        </p:nvSpPr>
        <p:spPr>
          <a:xfrm>
            <a:off x="4962525" y="3076575"/>
            <a:ext cx="266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 need a relaxed environment for study and leisure</a:t>
            </a:r>
            <a:endParaRPr lang="en-US" sz="980" dirty="0"/>
          </a:p>
        </p:txBody>
      </p:sp>
      <p:sp>
        <p:nvSpPr>
          <p:cNvPr id="48" name="Text 10"/>
          <p:cNvSpPr/>
          <p:nvPr/>
        </p:nvSpPr>
        <p:spPr>
          <a:xfrm>
            <a:off x="4876800" y="3724275"/>
            <a:ext cx="266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Focused on relaxation and conducive study environment</a:t>
            </a:r>
            <a:endParaRPr lang="en-US" sz="1120" dirty="0"/>
          </a:p>
        </p:txBody>
      </p:sp>
      <p:sp>
        <p:nvSpPr>
          <p:cNvPr id="49" name="Text 11"/>
          <p:cNvSpPr/>
          <p:nvPr/>
        </p:nvSpPr>
        <p:spPr>
          <a:xfrm>
            <a:off x="4876800" y="4295775"/>
            <a:ext cx="28729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Often opts for Tea or Bakery items</a:t>
            </a:r>
            <a:endParaRPr lang="en-US" sz="1120" dirty="0"/>
          </a:p>
        </p:txBody>
      </p:sp>
      <p:sp>
        <p:nvSpPr>
          <p:cNvPr id="50" name="Text 12"/>
          <p:cNvSpPr/>
          <p:nvPr/>
        </p:nvSpPr>
        <p:spPr>
          <a:xfrm>
            <a:off x="4876800" y="4638675"/>
            <a:ext cx="266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Values comfortable space to unwind or be productive</a:t>
            </a:r>
            <a:endParaRPr lang="en-US" sz="1120" dirty="0"/>
          </a:p>
        </p:txBody>
      </p:sp>
      <p:sp>
        <p:nvSpPr>
          <p:cNvPr id="51" name="Text 13"/>
          <p:cNvSpPr/>
          <p:nvPr/>
        </p:nvSpPr>
        <p:spPr>
          <a:xfrm>
            <a:off x="4648200" y="5686425"/>
            <a:ext cx="31851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Preference:</a:t>
            </a:r>
            <a:endParaRPr lang="en-US" sz="980" dirty="0"/>
          </a:p>
        </p:txBody>
      </p:sp>
      <p:sp>
        <p:nvSpPr>
          <p:cNvPr id="52" name="Text 14"/>
          <p:cNvSpPr/>
          <p:nvPr/>
        </p:nvSpPr>
        <p:spPr>
          <a:xfrm>
            <a:off x="4857750" y="5915025"/>
            <a:ext cx="2895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Relaxed atmosphere with study-friendly drinks</a:t>
            </a:r>
            <a:endParaRPr lang="en-US" sz="980" dirty="0"/>
          </a:p>
        </p:txBody>
      </p:sp>
      <p:sp>
        <p:nvSpPr>
          <p:cNvPr id="53" name="Text 15"/>
          <p:cNvSpPr/>
          <p:nvPr/>
        </p:nvSpPr>
        <p:spPr>
          <a:xfrm>
            <a:off x="8597473" y="2428875"/>
            <a:ext cx="231225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646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Family Weekend</a:t>
            </a:r>
            <a:endParaRPr lang="en-US" sz="1646" dirty="0"/>
          </a:p>
        </p:txBody>
      </p:sp>
      <p:sp>
        <p:nvSpPr>
          <p:cNvPr id="54" name="Text 16"/>
          <p:cNvSpPr/>
          <p:nvPr/>
        </p:nvSpPr>
        <p:spPr>
          <a:xfrm>
            <a:off x="8620125" y="3076575"/>
            <a:ext cx="266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We're looking for quality time and shared experiences</a:t>
            </a:r>
            <a:endParaRPr lang="en-US" sz="980" dirty="0"/>
          </a:p>
        </p:txBody>
      </p:sp>
      <p:sp>
        <p:nvSpPr>
          <p:cNvPr id="55" name="Text 17"/>
          <p:cNvSpPr/>
          <p:nvPr/>
        </p:nvSpPr>
        <p:spPr>
          <a:xfrm>
            <a:off x="8534400" y="3724275"/>
            <a:ext cx="266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Prioritizes quality time and shared experiences</a:t>
            </a:r>
            <a:endParaRPr lang="en-US" sz="1120" dirty="0"/>
          </a:p>
        </p:txBody>
      </p:sp>
      <p:sp>
        <p:nvSpPr>
          <p:cNvPr id="56" name="Text 18"/>
          <p:cNvSpPr/>
          <p:nvPr/>
        </p:nvSpPr>
        <p:spPr>
          <a:xfrm>
            <a:off x="8534400" y="4295775"/>
            <a:ext cx="266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Likely to purchase Coffee + Bakery combos</a:t>
            </a:r>
            <a:endParaRPr lang="en-US" sz="1120" dirty="0"/>
          </a:p>
        </p:txBody>
      </p:sp>
      <p:sp>
        <p:nvSpPr>
          <p:cNvPr id="57" name="Text 19"/>
          <p:cNvSpPr/>
          <p:nvPr/>
        </p:nvSpPr>
        <p:spPr>
          <a:xfrm>
            <a:off x="8534400" y="4867275"/>
            <a:ext cx="266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Seeks offerings that cater to multiple family members</a:t>
            </a:r>
            <a:endParaRPr lang="en-US" sz="1120" dirty="0"/>
          </a:p>
        </p:txBody>
      </p:sp>
      <p:sp>
        <p:nvSpPr>
          <p:cNvPr id="58" name="Text 20"/>
          <p:cNvSpPr/>
          <p:nvPr/>
        </p:nvSpPr>
        <p:spPr>
          <a:xfrm>
            <a:off x="8305800" y="5686425"/>
            <a:ext cx="31851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Preference:</a:t>
            </a:r>
            <a:endParaRPr lang="en-US" sz="980" dirty="0"/>
          </a:p>
        </p:txBody>
      </p:sp>
      <p:sp>
        <p:nvSpPr>
          <p:cNvPr id="59" name="Text 21"/>
          <p:cNvSpPr/>
          <p:nvPr/>
        </p:nvSpPr>
        <p:spPr>
          <a:xfrm>
            <a:off x="8553450" y="5915025"/>
            <a:ext cx="2895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Family-friendly coffee and pastry combinations</a:t>
            </a:r>
            <a:endParaRPr lang="en-US" sz="980" dirty="0"/>
          </a:p>
        </p:txBody>
      </p:sp>
      <p:sp>
        <p:nvSpPr>
          <p:cNvPr id="60" name="Text 22"/>
          <p:cNvSpPr/>
          <p:nvPr/>
        </p:nvSpPr>
        <p:spPr>
          <a:xfrm>
            <a:off x="1085850" y="6905625"/>
            <a:ext cx="113785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Strategic Alignment</a:t>
            </a:r>
            <a:endParaRPr lang="en-US" sz="1120" dirty="0"/>
          </a:p>
        </p:txBody>
      </p:sp>
      <p:sp>
        <p:nvSpPr>
          <p:cNvPr id="61" name="Text 23"/>
          <p:cNvSpPr/>
          <p:nvPr/>
        </p:nvSpPr>
        <p:spPr>
          <a:xfrm>
            <a:off x="1085850" y="7172325"/>
            <a:ext cx="10344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All recommendations and operational adjustments should be aligned with these personas' specific behaviors and needs to maximize customer satisfaction and increase revenue across different times of the day and week.</a:t>
            </a:r>
            <a:endParaRPr lang="en-US" sz="980" dirty="0"/>
          </a:p>
        </p:txBody>
      </p:sp>
      <p:sp>
        <p:nvSpPr>
          <p:cNvPr id="62" name="Text 24"/>
          <p:cNvSpPr/>
          <p:nvPr/>
        </p:nvSpPr>
        <p:spPr>
          <a:xfrm>
            <a:off x="904875" y="8067675"/>
            <a:ext cx="536791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84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Understanding these diverse needs allows the café to tailor its offerings and services</a:t>
            </a:r>
            <a:endParaRPr lang="en-US" sz="8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75335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9144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333500"/>
            <a:ext cx="5181600" cy="58483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1981200"/>
            <a:ext cx="4724400" cy="45910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64061" y="3587948"/>
            <a:ext cx="219075" cy="342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4061" y="3968948"/>
            <a:ext cx="1332161" cy="4572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55490" y="3128963"/>
            <a:ext cx="171450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55490" y="3471863"/>
            <a:ext cx="1059805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82961" y="3817590"/>
            <a:ext cx="17145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82961" y="4160490"/>
            <a:ext cx="878384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19300" y="4735711"/>
            <a:ext cx="17145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19300" y="5078611"/>
            <a:ext cx="1023491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45161" y="3358455"/>
            <a:ext cx="171450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45161" y="3701355"/>
            <a:ext cx="956816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6632" y="6762750"/>
            <a:ext cx="1143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216622" y="6762750"/>
            <a:ext cx="1143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00800" y="1333500"/>
            <a:ext cx="5181600" cy="24193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29400" y="1562100"/>
            <a:ext cx="228600" cy="304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00800" y="3981450"/>
            <a:ext cx="5181600" cy="3200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629400" y="4210050"/>
            <a:ext cx="171450" cy="304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629400" y="4705350"/>
            <a:ext cx="152400" cy="4191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629400" y="5314950"/>
            <a:ext cx="152400" cy="4191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629400" y="5924550"/>
            <a:ext cx="152400" cy="4191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629400" y="6534150"/>
            <a:ext cx="152400" cy="419100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609600" y="457200"/>
            <a:ext cx="1207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26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Store Location Insights –</a:t>
            </a:r>
            <a:r>
              <a:rPr lang="en-US" sz="2426" b="1" dirty="0">
                <a:solidFill>
                  <a:srgbClr val="D4A37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Performance Comparison</a:t>
            </a:r>
            <a:endParaRPr lang="en-US" sz="2426" dirty="0"/>
          </a:p>
        </p:txBody>
      </p:sp>
      <p:sp>
        <p:nvSpPr>
          <p:cNvPr id="27" name="Text 1"/>
          <p:cNvSpPr/>
          <p:nvPr/>
        </p:nvSpPr>
        <p:spPr>
          <a:xfrm>
            <a:off x="601980" y="1562100"/>
            <a:ext cx="51968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Store Location Performance</a:t>
            </a:r>
            <a:endParaRPr lang="en-US" sz="1380" dirty="0"/>
          </a:p>
        </p:txBody>
      </p:sp>
      <p:sp>
        <p:nvSpPr>
          <p:cNvPr id="28" name="Text 2"/>
          <p:cNvSpPr/>
          <p:nvPr/>
        </p:nvSpPr>
        <p:spPr>
          <a:xfrm>
            <a:off x="2981273" y="4007048"/>
            <a:ext cx="12977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Hell's Kitchen</a:t>
            </a:r>
            <a:endParaRPr lang="en-US" sz="1120" dirty="0"/>
          </a:p>
        </p:txBody>
      </p:sp>
      <p:sp>
        <p:nvSpPr>
          <p:cNvPr id="29" name="Text 3"/>
          <p:cNvSpPr/>
          <p:nvPr/>
        </p:nvSpPr>
        <p:spPr>
          <a:xfrm>
            <a:off x="2981273" y="4235648"/>
            <a:ext cx="12977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4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Primary Location</a:t>
            </a:r>
            <a:endParaRPr lang="en-US" sz="840" dirty="0"/>
          </a:p>
        </p:txBody>
      </p:sp>
      <p:sp>
        <p:nvSpPr>
          <p:cNvPr id="30" name="Text 4"/>
          <p:cNvSpPr/>
          <p:nvPr/>
        </p:nvSpPr>
        <p:spPr>
          <a:xfrm>
            <a:off x="2286320" y="3509963"/>
            <a:ext cx="9981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Downtown</a:t>
            </a:r>
            <a:endParaRPr lang="en-US" sz="1120" dirty="0"/>
          </a:p>
        </p:txBody>
      </p:sp>
      <p:sp>
        <p:nvSpPr>
          <p:cNvPr id="31" name="Text 5"/>
          <p:cNvSpPr/>
          <p:nvPr/>
        </p:nvSpPr>
        <p:spPr>
          <a:xfrm>
            <a:off x="1822862" y="4198590"/>
            <a:ext cx="7985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Eastside</a:t>
            </a:r>
            <a:endParaRPr lang="en-US" sz="1120" dirty="0"/>
          </a:p>
        </p:txBody>
      </p:sp>
      <p:sp>
        <p:nvSpPr>
          <p:cNvPr id="32" name="Text 6"/>
          <p:cNvSpPr/>
          <p:nvPr/>
        </p:nvSpPr>
        <p:spPr>
          <a:xfrm>
            <a:off x="2051945" y="5116711"/>
            <a:ext cx="95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South Bay</a:t>
            </a:r>
            <a:endParaRPr lang="en-US" sz="1120" dirty="0"/>
          </a:p>
        </p:txBody>
      </p:sp>
      <p:sp>
        <p:nvSpPr>
          <p:cNvPr id="33" name="Text 7"/>
          <p:cNvSpPr/>
          <p:nvPr/>
        </p:nvSpPr>
        <p:spPr>
          <a:xfrm>
            <a:off x="4181140" y="3739455"/>
            <a:ext cx="8848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West End</a:t>
            </a:r>
            <a:endParaRPr lang="en-US" sz="1120" dirty="0"/>
          </a:p>
        </p:txBody>
      </p:sp>
      <p:sp>
        <p:nvSpPr>
          <p:cNvPr id="34" name="Text 8"/>
          <p:cNvSpPr/>
          <p:nvPr/>
        </p:nvSpPr>
        <p:spPr>
          <a:xfrm>
            <a:off x="1107132" y="6724650"/>
            <a:ext cx="19851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Hell's Kitchen (Leading)</a:t>
            </a:r>
            <a:endParaRPr lang="en-US" sz="1120" dirty="0"/>
          </a:p>
        </p:txBody>
      </p:sp>
      <p:sp>
        <p:nvSpPr>
          <p:cNvPr id="35" name="Text 9"/>
          <p:cNvSpPr/>
          <p:nvPr/>
        </p:nvSpPr>
        <p:spPr>
          <a:xfrm>
            <a:off x="3407122" y="6724650"/>
            <a:ext cx="2284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Other Locations (Balanced)</a:t>
            </a:r>
            <a:endParaRPr lang="en-US" sz="1120" dirty="0"/>
          </a:p>
        </p:txBody>
      </p:sp>
      <p:sp>
        <p:nvSpPr>
          <p:cNvPr id="36" name="Text 10"/>
          <p:cNvSpPr/>
          <p:nvPr/>
        </p:nvSpPr>
        <p:spPr>
          <a:xfrm>
            <a:off x="7010400" y="1581150"/>
            <a:ext cx="14581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Insights</a:t>
            </a:r>
            <a:endParaRPr lang="en-US" sz="1380" dirty="0"/>
          </a:p>
        </p:txBody>
      </p:sp>
      <p:sp>
        <p:nvSpPr>
          <p:cNvPr id="37" name="Text 11"/>
          <p:cNvSpPr/>
          <p:nvPr/>
        </p:nvSpPr>
        <p:spPr>
          <a:xfrm>
            <a:off x="6629400" y="2019300"/>
            <a:ext cx="47244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26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Analysis of the sales data reveals a</a:t>
            </a:r>
            <a:r>
              <a:rPr lang="en-US" sz="1260" b="1" dirty="0">
                <a:solidFill>
                  <a:srgbClr val="D4A37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balanced revenue distribution</a:t>
            </a:r>
            <a:r>
              <a:rPr lang="en-US" sz="126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across all café locations, indicating a generally effective operational strategy.</a:t>
            </a:r>
            <a:endParaRPr lang="en-US" sz="1260" dirty="0"/>
          </a:p>
        </p:txBody>
      </p:sp>
      <p:sp>
        <p:nvSpPr>
          <p:cNvPr id="38" name="Text 12"/>
          <p:cNvSpPr/>
          <p:nvPr/>
        </p:nvSpPr>
        <p:spPr>
          <a:xfrm>
            <a:off x="6629400" y="2971800"/>
            <a:ext cx="47244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86EFA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Hell's Kitchen</a:t>
            </a:r>
            <a:r>
              <a:rPr lang="en-US" sz="126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consistently demonstrates a</a:t>
            </a:r>
            <a:r>
              <a:rPr lang="en-US" sz="1260" b="1" dirty="0">
                <a:solidFill>
                  <a:srgbClr val="D4A37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slight lead</a:t>
            </a:r>
            <a:r>
              <a:rPr lang="en-US" sz="126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 overall revenue generation.</a:t>
            </a:r>
            <a:endParaRPr lang="en-US" sz="1260" dirty="0"/>
          </a:p>
        </p:txBody>
      </p:sp>
      <p:sp>
        <p:nvSpPr>
          <p:cNvPr id="39" name="Text 13"/>
          <p:cNvSpPr/>
          <p:nvPr/>
        </p:nvSpPr>
        <p:spPr>
          <a:xfrm>
            <a:off x="6953250" y="4229100"/>
            <a:ext cx="27919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Strategic Opportunities</a:t>
            </a:r>
            <a:endParaRPr lang="en-US" sz="1380" dirty="0"/>
          </a:p>
        </p:txBody>
      </p:sp>
      <p:sp>
        <p:nvSpPr>
          <p:cNvPr id="40" name="Text 14"/>
          <p:cNvSpPr/>
          <p:nvPr/>
        </p:nvSpPr>
        <p:spPr>
          <a:xfrm>
            <a:off x="6896100" y="4667250"/>
            <a:ext cx="445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Identify and replicate specific best practices from Hell's Kitchen to other locations</a:t>
            </a:r>
            <a:endParaRPr lang="en-US" sz="1120" dirty="0"/>
          </a:p>
        </p:txBody>
      </p:sp>
      <p:sp>
        <p:nvSpPr>
          <p:cNvPr id="41" name="Text 15"/>
          <p:cNvSpPr/>
          <p:nvPr/>
        </p:nvSpPr>
        <p:spPr>
          <a:xfrm>
            <a:off x="6896100" y="5276850"/>
            <a:ext cx="445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Standardize successful operational strategies across the entire café network</a:t>
            </a:r>
            <a:endParaRPr lang="en-US" sz="1120" dirty="0"/>
          </a:p>
        </p:txBody>
      </p:sp>
      <p:sp>
        <p:nvSpPr>
          <p:cNvPr id="42" name="Text 16"/>
          <p:cNvSpPr/>
          <p:nvPr/>
        </p:nvSpPr>
        <p:spPr>
          <a:xfrm>
            <a:off x="6896100" y="5886450"/>
            <a:ext cx="445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Leverage Hell's Kitchen's superior performance to enhance overall profitability</a:t>
            </a:r>
            <a:endParaRPr lang="en-US" sz="1120" dirty="0"/>
          </a:p>
        </p:txBody>
      </p:sp>
      <p:sp>
        <p:nvSpPr>
          <p:cNvPr id="43" name="Text 17"/>
          <p:cNvSpPr/>
          <p:nvPr/>
        </p:nvSpPr>
        <p:spPr>
          <a:xfrm>
            <a:off x="6896100" y="6496050"/>
            <a:ext cx="445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Improve customer satisfaction through consistent quality across locations</a:t>
            </a:r>
            <a:endParaRPr lang="en-US" sz="1120" dirty="0"/>
          </a:p>
        </p:txBody>
      </p:sp>
      <p:sp>
        <p:nvSpPr>
          <p:cNvPr id="44" name="Text 18"/>
          <p:cNvSpPr/>
          <p:nvPr/>
        </p:nvSpPr>
        <p:spPr>
          <a:xfrm>
            <a:off x="923925" y="7372350"/>
            <a:ext cx="445670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Uniform strategy works, but best practices can be replicated</a:t>
            </a:r>
            <a:endParaRPr lang="en-US" sz="9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801052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9144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333500"/>
            <a:ext cx="10972800" cy="42100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1600200"/>
            <a:ext cx="190500" cy="190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9888" y="1638300"/>
            <a:ext cx="114300" cy="1143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13156" y="1638300"/>
            <a:ext cx="114300" cy="114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" y="1981200"/>
            <a:ext cx="10515600" cy="33337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5772150"/>
            <a:ext cx="3505200" cy="166687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100" y="5962650"/>
            <a:ext cx="22860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43400" y="5772150"/>
            <a:ext cx="3505200" cy="166687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33900" y="5962650"/>
            <a:ext cx="2286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77200" y="5772150"/>
            <a:ext cx="3505200" cy="1666875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67700" y="5962650"/>
            <a:ext cx="171450" cy="304800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609600" y="457200"/>
            <a:ext cx="1207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26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Time-of-Day Insights –</a:t>
            </a:r>
            <a:r>
              <a:rPr lang="en-US" sz="2426" b="1" dirty="0">
                <a:solidFill>
                  <a:srgbClr val="D4A37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Daily Revenue Curve</a:t>
            </a:r>
            <a:endParaRPr lang="en-US" sz="2426" dirty="0"/>
          </a:p>
        </p:txBody>
      </p:sp>
      <p:sp>
        <p:nvSpPr>
          <p:cNvPr id="16" name="Text 1"/>
          <p:cNvSpPr/>
          <p:nvPr/>
        </p:nvSpPr>
        <p:spPr>
          <a:xfrm>
            <a:off x="1104900" y="1562100"/>
            <a:ext cx="364338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Daily Revenue Performance</a:t>
            </a:r>
            <a:endParaRPr lang="en-US" sz="1380" dirty="0"/>
          </a:p>
        </p:txBody>
      </p:sp>
      <p:sp>
        <p:nvSpPr>
          <p:cNvPr id="17" name="Text 2"/>
          <p:cNvSpPr/>
          <p:nvPr/>
        </p:nvSpPr>
        <p:spPr>
          <a:xfrm>
            <a:off x="8580388" y="1600200"/>
            <a:ext cx="13245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Peak Performance</a:t>
            </a:r>
            <a:endParaRPr lang="en-US" sz="980" dirty="0"/>
          </a:p>
        </p:txBody>
      </p:sp>
      <p:sp>
        <p:nvSpPr>
          <p:cNvPr id="18" name="Text 3"/>
          <p:cNvSpPr/>
          <p:nvPr/>
        </p:nvSpPr>
        <p:spPr>
          <a:xfrm>
            <a:off x="10203656" y="1600200"/>
            <a:ext cx="12651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Low Performance</a:t>
            </a:r>
            <a:endParaRPr lang="en-US" sz="980" dirty="0"/>
          </a:p>
        </p:txBody>
      </p:sp>
      <p:sp>
        <p:nvSpPr>
          <p:cNvPr id="19" name="Text 4"/>
          <p:cNvSpPr/>
          <p:nvPr/>
        </p:nvSpPr>
        <p:spPr>
          <a:xfrm>
            <a:off x="1143000" y="5981700"/>
            <a:ext cx="23829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Morning Golden Hours</a:t>
            </a:r>
            <a:endParaRPr lang="en-US" sz="1260" dirty="0"/>
          </a:p>
        </p:txBody>
      </p:sp>
      <p:sp>
        <p:nvSpPr>
          <p:cNvPr id="20" name="Text 5"/>
          <p:cNvSpPr/>
          <p:nvPr/>
        </p:nvSpPr>
        <p:spPr>
          <a:xfrm>
            <a:off x="800100" y="6381750"/>
            <a:ext cx="34366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Hours:</a:t>
            </a:r>
            <a:r>
              <a:rPr lang="en-US" sz="112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9:00-11:30 AM</a:t>
            </a:r>
            <a:endParaRPr lang="en-US" sz="1120" dirty="0"/>
          </a:p>
        </p:txBody>
      </p:sp>
      <p:sp>
        <p:nvSpPr>
          <p:cNvPr id="21" name="Text 6"/>
          <p:cNvSpPr/>
          <p:nvPr/>
        </p:nvSpPr>
        <p:spPr>
          <a:xfrm>
            <a:off x="800100" y="6686550"/>
            <a:ext cx="34366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Revenue:</a:t>
            </a:r>
            <a:r>
              <a:rPr lang="en-US" sz="1120" b="1" dirty="0">
                <a:solidFill>
                  <a:srgbClr val="D4A37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€1,500/hour</a:t>
            </a:r>
            <a:r>
              <a:rPr lang="en-US" sz="112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at 11:18 AM</a:t>
            </a:r>
            <a:endParaRPr lang="en-US" sz="1120" dirty="0"/>
          </a:p>
        </p:txBody>
      </p:sp>
      <p:sp>
        <p:nvSpPr>
          <p:cNvPr id="22" name="Text 7"/>
          <p:cNvSpPr/>
          <p:nvPr/>
        </p:nvSpPr>
        <p:spPr>
          <a:xfrm>
            <a:off x="4876800" y="5981700"/>
            <a:ext cx="17986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Afternoon Slump</a:t>
            </a:r>
            <a:endParaRPr lang="en-US" sz="1260" dirty="0"/>
          </a:p>
        </p:txBody>
      </p:sp>
      <p:sp>
        <p:nvSpPr>
          <p:cNvPr id="23" name="Text 8"/>
          <p:cNvSpPr/>
          <p:nvPr/>
        </p:nvSpPr>
        <p:spPr>
          <a:xfrm>
            <a:off x="4533900" y="6381750"/>
            <a:ext cx="34366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Hours:</a:t>
            </a:r>
            <a:r>
              <a:rPr lang="en-US" sz="112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12:00 PM-5:00 PM</a:t>
            </a:r>
            <a:endParaRPr lang="en-US" sz="1120" dirty="0"/>
          </a:p>
        </p:txBody>
      </p:sp>
      <p:sp>
        <p:nvSpPr>
          <p:cNvPr id="24" name="Text 9"/>
          <p:cNvSpPr/>
          <p:nvPr/>
        </p:nvSpPr>
        <p:spPr>
          <a:xfrm>
            <a:off x="4533900" y="6686550"/>
            <a:ext cx="312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Revenue:</a:t>
            </a:r>
            <a:r>
              <a:rPr lang="en-US" sz="112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Consistently below €400/hour</a:t>
            </a:r>
            <a:endParaRPr lang="en-US" sz="1120" dirty="0"/>
          </a:p>
        </p:txBody>
      </p:sp>
      <p:sp>
        <p:nvSpPr>
          <p:cNvPr id="25" name="Text 10"/>
          <p:cNvSpPr/>
          <p:nvPr/>
        </p:nvSpPr>
        <p:spPr>
          <a:xfrm>
            <a:off x="8553450" y="5981700"/>
            <a:ext cx="12001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Insight</a:t>
            </a:r>
            <a:endParaRPr lang="en-US" sz="1260" dirty="0"/>
          </a:p>
        </p:txBody>
      </p:sp>
      <p:sp>
        <p:nvSpPr>
          <p:cNvPr id="26" name="Text 11"/>
          <p:cNvSpPr/>
          <p:nvPr/>
        </p:nvSpPr>
        <p:spPr>
          <a:xfrm>
            <a:off x="8267700" y="6381750"/>
            <a:ext cx="3124200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706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café generates 3-4x more revenue during peak morning hours compared to afternoon periods, representing a significant opportunity for strategic optimization.</a:t>
            </a:r>
            <a:endParaRPr lang="en-US" sz="980" dirty="0"/>
          </a:p>
        </p:txBody>
      </p:sp>
      <p:sp>
        <p:nvSpPr>
          <p:cNvPr id="27" name="Text 12"/>
          <p:cNvSpPr/>
          <p:nvPr/>
        </p:nvSpPr>
        <p:spPr>
          <a:xfrm>
            <a:off x="876300" y="7629525"/>
            <a:ext cx="52577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Understanding time patterns is key to optimizing operational strategies</a:t>
            </a:r>
            <a:endParaRPr lang="en-US" sz="9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83058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9144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333500"/>
            <a:ext cx="10972800" cy="3733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1981200"/>
            <a:ext cx="10515600" cy="2857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5295900"/>
            <a:ext cx="5334000" cy="2438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5486400"/>
            <a:ext cx="17145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5981700"/>
            <a:ext cx="17145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" y="6553200"/>
            <a:ext cx="17145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48400" y="5295900"/>
            <a:ext cx="5334000" cy="2438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38900" y="5486400"/>
            <a:ext cx="228600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38900" y="5981700"/>
            <a:ext cx="17145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38900" y="6553200"/>
            <a:ext cx="152400" cy="15240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609600" y="457200"/>
            <a:ext cx="1207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26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Monthly Sales Trends –</a:t>
            </a:r>
            <a:r>
              <a:rPr lang="en-US" sz="2426" b="1" dirty="0">
                <a:solidFill>
                  <a:srgbClr val="D4A37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Seasonal Patterns</a:t>
            </a:r>
            <a:endParaRPr lang="en-US" sz="2426" dirty="0"/>
          </a:p>
        </p:txBody>
      </p:sp>
      <p:sp>
        <p:nvSpPr>
          <p:cNvPr id="15" name="Text 1"/>
          <p:cNvSpPr/>
          <p:nvPr/>
        </p:nvSpPr>
        <p:spPr>
          <a:xfrm>
            <a:off x="312420" y="1562100"/>
            <a:ext cx="115671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Monthly Sales Growth</a:t>
            </a:r>
            <a:endParaRPr lang="en-US" sz="1380" dirty="0"/>
          </a:p>
        </p:txBody>
      </p:sp>
      <p:sp>
        <p:nvSpPr>
          <p:cNvPr id="16" name="Text 2"/>
          <p:cNvSpPr/>
          <p:nvPr/>
        </p:nvSpPr>
        <p:spPr>
          <a:xfrm>
            <a:off x="1085850" y="5505450"/>
            <a:ext cx="14581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Insights</a:t>
            </a:r>
            <a:endParaRPr lang="en-US" sz="1380" dirty="0"/>
          </a:p>
        </p:txBody>
      </p:sp>
      <p:sp>
        <p:nvSpPr>
          <p:cNvPr id="17" name="Text 3"/>
          <p:cNvSpPr/>
          <p:nvPr/>
        </p:nvSpPr>
        <p:spPr>
          <a:xfrm>
            <a:off x="1085850" y="5943600"/>
            <a:ext cx="4667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Steady growth from February to June, with</a:t>
            </a:r>
            <a:r>
              <a:rPr lang="en-US" sz="1120" b="1" dirty="0">
                <a:solidFill>
                  <a:srgbClr val="D4A37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June</a:t>
            </a:r>
            <a:r>
              <a:rPr lang="en-US" sz="112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being the highest performing month</a:t>
            </a:r>
            <a:endParaRPr lang="en-US" sz="1120" dirty="0"/>
          </a:p>
        </p:txBody>
      </p:sp>
      <p:sp>
        <p:nvSpPr>
          <p:cNvPr id="18" name="Text 4"/>
          <p:cNvSpPr/>
          <p:nvPr/>
        </p:nvSpPr>
        <p:spPr>
          <a:xfrm>
            <a:off x="1085850" y="6515100"/>
            <a:ext cx="4667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D4A37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January</a:t>
            </a:r>
            <a:r>
              <a:rPr lang="en-US" sz="112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and</a:t>
            </a:r>
            <a:r>
              <a:rPr lang="en-US" sz="1120" b="1" dirty="0">
                <a:solidFill>
                  <a:srgbClr val="D4A37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February</a:t>
            </a:r>
            <a:r>
              <a:rPr lang="en-US" sz="112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represent the low season with consistently lower sales</a:t>
            </a:r>
            <a:endParaRPr lang="en-US" sz="1120" dirty="0"/>
          </a:p>
        </p:txBody>
      </p:sp>
      <p:sp>
        <p:nvSpPr>
          <p:cNvPr id="19" name="Text 5"/>
          <p:cNvSpPr/>
          <p:nvPr/>
        </p:nvSpPr>
        <p:spPr>
          <a:xfrm>
            <a:off x="1066800" y="7086600"/>
            <a:ext cx="468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Clear seasonal pattern emerges, with a</a:t>
            </a:r>
            <a:r>
              <a:rPr lang="en-US" sz="1120" b="1" dirty="0">
                <a:solidFill>
                  <a:srgbClr val="D4A37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12-month cycle</a:t>
            </a:r>
            <a:r>
              <a:rPr lang="en-US" sz="112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showing similar performance year-over-year</a:t>
            </a:r>
            <a:endParaRPr lang="en-US" sz="1120" dirty="0"/>
          </a:p>
        </p:txBody>
      </p:sp>
      <p:sp>
        <p:nvSpPr>
          <p:cNvPr id="20" name="Text 6"/>
          <p:cNvSpPr/>
          <p:nvPr/>
        </p:nvSpPr>
        <p:spPr>
          <a:xfrm>
            <a:off x="6781800" y="5505450"/>
            <a:ext cx="26026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Strategic Implications</a:t>
            </a:r>
            <a:endParaRPr lang="en-US" sz="1380" dirty="0"/>
          </a:p>
        </p:txBody>
      </p:sp>
      <p:sp>
        <p:nvSpPr>
          <p:cNvPr id="21" name="Text 7"/>
          <p:cNvSpPr/>
          <p:nvPr/>
        </p:nvSpPr>
        <p:spPr>
          <a:xfrm>
            <a:off x="6724650" y="5943600"/>
            <a:ext cx="4667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Increased inventory and staffing required from</a:t>
            </a:r>
            <a:r>
              <a:rPr lang="en-US" sz="112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spring into early summer</a:t>
            </a:r>
            <a:r>
              <a:rPr lang="en-US" sz="112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to meet growing demand</a:t>
            </a:r>
            <a:endParaRPr lang="en-US" sz="1120" dirty="0"/>
          </a:p>
        </p:txBody>
      </p:sp>
      <p:sp>
        <p:nvSpPr>
          <p:cNvPr id="22" name="Text 8"/>
          <p:cNvSpPr/>
          <p:nvPr/>
        </p:nvSpPr>
        <p:spPr>
          <a:xfrm>
            <a:off x="6705600" y="6515100"/>
            <a:ext cx="468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January and February present opportunities for</a:t>
            </a:r>
            <a:r>
              <a:rPr lang="en-US" sz="112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targeted promotions</a:t>
            </a:r>
            <a:r>
              <a:rPr lang="en-US" sz="112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to stimulate sales during quiet periods</a:t>
            </a:r>
            <a:endParaRPr lang="en-US" sz="1120" dirty="0"/>
          </a:p>
        </p:txBody>
      </p:sp>
      <p:sp>
        <p:nvSpPr>
          <p:cNvPr id="23" name="Text 9"/>
          <p:cNvSpPr/>
          <p:nvPr/>
        </p:nvSpPr>
        <p:spPr>
          <a:xfrm>
            <a:off x="6686550" y="7086600"/>
            <a:ext cx="47053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Adjust staffing levels seasonally to align with</a:t>
            </a:r>
            <a:r>
              <a:rPr lang="en-US" sz="112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natural sales fluctuations</a:t>
            </a:r>
            <a:r>
              <a:rPr lang="en-US" sz="112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throughout the year</a:t>
            </a:r>
            <a:endParaRPr lang="en-US" sz="1120" dirty="0"/>
          </a:p>
        </p:txBody>
      </p:sp>
      <p:sp>
        <p:nvSpPr>
          <p:cNvPr id="24" name="Text 10"/>
          <p:cNvSpPr/>
          <p:nvPr/>
        </p:nvSpPr>
        <p:spPr>
          <a:xfrm>
            <a:off x="876300" y="7924800"/>
            <a:ext cx="511809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Understanding seasonal patterns enables strategic business planning</a:t>
            </a:r>
            <a:endParaRPr lang="en-US" sz="9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80772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9144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333500"/>
            <a:ext cx="5334000" cy="1905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1485900"/>
            <a:ext cx="419100" cy="4953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300" y="1600200"/>
            <a:ext cx="190500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2781300"/>
            <a:ext cx="4046041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6300" y="285750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1333500"/>
            <a:ext cx="5334000" cy="1905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0" y="1485900"/>
            <a:ext cx="419100" cy="4953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15100" y="1600200"/>
            <a:ext cx="190500" cy="266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800" y="2781300"/>
            <a:ext cx="3344168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5100" y="285750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3390900"/>
            <a:ext cx="3505200" cy="2514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2000" y="3562350"/>
            <a:ext cx="419100" cy="4953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76300" y="3676650"/>
            <a:ext cx="190500" cy="266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2000" y="5448300"/>
            <a:ext cx="3165425" cy="304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6300" y="552450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343400" y="3390900"/>
            <a:ext cx="3505200" cy="25146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495800" y="3543300"/>
            <a:ext cx="447675" cy="4953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610100" y="3657600"/>
            <a:ext cx="219075" cy="2667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495800" y="5219700"/>
            <a:ext cx="3200400" cy="533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10100" y="5410200"/>
            <a:ext cx="15240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77200" y="3390900"/>
            <a:ext cx="3505200" cy="25146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229600" y="3543300"/>
            <a:ext cx="419100" cy="4953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43900" y="3657600"/>
            <a:ext cx="190500" cy="2667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29600" y="5219700"/>
            <a:ext cx="3200400" cy="533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43900" y="5410200"/>
            <a:ext cx="152400" cy="152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09600" y="6057900"/>
            <a:ext cx="10972800" cy="14478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23900" y="6438900"/>
            <a:ext cx="10744200" cy="419100"/>
          </a:xfrm>
          <a:prstGeom prst="rect">
            <a:avLst/>
          </a:prstGeom>
        </p:spPr>
      </p:pic>
      <p:sp>
        <p:nvSpPr>
          <p:cNvPr id="31" name="Text 0"/>
          <p:cNvSpPr/>
          <p:nvPr/>
        </p:nvSpPr>
        <p:spPr>
          <a:xfrm>
            <a:off x="609600" y="457200"/>
            <a:ext cx="120700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26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Recommendations –</a:t>
            </a:r>
            <a:r>
              <a:rPr lang="en-US" sz="2426" b="1" dirty="0">
                <a:solidFill>
                  <a:srgbClr val="D4A37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Turning Insights Into Revenue</a:t>
            </a:r>
            <a:endParaRPr lang="en-US" sz="2426" dirty="0"/>
          </a:p>
        </p:txBody>
      </p:sp>
      <p:sp>
        <p:nvSpPr>
          <p:cNvPr id="32" name="Text 1"/>
          <p:cNvSpPr/>
          <p:nvPr/>
        </p:nvSpPr>
        <p:spPr>
          <a:xfrm>
            <a:off x="1295400" y="1600200"/>
            <a:ext cx="2908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Optimize Off-Peak Hours</a:t>
            </a:r>
            <a:endParaRPr lang="en-US" sz="1380" dirty="0"/>
          </a:p>
        </p:txBody>
      </p:sp>
      <p:sp>
        <p:nvSpPr>
          <p:cNvPr id="33" name="Text 2"/>
          <p:cNvSpPr/>
          <p:nvPr/>
        </p:nvSpPr>
        <p:spPr>
          <a:xfrm>
            <a:off x="762000" y="2095500"/>
            <a:ext cx="502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Implement strategies to boost sales during slower periods, such as introducing small plates, late morning promotions, or happy hours.</a:t>
            </a:r>
            <a:endParaRPr lang="en-US" sz="980" dirty="0"/>
          </a:p>
        </p:txBody>
      </p:sp>
      <p:sp>
        <p:nvSpPr>
          <p:cNvPr id="34" name="Text 3"/>
          <p:cNvSpPr/>
          <p:nvPr/>
        </p:nvSpPr>
        <p:spPr>
          <a:xfrm>
            <a:off x="1104900" y="2819400"/>
            <a:ext cx="16344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Potential Impact:</a:t>
            </a:r>
            <a:endParaRPr lang="en-US" sz="1120" dirty="0"/>
          </a:p>
        </p:txBody>
      </p:sp>
      <p:sp>
        <p:nvSpPr>
          <p:cNvPr id="35" name="Text 4"/>
          <p:cNvSpPr/>
          <p:nvPr/>
        </p:nvSpPr>
        <p:spPr>
          <a:xfrm>
            <a:off x="2667000" y="2819400"/>
            <a:ext cx="2229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D4A37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+15% revenue increase</a:t>
            </a:r>
            <a:endParaRPr lang="en-US" sz="1120" dirty="0"/>
          </a:p>
        </p:txBody>
      </p:sp>
      <p:sp>
        <p:nvSpPr>
          <p:cNvPr id="36" name="Text 5"/>
          <p:cNvSpPr/>
          <p:nvPr/>
        </p:nvSpPr>
        <p:spPr>
          <a:xfrm>
            <a:off x="6934200" y="1600200"/>
            <a:ext cx="29777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Coffee + Biscotti Combos</a:t>
            </a:r>
            <a:endParaRPr lang="en-US" sz="1380" dirty="0"/>
          </a:p>
        </p:txBody>
      </p:sp>
      <p:sp>
        <p:nvSpPr>
          <p:cNvPr id="37" name="Text 6"/>
          <p:cNvSpPr/>
          <p:nvPr/>
        </p:nvSpPr>
        <p:spPr>
          <a:xfrm>
            <a:off x="6400800" y="2095500"/>
            <a:ext cx="502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Introduce attractive combo deals, such as a coffee and biscotti pairing. This cross-selling technique can significantly increase the average transaction value.</a:t>
            </a:r>
            <a:endParaRPr lang="en-US" sz="980" dirty="0"/>
          </a:p>
        </p:txBody>
      </p:sp>
      <p:sp>
        <p:nvSpPr>
          <p:cNvPr id="38" name="Text 7"/>
          <p:cNvSpPr/>
          <p:nvPr/>
        </p:nvSpPr>
        <p:spPr>
          <a:xfrm>
            <a:off x="6743700" y="2819400"/>
            <a:ext cx="16344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Potential Impact:</a:t>
            </a:r>
            <a:endParaRPr lang="en-US" sz="1120" dirty="0"/>
          </a:p>
        </p:txBody>
      </p:sp>
      <p:sp>
        <p:nvSpPr>
          <p:cNvPr id="39" name="Text 8"/>
          <p:cNvSpPr/>
          <p:nvPr/>
        </p:nvSpPr>
        <p:spPr>
          <a:xfrm>
            <a:off x="8305800" y="2819400"/>
            <a:ext cx="14573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D4A37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+€2,000/month</a:t>
            </a:r>
            <a:endParaRPr lang="en-US" sz="1120" dirty="0"/>
          </a:p>
        </p:txBody>
      </p:sp>
      <p:sp>
        <p:nvSpPr>
          <p:cNvPr id="40" name="Text 9"/>
          <p:cNvSpPr/>
          <p:nvPr/>
        </p:nvSpPr>
        <p:spPr>
          <a:xfrm>
            <a:off x="1295400" y="3543300"/>
            <a:ext cx="266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Premium Teas &amp; Merchandise</a:t>
            </a:r>
            <a:endParaRPr lang="en-US" sz="1260" dirty="0"/>
          </a:p>
        </p:txBody>
      </p:sp>
      <p:sp>
        <p:nvSpPr>
          <p:cNvPr id="41" name="Text 10"/>
          <p:cNvSpPr/>
          <p:nvPr/>
        </p:nvSpPr>
        <p:spPr>
          <a:xfrm>
            <a:off x="762000" y="4191000"/>
            <a:ext cx="32004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Capitalize on niche markets by actively promoting premium teas and branded merchandise. This caters to diverse customer preferences and offers additional revenue streams.</a:t>
            </a:r>
            <a:endParaRPr lang="en-US" sz="980" dirty="0"/>
          </a:p>
        </p:txBody>
      </p:sp>
      <p:sp>
        <p:nvSpPr>
          <p:cNvPr id="42" name="Text 11"/>
          <p:cNvSpPr/>
          <p:nvPr/>
        </p:nvSpPr>
        <p:spPr>
          <a:xfrm>
            <a:off x="1104900" y="5486400"/>
            <a:ext cx="16344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Potential Impact:</a:t>
            </a:r>
            <a:endParaRPr lang="en-US" sz="1120" dirty="0"/>
          </a:p>
        </p:txBody>
      </p:sp>
      <p:sp>
        <p:nvSpPr>
          <p:cNvPr id="43" name="Text 12"/>
          <p:cNvSpPr/>
          <p:nvPr/>
        </p:nvSpPr>
        <p:spPr>
          <a:xfrm>
            <a:off x="2667000" y="5486400"/>
            <a:ext cx="12607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D4A37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Niche growth</a:t>
            </a:r>
            <a:endParaRPr lang="en-US" sz="1120" dirty="0"/>
          </a:p>
        </p:txBody>
      </p:sp>
      <p:sp>
        <p:nvSpPr>
          <p:cNvPr id="44" name="Text 13"/>
          <p:cNvSpPr/>
          <p:nvPr/>
        </p:nvSpPr>
        <p:spPr>
          <a:xfrm>
            <a:off x="5057775" y="3657600"/>
            <a:ext cx="25201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Replicate Hell's Kitchen</a:t>
            </a:r>
            <a:endParaRPr lang="en-US" sz="1260" dirty="0"/>
          </a:p>
        </p:txBody>
      </p:sp>
      <p:sp>
        <p:nvSpPr>
          <p:cNvPr id="45" name="Text 14"/>
          <p:cNvSpPr/>
          <p:nvPr/>
        </p:nvSpPr>
        <p:spPr>
          <a:xfrm>
            <a:off x="4495800" y="4152900"/>
            <a:ext cx="32004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Analyze the operational and marketing strategies employed by the Hell's Kitchen location, which slightly leads in revenue, and replicate these successful practices across other stores.</a:t>
            </a:r>
            <a:endParaRPr lang="en-US" sz="980" dirty="0"/>
          </a:p>
        </p:txBody>
      </p:sp>
      <p:sp>
        <p:nvSpPr>
          <p:cNvPr id="46" name="Text 15"/>
          <p:cNvSpPr/>
          <p:nvPr/>
        </p:nvSpPr>
        <p:spPr>
          <a:xfrm>
            <a:off x="4838700" y="5257800"/>
            <a:ext cx="9408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Potential Impact:</a:t>
            </a:r>
            <a:endParaRPr lang="en-US" sz="1120" dirty="0"/>
          </a:p>
        </p:txBody>
      </p:sp>
      <p:sp>
        <p:nvSpPr>
          <p:cNvPr id="47" name="Text 16"/>
          <p:cNvSpPr/>
          <p:nvPr/>
        </p:nvSpPr>
        <p:spPr>
          <a:xfrm>
            <a:off x="5855791" y="5257800"/>
            <a:ext cx="17261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D4A37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Standardized high performance</a:t>
            </a:r>
            <a:endParaRPr lang="en-US" sz="1120" dirty="0"/>
          </a:p>
        </p:txBody>
      </p:sp>
      <p:sp>
        <p:nvSpPr>
          <p:cNvPr id="48" name="Text 17"/>
          <p:cNvSpPr/>
          <p:nvPr/>
        </p:nvSpPr>
        <p:spPr>
          <a:xfrm>
            <a:off x="8763000" y="3657600"/>
            <a:ext cx="28529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 Forecasts for Planning</a:t>
            </a:r>
            <a:endParaRPr lang="en-US" sz="1260" dirty="0"/>
          </a:p>
        </p:txBody>
      </p:sp>
      <p:sp>
        <p:nvSpPr>
          <p:cNvPr id="49" name="Text 18"/>
          <p:cNvSpPr/>
          <p:nvPr/>
        </p:nvSpPr>
        <p:spPr>
          <a:xfrm>
            <a:off x="8229600" y="4152900"/>
            <a:ext cx="32004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Leverage sales data and time-series analysis to improve inventory management and staffing schedules. Accurate forecasting ensures adequate stock during peak times and prevents overstaffing during lulls.</a:t>
            </a:r>
            <a:endParaRPr lang="en-US" sz="980" dirty="0"/>
          </a:p>
        </p:txBody>
      </p:sp>
      <p:sp>
        <p:nvSpPr>
          <p:cNvPr id="50" name="Text 19"/>
          <p:cNvSpPr/>
          <p:nvPr/>
        </p:nvSpPr>
        <p:spPr>
          <a:xfrm>
            <a:off x="8572500" y="5257800"/>
            <a:ext cx="117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Potential Impact:</a:t>
            </a:r>
            <a:endParaRPr lang="en-US" sz="1120" dirty="0"/>
          </a:p>
        </p:txBody>
      </p:sp>
      <p:sp>
        <p:nvSpPr>
          <p:cNvPr id="51" name="Text 20"/>
          <p:cNvSpPr/>
          <p:nvPr/>
        </p:nvSpPr>
        <p:spPr>
          <a:xfrm>
            <a:off x="9824740" y="5257800"/>
            <a:ext cx="149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D4A37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Operational efficiency</a:t>
            </a:r>
            <a:endParaRPr lang="en-US" sz="1120" dirty="0"/>
          </a:p>
        </p:txBody>
      </p:sp>
      <p:sp>
        <p:nvSpPr>
          <p:cNvPr id="52" name="Text 21"/>
          <p:cNvSpPr/>
          <p:nvPr/>
        </p:nvSpPr>
        <p:spPr>
          <a:xfrm>
            <a:off x="723900" y="6172200"/>
            <a:ext cx="118186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Potential Revenue Impact</a:t>
            </a:r>
            <a:endParaRPr lang="en-US" sz="980" dirty="0"/>
          </a:p>
        </p:txBody>
      </p:sp>
      <p:sp>
        <p:nvSpPr>
          <p:cNvPr id="53" name="Text 22"/>
          <p:cNvSpPr/>
          <p:nvPr/>
        </p:nvSpPr>
        <p:spPr>
          <a:xfrm>
            <a:off x="828675" y="7696200"/>
            <a:ext cx="629861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These strategies can transform missed opportunities into significant revenue streams</a:t>
            </a:r>
            <a:endParaRPr lang="en-US" sz="9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9615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2954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2209800"/>
            <a:ext cx="3555950" cy="18097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2400300"/>
            <a:ext cx="457200" cy="5905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2975" y="2543175"/>
            <a:ext cx="17145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3657600"/>
            <a:ext cx="114300" cy="1333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17950" y="2209800"/>
            <a:ext cx="3555950" cy="18097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08450" y="2400300"/>
            <a:ext cx="514350" cy="5905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51325" y="2543175"/>
            <a:ext cx="22860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08450" y="3657600"/>
            <a:ext cx="133350" cy="1333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26301" y="2209800"/>
            <a:ext cx="3555950" cy="18097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16801" y="2400300"/>
            <a:ext cx="571500" cy="5905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59676" y="2543175"/>
            <a:ext cx="285750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16801" y="3657600"/>
            <a:ext cx="171450" cy="1333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9600" y="4324350"/>
            <a:ext cx="10972800" cy="17526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8200" y="4972050"/>
            <a:ext cx="171450" cy="266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8200" y="5429250"/>
            <a:ext cx="219075" cy="266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48400" y="4972050"/>
            <a:ext cx="171450" cy="2667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248400" y="5429250"/>
            <a:ext cx="219075" cy="26670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609600" y="457200"/>
            <a:ext cx="10972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26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Conclusion –</a:t>
            </a:r>
            <a:r>
              <a:rPr lang="en-US" sz="2426" b="1" dirty="0">
                <a:solidFill>
                  <a:srgbClr val="D4A37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Creating Experiences, Not Just Serving Coffee</a:t>
            </a:r>
            <a:endParaRPr lang="en-US" sz="2426" dirty="0"/>
          </a:p>
        </p:txBody>
      </p:sp>
      <p:sp>
        <p:nvSpPr>
          <p:cNvPr id="22" name="Text 1"/>
          <p:cNvSpPr/>
          <p:nvPr/>
        </p:nvSpPr>
        <p:spPr>
          <a:xfrm>
            <a:off x="609600" y="1714500"/>
            <a:ext cx="120700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café's success extends beyond beverages—it's about crafting distinct experiences for its diverse clientele.</a:t>
            </a:r>
            <a:endParaRPr lang="en-US" sz="1380" dirty="0"/>
          </a:p>
        </p:txBody>
      </p:sp>
      <p:sp>
        <p:nvSpPr>
          <p:cNvPr id="23" name="Text 2"/>
          <p:cNvSpPr/>
          <p:nvPr/>
        </p:nvSpPr>
        <p:spPr>
          <a:xfrm>
            <a:off x="1371600" y="2562225"/>
            <a:ext cx="167099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Fast Mornings</a:t>
            </a:r>
            <a:endParaRPr lang="en-US" sz="1380" dirty="0"/>
          </a:p>
        </p:txBody>
      </p:sp>
      <p:sp>
        <p:nvSpPr>
          <p:cNvPr id="24" name="Text 3"/>
          <p:cNvSpPr/>
          <p:nvPr/>
        </p:nvSpPr>
        <p:spPr>
          <a:xfrm>
            <a:off x="800100" y="3105150"/>
            <a:ext cx="34924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9:00-11:30 AM</a:t>
            </a:r>
            <a:endParaRPr lang="en-US" sz="980" dirty="0"/>
          </a:p>
        </p:txBody>
      </p:sp>
      <p:sp>
        <p:nvSpPr>
          <p:cNvPr id="25" name="Text 4"/>
          <p:cNvSpPr/>
          <p:nvPr/>
        </p:nvSpPr>
        <p:spPr>
          <a:xfrm>
            <a:off x="800100" y="3371850"/>
            <a:ext cx="34924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Primary revenue driver</a:t>
            </a:r>
            <a:endParaRPr lang="en-US" sz="980" dirty="0"/>
          </a:p>
        </p:txBody>
      </p:sp>
      <p:sp>
        <p:nvSpPr>
          <p:cNvPr id="26" name="Text 5"/>
          <p:cNvSpPr/>
          <p:nvPr/>
        </p:nvSpPr>
        <p:spPr>
          <a:xfrm>
            <a:off x="952500" y="3638550"/>
            <a:ext cx="34924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Morning Commuter persona</a:t>
            </a:r>
            <a:endParaRPr lang="en-US" sz="980" dirty="0"/>
          </a:p>
        </p:txBody>
      </p:sp>
      <p:sp>
        <p:nvSpPr>
          <p:cNvPr id="27" name="Text 6"/>
          <p:cNvSpPr/>
          <p:nvPr/>
        </p:nvSpPr>
        <p:spPr>
          <a:xfrm>
            <a:off x="5137100" y="2562225"/>
            <a:ext cx="24058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Relaxing Afternoons</a:t>
            </a:r>
            <a:endParaRPr lang="en-US" sz="1380" dirty="0"/>
          </a:p>
        </p:txBody>
      </p:sp>
      <p:sp>
        <p:nvSpPr>
          <p:cNvPr id="28" name="Text 7"/>
          <p:cNvSpPr/>
          <p:nvPr/>
        </p:nvSpPr>
        <p:spPr>
          <a:xfrm>
            <a:off x="4508450" y="3105150"/>
            <a:ext cx="34924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1:00-5:00 PM</a:t>
            </a:r>
            <a:endParaRPr lang="en-US" sz="980" dirty="0"/>
          </a:p>
        </p:txBody>
      </p:sp>
      <p:sp>
        <p:nvSpPr>
          <p:cNvPr id="29" name="Text 8"/>
          <p:cNvSpPr/>
          <p:nvPr/>
        </p:nvSpPr>
        <p:spPr>
          <a:xfrm>
            <a:off x="4508450" y="3371850"/>
            <a:ext cx="34924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Cross-selling opportunities</a:t>
            </a:r>
            <a:endParaRPr lang="en-US" sz="980" dirty="0"/>
          </a:p>
        </p:txBody>
      </p:sp>
      <p:sp>
        <p:nvSpPr>
          <p:cNvPr id="30" name="Text 9"/>
          <p:cNvSpPr/>
          <p:nvPr/>
        </p:nvSpPr>
        <p:spPr>
          <a:xfrm>
            <a:off x="4679900" y="3638550"/>
            <a:ext cx="34924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Afternoon Student persona</a:t>
            </a:r>
            <a:endParaRPr lang="en-US" sz="980" dirty="0"/>
          </a:p>
        </p:txBody>
      </p:sp>
      <p:sp>
        <p:nvSpPr>
          <p:cNvPr id="31" name="Text 10"/>
          <p:cNvSpPr/>
          <p:nvPr/>
        </p:nvSpPr>
        <p:spPr>
          <a:xfrm>
            <a:off x="8902601" y="2562225"/>
            <a:ext cx="2051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Family Weekends</a:t>
            </a:r>
            <a:endParaRPr lang="en-US" sz="1380" dirty="0"/>
          </a:p>
        </p:txBody>
      </p:sp>
      <p:sp>
        <p:nvSpPr>
          <p:cNvPr id="32" name="Text 11"/>
          <p:cNvSpPr/>
          <p:nvPr/>
        </p:nvSpPr>
        <p:spPr>
          <a:xfrm>
            <a:off x="8216801" y="3105150"/>
            <a:ext cx="34924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9:00-11:00 AM</a:t>
            </a:r>
            <a:endParaRPr lang="en-US" sz="980" dirty="0"/>
          </a:p>
        </p:txBody>
      </p:sp>
      <p:sp>
        <p:nvSpPr>
          <p:cNvPr id="33" name="Text 12"/>
          <p:cNvSpPr/>
          <p:nvPr/>
        </p:nvSpPr>
        <p:spPr>
          <a:xfrm>
            <a:off x="8216801" y="3371850"/>
            <a:ext cx="34924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Quality time focus</a:t>
            </a:r>
            <a:endParaRPr lang="en-US" sz="980" dirty="0"/>
          </a:p>
        </p:txBody>
      </p:sp>
      <p:sp>
        <p:nvSpPr>
          <p:cNvPr id="34" name="Text 13"/>
          <p:cNvSpPr/>
          <p:nvPr/>
        </p:nvSpPr>
        <p:spPr>
          <a:xfrm>
            <a:off x="8426351" y="3638550"/>
            <a:ext cx="34924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Family Weekend persona</a:t>
            </a:r>
            <a:endParaRPr lang="en-US" sz="980" dirty="0"/>
          </a:p>
        </p:txBody>
      </p:sp>
      <p:sp>
        <p:nvSpPr>
          <p:cNvPr id="35" name="Text 14"/>
          <p:cNvSpPr/>
          <p:nvPr/>
        </p:nvSpPr>
        <p:spPr>
          <a:xfrm>
            <a:off x="838200" y="4552950"/>
            <a:ext cx="115671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Data-Driven Strategy</a:t>
            </a:r>
            <a:endParaRPr lang="en-US" sz="1380" dirty="0"/>
          </a:p>
        </p:txBody>
      </p:sp>
      <p:sp>
        <p:nvSpPr>
          <p:cNvPr id="36" name="Text 15"/>
          <p:cNvSpPr/>
          <p:nvPr/>
        </p:nvSpPr>
        <p:spPr>
          <a:xfrm>
            <a:off x="1123950" y="4933950"/>
            <a:ext cx="4819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Revenue patterns show peaks at 9:00-11:30 AM and valleys after 11:30 AM</a:t>
            </a:r>
            <a:endParaRPr lang="en-US" sz="980" dirty="0"/>
          </a:p>
        </p:txBody>
      </p:sp>
      <p:sp>
        <p:nvSpPr>
          <p:cNvPr id="37" name="Text 16"/>
          <p:cNvSpPr/>
          <p:nvPr/>
        </p:nvSpPr>
        <p:spPr>
          <a:xfrm>
            <a:off x="1171575" y="5391150"/>
            <a:ext cx="47720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Customer personas reveal distinct needs: speed, relaxation, and quality time</a:t>
            </a:r>
            <a:endParaRPr lang="en-US" sz="980" dirty="0"/>
          </a:p>
        </p:txBody>
      </p:sp>
      <p:sp>
        <p:nvSpPr>
          <p:cNvPr id="38" name="Text 17"/>
          <p:cNvSpPr/>
          <p:nvPr/>
        </p:nvSpPr>
        <p:spPr>
          <a:xfrm>
            <a:off x="6534150" y="4933950"/>
            <a:ext cx="4819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Targeted marketing: optimize off-peak hours, introduce combos, replicate best practices</a:t>
            </a:r>
            <a:endParaRPr lang="en-US" sz="980" dirty="0"/>
          </a:p>
        </p:txBody>
      </p:sp>
      <p:sp>
        <p:nvSpPr>
          <p:cNvPr id="39" name="Text 18"/>
          <p:cNvSpPr/>
          <p:nvPr/>
        </p:nvSpPr>
        <p:spPr>
          <a:xfrm>
            <a:off x="6581775" y="5391150"/>
            <a:ext cx="47720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Operational adjustments: inventory management, staffing based on time-of-day</a:t>
            </a:r>
            <a:endParaRPr lang="en-US" sz="980" dirty="0"/>
          </a:p>
        </p:txBody>
      </p:sp>
      <p:sp>
        <p:nvSpPr>
          <p:cNvPr id="40" name="Text 19"/>
          <p:cNvSpPr/>
          <p:nvPr/>
        </p:nvSpPr>
        <p:spPr>
          <a:xfrm>
            <a:off x="60960" y="6305550"/>
            <a:ext cx="120700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8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This data-driven approach transforms</a:t>
            </a:r>
            <a:r>
              <a:rPr lang="en-US" sz="1380" b="1" dirty="0">
                <a:solidFill>
                  <a:srgbClr val="D4A37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every visit</a:t>
            </a:r>
            <a:r>
              <a:rPr lang="en-US" sz="138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into a memorable experience.</a:t>
            </a:r>
            <a:endParaRPr lang="en-US" sz="1380" dirty="0"/>
          </a:p>
        </p:txBody>
      </p:sp>
      <p:sp>
        <p:nvSpPr>
          <p:cNvPr id="41" name="Text 20"/>
          <p:cNvSpPr/>
          <p:nvPr/>
        </p:nvSpPr>
        <p:spPr>
          <a:xfrm>
            <a:off x="828675" y="6915150"/>
            <a:ext cx="547580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isn't just about numbers—it's about creating meaningful experiences</a:t>
            </a:r>
            <a:endParaRPr lang="en-US" sz="9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0" y="762000"/>
            <a:ext cx="1524000" cy="126682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4829175"/>
            <a:ext cx="1219200" cy="12668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1066800"/>
            <a:ext cx="1219200" cy="38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0425" y="2304752"/>
            <a:ext cx="5391150" cy="267146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8800" y="2952899"/>
            <a:ext cx="2641550" cy="1905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97101" y="3181499"/>
            <a:ext cx="304800" cy="381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8888" y="4057799"/>
            <a:ext cx="2181225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75150" y="2952899"/>
            <a:ext cx="2641550" cy="1905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29164" y="3181499"/>
            <a:ext cx="333375" cy="381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05239" y="4057799"/>
            <a:ext cx="2181225" cy="571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21501" y="2952899"/>
            <a:ext cx="2641699" cy="1905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870900" y="3181499"/>
            <a:ext cx="342900" cy="381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51738" y="4057799"/>
            <a:ext cx="2181225" cy="5715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54089" y="5267474"/>
            <a:ext cx="152400" cy="1714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01607" y="5534174"/>
            <a:ext cx="161925" cy="1714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9600" y="6438900"/>
            <a:ext cx="142875" cy="266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8675" y="6477000"/>
            <a:ext cx="2733675" cy="1905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60960" y="457200"/>
            <a:ext cx="1207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158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Thank You &amp;</a:t>
            </a:r>
            <a:r>
              <a:rPr lang="en-US" sz="3158" b="1" dirty="0">
                <a:solidFill>
                  <a:srgbClr val="D4A37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Questions</a:t>
            </a:r>
            <a:endParaRPr lang="en-US" sz="3158" dirty="0"/>
          </a:p>
        </p:txBody>
      </p:sp>
      <p:sp>
        <p:nvSpPr>
          <p:cNvPr id="21" name="Text 1"/>
          <p:cNvSpPr/>
          <p:nvPr/>
        </p:nvSpPr>
        <p:spPr>
          <a:xfrm>
            <a:off x="3130868" y="1923752"/>
            <a:ext cx="593026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646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Thank you for your attention!</a:t>
            </a:r>
            <a:endParaRPr lang="en-US" sz="1646" dirty="0"/>
          </a:p>
        </p:txBody>
      </p:sp>
      <p:sp>
        <p:nvSpPr>
          <p:cNvPr id="22" name="Text 2"/>
          <p:cNvSpPr/>
          <p:nvPr/>
        </p:nvSpPr>
        <p:spPr>
          <a:xfrm>
            <a:off x="2645755" y="3714899"/>
            <a:ext cx="10076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LinkedIn</a:t>
            </a:r>
            <a:endParaRPr lang="en-US" sz="1380" dirty="0"/>
          </a:p>
        </p:txBody>
      </p:sp>
      <p:sp>
        <p:nvSpPr>
          <p:cNvPr id="23" name="Text 3"/>
          <p:cNvSpPr/>
          <p:nvPr/>
        </p:nvSpPr>
        <p:spPr>
          <a:xfrm>
            <a:off x="5686574" y="3714899"/>
            <a:ext cx="8185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GitHub</a:t>
            </a:r>
            <a:endParaRPr lang="en-US" sz="1380" dirty="0"/>
          </a:p>
        </p:txBody>
      </p:sp>
      <p:sp>
        <p:nvSpPr>
          <p:cNvPr id="24" name="Text 4"/>
          <p:cNvSpPr/>
          <p:nvPr/>
        </p:nvSpPr>
        <p:spPr>
          <a:xfrm>
            <a:off x="8719021" y="3714899"/>
            <a:ext cx="64665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Email</a:t>
            </a:r>
            <a:endParaRPr lang="en-US" sz="1380" dirty="0"/>
          </a:p>
        </p:txBody>
      </p:sp>
      <p:sp>
        <p:nvSpPr>
          <p:cNvPr id="25" name="Text 5"/>
          <p:cNvSpPr/>
          <p:nvPr/>
        </p:nvSpPr>
        <p:spPr>
          <a:xfrm>
            <a:off x="2895600" y="5238899"/>
            <a:ext cx="6400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260" i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Data-driven insights can transform any café into a morning gold mine and afternoon gem</a:t>
            </a:r>
            <a:endParaRPr lang="en-US" sz="12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1335</Words>
  <Application>Microsoft Office PowerPoint</Application>
  <PresentationFormat>Widescreen</PresentationFormat>
  <Paragraphs>213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ui-sans-serif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makhloufimahdi</cp:lastModifiedBy>
  <cp:revision>1</cp:revision>
  <dcterms:created xsi:type="dcterms:W3CDTF">2025-09-20T17:32:48Z</dcterms:created>
  <dcterms:modified xsi:type="dcterms:W3CDTF">2025-09-20T17:53:06Z</dcterms:modified>
</cp:coreProperties>
</file>